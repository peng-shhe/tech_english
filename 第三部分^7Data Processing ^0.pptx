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9C8AA7-720A-6E78-F084-0466762F8B7E}"/>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0B80353-BD14-AF7E-7344-509F4DD7EC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A56BF8C4-49AB-0E3C-11D4-BC0523AC9CDA}"/>
              </a:ext>
            </a:extLst>
          </p:cNvPr>
          <p:cNvSpPr>
            <a:spLocks noGrp="1"/>
          </p:cNvSpPr>
          <p:nvPr>
            <p:ph type="dt" sz="half" idx="10"/>
          </p:nvPr>
        </p:nvSpPr>
        <p:spPr/>
        <p:txBody>
          <a:bodyPr/>
          <a:lstStyle/>
          <a:p>
            <a:fld id="{7B342420-2FD0-4577-845F-9308AB58360F}" type="datetimeFigureOut">
              <a:rPr lang="zh-CN" altLang="en-US" smtClean="0"/>
              <a:t>2026/9/19</a:t>
            </a:fld>
            <a:endParaRPr lang="zh-CN" altLang="en-US"/>
          </a:p>
        </p:txBody>
      </p:sp>
      <p:sp>
        <p:nvSpPr>
          <p:cNvPr id="5" name="页脚占位符 4">
            <a:extLst>
              <a:ext uri="{FF2B5EF4-FFF2-40B4-BE49-F238E27FC236}">
                <a16:creationId xmlns:a16="http://schemas.microsoft.com/office/drawing/2014/main" id="{0FE5D215-0534-20AD-2781-EFF2478F349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3C707B0-AA26-6BFF-6D12-B6834232368F}"/>
              </a:ext>
            </a:extLst>
          </p:cNvPr>
          <p:cNvSpPr>
            <a:spLocks noGrp="1"/>
          </p:cNvSpPr>
          <p:nvPr>
            <p:ph type="sldNum" sz="quarter" idx="12"/>
          </p:nvPr>
        </p:nvSpPr>
        <p:spPr/>
        <p:txBody>
          <a:bodyPr/>
          <a:lstStyle/>
          <a:p>
            <a:fld id="{A9EFC865-CEAE-4F82-8D27-6E4FA82160DB}" type="slidenum">
              <a:rPr lang="zh-CN" altLang="en-US" smtClean="0"/>
              <a:t>‹#›</a:t>
            </a:fld>
            <a:endParaRPr lang="zh-CN" altLang="en-US"/>
          </a:p>
        </p:txBody>
      </p:sp>
    </p:spTree>
    <p:extLst>
      <p:ext uri="{BB962C8B-B14F-4D97-AF65-F5344CB8AC3E}">
        <p14:creationId xmlns:p14="http://schemas.microsoft.com/office/powerpoint/2010/main" val="22995424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4594A8-BE3F-DEF5-E930-AC296C401A7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FAD0AC9-33EF-47A8-9300-05B3F564F41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CC0E547-61C7-46A0-725E-344BBF51A7EA}"/>
              </a:ext>
            </a:extLst>
          </p:cNvPr>
          <p:cNvSpPr>
            <a:spLocks noGrp="1"/>
          </p:cNvSpPr>
          <p:nvPr>
            <p:ph type="dt" sz="half" idx="10"/>
          </p:nvPr>
        </p:nvSpPr>
        <p:spPr/>
        <p:txBody>
          <a:bodyPr/>
          <a:lstStyle/>
          <a:p>
            <a:fld id="{7B342420-2FD0-4577-845F-9308AB58360F}" type="datetimeFigureOut">
              <a:rPr lang="zh-CN" altLang="en-US" smtClean="0"/>
              <a:t>2026/9/19</a:t>
            </a:fld>
            <a:endParaRPr lang="zh-CN" altLang="en-US"/>
          </a:p>
        </p:txBody>
      </p:sp>
      <p:sp>
        <p:nvSpPr>
          <p:cNvPr id="5" name="页脚占位符 4">
            <a:extLst>
              <a:ext uri="{FF2B5EF4-FFF2-40B4-BE49-F238E27FC236}">
                <a16:creationId xmlns:a16="http://schemas.microsoft.com/office/drawing/2014/main" id="{55E00F4B-1F28-48F3-CE19-3000A6C3060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2830AC7-1664-D900-03B6-3D95AD937A22}"/>
              </a:ext>
            </a:extLst>
          </p:cNvPr>
          <p:cNvSpPr>
            <a:spLocks noGrp="1"/>
          </p:cNvSpPr>
          <p:nvPr>
            <p:ph type="sldNum" sz="quarter" idx="12"/>
          </p:nvPr>
        </p:nvSpPr>
        <p:spPr/>
        <p:txBody>
          <a:bodyPr/>
          <a:lstStyle/>
          <a:p>
            <a:fld id="{A9EFC865-CEAE-4F82-8D27-6E4FA82160DB}" type="slidenum">
              <a:rPr lang="zh-CN" altLang="en-US" smtClean="0"/>
              <a:t>‹#›</a:t>
            </a:fld>
            <a:endParaRPr lang="zh-CN" altLang="en-US"/>
          </a:p>
        </p:txBody>
      </p:sp>
    </p:spTree>
    <p:extLst>
      <p:ext uri="{BB962C8B-B14F-4D97-AF65-F5344CB8AC3E}">
        <p14:creationId xmlns:p14="http://schemas.microsoft.com/office/powerpoint/2010/main" val="1605146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DEA209-B32B-8535-8780-35982083AAA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F6FC753C-028A-5068-2AF1-6A5E944C1D2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521B70C1-FA66-77FB-080A-C8485BF3CC20}"/>
              </a:ext>
            </a:extLst>
          </p:cNvPr>
          <p:cNvSpPr>
            <a:spLocks noGrp="1"/>
          </p:cNvSpPr>
          <p:nvPr>
            <p:ph type="dt" sz="half" idx="10"/>
          </p:nvPr>
        </p:nvSpPr>
        <p:spPr/>
        <p:txBody>
          <a:bodyPr/>
          <a:lstStyle/>
          <a:p>
            <a:fld id="{7B342420-2FD0-4577-845F-9308AB58360F}" type="datetimeFigureOut">
              <a:rPr lang="zh-CN" altLang="en-US" smtClean="0"/>
              <a:t>2026/9/19</a:t>
            </a:fld>
            <a:endParaRPr lang="zh-CN" altLang="en-US"/>
          </a:p>
        </p:txBody>
      </p:sp>
      <p:sp>
        <p:nvSpPr>
          <p:cNvPr id="5" name="页脚占位符 4">
            <a:extLst>
              <a:ext uri="{FF2B5EF4-FFF2-40B4-BE49-F238E27FC236}">
                <a16:creationId xmlns:a16="http://schemas.microsoft.com/office/drawing/2014/main" id="{7EE86A2D-1B41-2ED5-C9F3-228DFBAED7D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ADFBD7D-39DE-6422-492D-DCD7F28176D4}"/>
              </a:ext>
            </a:extLst>
          </p:cNvPr>
          <p:cNvSpPr>
            <a:spLocks noGrp="1"/>
          </p:cNvSpPr>
          <p:nvPr>
            <p:ph type="sldNum" sz="quarter" idx="12"/>
          </p:nvPr>
        </p:nvSpPr>
        <p:spPr/>
        <p:txBody>
          <a:bodyPr/>
          <a:lstStyle/>
          <a:p>
            <a:fld id="{A9EFC865-CEAE-4F82-8D27-6E4FA82160DB}" type="slidenum">
              <a:rPr lang="zh-CN" altLang="en-US" smtClean="0"/>
              <a:t>‹#›</a:t>
            </a:fld>
            <a:endParaRPr lang="zh-CN" altLang="en-US"/>
          </a:p>
        </p:txBody>
      </p:sp>
    </p:spTree>
    <p:extLst>
      <p:ext uri="{BB962C8B-B14F-4D97-AF65-F5344CB8AC3E}">
        <p14:creationId xmlns:p14="http://schemas.microsoft.com/office/powerpoint/2010/main" val="38392412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44AA18-0E27-0FB0-254F-77089CA860F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D539576-F3FF-7E13-217C-71FCC3D02F36}"/>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D4A9FC59-3C7A-A28A-C0EA-02B01C1795F1}"/>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5065222-16C5-9320-9D5C-01A6ACC185BB}"/>
              </a:ext>
            </a:extLst>
          </p:cNvPr>
          <p:cNvSpPr>
            <a:spLocks noGrp="1"/>
          </p:cNvSpPr>
          <p:nvPr>
            <p:ph type="dt" sz="half" idx="10"/>
          </p:nvPr>
        </p:nvSpPr>
        <p:spPr/>
        <p:txBody>
          <a:bodyPr/>
          <a:lstStyle/>
          <a:p>
            <a:fld id="{7B342420-2FD0-4577-845F-9308AB58360F}" type="datetimeFigureOut">
              <a:rPr lang="zh-CN" altLang="en-US" smtClean="0"/>
              <a:t>2026/9/19</a:t>
            </a:fld>
            <a:endParaRPr lang="zh-CN" altLang="en-US"/>
          </a:p>
        </p:txBody>
      </p:sp>
      <p:sp>
        <p:nvSpPr>
          <p:cNvPr id="6" name="页脚占位符 5">
            <a:extLst>
              <a:ext uri="{FF2B5EF4-FFF2-40B4-BE49-F238E27FC236}">
                <a16:creationId xmlns:a16="http://schemas.microsoft.com/office/drawing/2014/main" id="{421F8913-BC01-495B-EDA7-E0FC2AB1903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985FE49-B1B9-82B7-5694-2674B5C401C2}"/>
              </a:ext>
            </a:extLst>
          </p:cNvPr>
          <p:cNvSpPr>
            <a:spLocks noGrp="1"/>
          </p:cNvSpPr>
          <p:nvPr>
            <p:ph type="sldNum" sz="quarter" idx="12"/>
          </p:nvPr>
        </p:nvSpPr>
        <p:spPr/>
        <p:txBody>
          <a:bodyPr/>
          <a:lstStyle/>
          <a:p>
            <a:fld id="{A9EFC865-CEAE-4F82-8D27-6E4FA82160DB}" type="slidenum">
              <a:rPr lang="zh-CN" altLang="en-US" smtClean="0"/>
              <a:t>‹#›</a:t>
            </a:fld>
            <a:endParaRPr lang="zh-CN" altLang="en-US"/>
          </a:p>
        </p:txBody>
      </p:sp>
    </p:spTree>
    <p:extLst>
      <p:ext uri="{BB962C8B-B14F-4D97-AF65-F5344CB8AC3E}">
        <p14:creationId xmlns:p14="http://schemas.microsoft.com/office/powerpoint/2010/main" val="27011066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F67EB5-3714-DBFC-D64E-B52FDF9095FE}"/>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C4207F2-53FB-B7F1-50FE-68B5FCE023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7989E3BF-51A8-901F-6AC2-9904D214FB46}"/>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F6A95FF4-0145-70EA-834F-5CAE196516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32B539CB-1911-7781-CBB1-2B38CFDB0E1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698EDE7C-7F4F-1EF9-C16D-7DED1DE303D2}"/>
              </a:ext>
            </a:extLst>
          </p:cNvPr>
          <p:cNvSpPr>
            <a:spLocks noGrp="1"/>
          </p:cNvSpPr>
          <p:nvPr>
            <p:ph type="dt" sz="half" idx="10"/>
          </p:nvPr>
        </p:nvSpPr>
        <p:spPr/>
        <p:txBody>
          <a:bodyPr/>
          <a:lstStyle/>
          <a:p>
            <a:fld id="{7B342420-2FD0-4577-845F-9308AB58360F}" type="datetimeFigureOut">
              <a:rPr lang="zh-CN" altLang="en-US" smtClean="0"/>
              <a:t>2026/9/19</a:t>
            </a:fld>
            <a:endParaRPr lang="zh-CN" altLang="en-US"/>
          </a:p>
        </p:txBody>
      </p:sp>
      <p:sp>
        <p:nvSpPr>
          <p:cNvPr id="8" name="页脚占位符 7">
            <a:extLst>
              <a:ext uri="{FF2B5EF4-FFF2-40B4-BE49-F238E27FC236}">
                <a16:creationId xmlns:a16="http://schemas.microsoft.com/office/drawing/2014/main" id="{E7108C34-2722-D3C2-D1BC-B30C8EC15B12}"/>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6292F76-4DC4-B196-E8C7-5615D2B92AC8}"/>
              </a:ext>
            </a:extLst>
          </p:cNvPr>
          <p:cNvSpPr>
            <a:spLocks noGrp="1"/>
          </p:cNvSpPr>
          <p:nvPr>
            <p:ph type="sldNum" sz="quarter" idx="12"/>
          </p:nvPr>
        </p:nvSpPr>
        <p:spPr/>
        <p:txBody>
          <a:bodyPr/>
          <a:lstStyle/>
          <a:p>
            <a:fld id="{A9EFC865-CEAE-4F82-8D27-6E4FA82160DB}" type="slidenum">
              <a:rPr lang="zh-CN" altLang="en-US" smtClean="0"/>
              <a:t>‹#›</a:t>
            </a:fld>
            <a:endParaRPr lang="zh-CN" altLang="en-US"/>
          </a:p>
        </p:txBody>
      </p:sp>
    </p:spTree>
    <p:extLst>
      <p:ext uri="{BB962C8B-B14F-4D97-AF65-F5344CB8AC3E}">
        <p14:creationId xmlns:p14="http://schemas.microsoft.com/office/powerpoint/2010/main" val="41143925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A0DBA9-F95C-3D4D-768B-8B89D0A813B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C0DA507F-C169-97B8-04B8-8B2E4B30D068}"/>
              </a:ext>
            </a:extLst>
          </p:cNvPr>
          <p:cNvSpPr>
            <a:spLocks noGrp="1"/>
          </p:cNvSpPr>
          <p:nvPr>
            <p:ph type="dt" sz="half" idx="10"/>
          </p:nvPr>
        </p:nvSpPr>
        <p:spPr/>
        <p:txBody>
          <a:bodyPr/>
          <a:lstStyle/>
          <a:p>
            <a:fld id="{7B342420-2FD0-4577-845F-9308AB58360F}" type="datetimeFigureOut">
              <a:rPr lang="zh-CN" altLang="en-US" smtClean="0"/>
              <a:t>2026/9/19</a:t>
            </a:fld>
            <a:endParaRPr lang="zh-CN" altLang="en-US"/>
          </a:p>
        </p:txBody>
      </p:sp>
      <p:sp>
        <p:nvSpPr>
          <p:cNvPr id="4" name="页脚占位符 3">
            <a:extLst>
              <a:ext uri="{FF2B5EF4-FFF2-40B4-BE49-F238E27FC236}">
                <a16:creationId xmlns:a16="http://schemas.microsoft.com/office/drawing/2014/main" id="{67C9E8BE-A2F5-0E1D-38A7-952350CBEB3F}"/>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C1DD1170-56C5-BE88-C636-2C07B72A648B}"/>
              </a:ext>
            </a:extLst>
          </p:cNvPr>
          <p:cNvSpPr>
            <a:spLocks noGrp="1"/>
          </p:cNvSpPr>
          <p:nvPr>
            <p:ph type="sldNum" sz="quarter" idx="12"/>
          </p:nvPr>
        </p:nvSpPr>
        <p:spPr/>
        <p:txBody>
          <a:bodyPr/>
          <a:lstStyle/>
          <a:p>
            <a:fld id="{A9EFC865-CEAE-4F82-8D27-6E4FA82160DB}" type="slidenum">
              <a:rPr lang="zh-CN" altLang="en-US" smtClean="0"/>
              <a:t>‹#›</a:t>
            </a:fld>
            <a:endParaRPr lang="zh-CN" altLang="en-US"/>
          </a:p>
        </p:txBody>
      </p:sp>
    </p:spTree>
    <p:extLst>
      <p:ext uri="{BB962C8B-B14F-4D97-AF65-F5344CB8AC3E}">
        <p14:creationId xmlns:p14="http://schemas.microsoft.com/office/powerpoint/2010/main" val="13616561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3F8DD2B-5F8D-42B7-24AC-681866FDAF33}"/>
              </a:ext>
            </a:extLst>
          </p:cNvPr>
          <p:cNvSpPr>
            <a:spLocks noGrp="1"/>
          </p:cNvSpPr>
          <p:nvPr>
            <p:ph type="dt" sz="half" idx="10"/>
          </p:nvPr>
        </p:nvSpPr>
        <p:spPr/>
        <p:txBody>
          <a:bodyPr/>
          <a:lstStyle/>
          <a:p>
            <a:fld id="{7B342420-2FD0-4577-845F-9308AB58360F}" type="datetimeFigureOut">
              <a:rPr lang="zh-CN" altLang="en-US" smtClean="0"/>
              <a:t>2026/9/19</a:t>
            </a:fld>
            <a:endParaRPr lang="zh-CN" altLang="en-US"/>
          </a:p>
        </p:txBody>
      </p:sp>
      <p:sp>
        <p:nvSpPr>
          <p:cNvPr id="3" name="页脚占位符 2">
            <a:extLst>
              <a:ext uri="{FF2B5EF4-FFF2-40B4-BE49-F238E27FC236}">
                <a16:creationId xmlns:a16="http://schemas.microsoft.com/office/drawing/2014/main" id="{88BA883F-AECC-2FF5-C003-2F7B65FCAE2E}"/>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F370A4F1-62B5-9DFD-F5B1-C220B5C7E561}"/>
              </a:ext>
            </a:extLst>
          </p:cNvPr>
          <p:cNvSpPr>
            <a:spLocks noGrp="1"/>
          </p:cNvSpPr>
          <p:nvPr>
            <p:ph type="sldNum" sz="quarter" idx="12"/>
          </p:nvPr>
        </p:nvSpPr>
        <p:spPr/>
        <p:txBody>
          <a:bodyPr/>
          <a:lstStyle/>
          <a:p>
            <a:fld id="{A9EFC865-CEAE-4F82-8D27-6E4FA82160DB}" type="slidenum">
              <a:rPr lang="zh-CN" altLang="en-US" smtClean="0"/>
              <a:t>‹#›</a:t>
            </a:fld>
            <a:endParaRPr lang="zh-CN" altLang="en-US"/>
          </a:p>
        </p:txBody>
      </p:sp>
    </p:spTree>
    <p:extLst>
      <p:ext uri="{BB962C8B-B14F-4D97-AF65-F5344CB8AC3E}">
        <p14:creationId xmlns:p14="http://schemas.microsoft.com/office/powerpoint/2010/main" val="3726281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8FECCD-B967-AF36-EF6A-98C2151B91A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F9EDEDCF-59E6-A304-E36A-46B346B7D7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B926076-5FB7-F988-AB95-A1FBE3CDE3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57B3F6F-27C6-2C03-4176-6B44223F6A4C}"/>
              </a:ext>
            </a:extLst>
          </p:cNvPr>
          <p:cNvSpPr>
            <a:spLocks noGrp="1"/>
          </p:cNvSpPr>
          <p:nvPr>
            <p:ph type="dt" sz="half" idx="10"/>
          </p:nvPr>
        </p:nvSpPr>
        <p:spPr/>
        <p:txBody>
          <a:bodyPr/>
          <a:lstStyle/>
          <a:p>
            <a:fld id="{7B342420-2FD0-4577-845F-9308AB58360F}" type="datetimeFigureOut">
              <a:rPr lang="zh-CN" altLang="en-US" smtClean="0"/>
              <a:t>2026/9/19</a:t>
            </a:fld>
            <a:endParaRPr lang="zh-CN" altLang="en-US"/>
          </a:p>
        </p:txBody>
      </p:sp>
      <p:sp>
        <p:nvSpPr>
          <p:cNvPr id="6" name="页脚占位符 5">
            <a:extLst>
              <a:ext uri="{FF2B5EF4-FFF2-40B4-BE49-F238E27FC236}">
                <a16:creationId xmlns:a16="http://schemas.microsoft.com/office/drawing/2014/main" id="{101D3ACE-B610-D235-E185-EC89EFDF743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9E3F1D5-DA84-6862-C094-B37947A50B89}"/>
              </a:ext>
            </a:extLst>
          </p:cNvPr>
          <p:cNvSpPr>
            <a:spLocks noGrp="1"/>
          </p:cNvSpPr>
          <p:nvPr>
            <p:ph type="sldNum" sz="quarter" idx="12"/>
          </p:nvPr>
        </p:nvSpPr>
        <p:spPr/>
        <p:txBody>
          <a:bodyPr/>
          <a:lstStyle/>
          <a:p>
            <a:fld id="{A9EFC865-CEAE-4F82-8D27-6E4FA82160DB}" type="slidenum">
              <a:rPr lang="zh-CN" altLang="en-US" smtClean="0"/>
              <a:t>‹#›</a:t>
            </a:fld>
            <a:endParaRPr lang="zh-CN" altLang="en-US"/>
          </a:p>
        </p:txBody>
      </p:sp>
    </p:spTree>
    <p:extLst>
      <p:ext uri="{BB962C8B-B14F-4D97-AF65-F5344CB8AC3E}">
        <p14:creationId xmlns:p14="http://schemas.microsoft.com/office/powerpoint/2010/main" val="2551712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9F32DF-7CC0-F6E9-FEF5-F49028812C4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86FCC9F-47E4-E715-EFD4-403C484063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136FF450-78DF-A996-B82E-D80869C89E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B3D22FF-0157-FA90-E4B5-AF47466CAFE5}"/>
              </a:ext>
            </a:extLst>
          </p:cNvPr>
          <p:cNvSpPr>
            <a:spLocks noGrp="1"/>
          </p:cNvSpPr>
          <p:nvPr>
            <p:ph type="dt" sz="half" idx="10"/>
          </p:nvPr>
        </p:nvSpPr>
        <p:spPr/>
        <p:txBody>
          <a:bodyPr/>
          <a:lstStyle/>
          <a:p>
            <a:fld id="{7B342420-2FD0-4577-845F-9308AB58360F}" type="datetimeFigureOut">
              <a:rPr lang="zh-CN" altLang="en-US" smtClean="0"/>
              <a:t>2026/9/19</a:t>
            </a:fld>
            <a:endParaRPr lang="zh-CN" altLang="en-US"/>
          </a:p>
        </p:txBody>
      </p:sp>
      <p:sp>
        <p:nvSpPr>
          <p:cNvPr id="6" name="页脚占位符 5">
            <a:extLst>
              <a:ext uri="{FF2B5EF4-FFF2-40B4-BE49-F238E27FC236}">
                <a16:creationId xmlns:a16="http://schemas.microsoft.com/office/drawing/2014/main" id="{464678CF-2772-2CF1-8FED-CECC3D0F0EB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11B43DF-9980-2BA7-1AE3-55C453765504}"/>
              </a:ext>
            </a:extLst>
          </p:cNvPr>
          <p:cNvSpPr>
            <a:spLocks noGrp="1"/>
          </p:cNvSpPr>
          <p:nvPr>
            <p:ph type="sldNum" sz="quarter" idx="12"/>
          </p:nvPr>
        </p:nvSpPr>
        <p:spPr/>
        <p:txBody>
          <a:bodyPr/>
          <a:lstStyle/>
          <a:p>
            <a:fld id="{A9EFC865-CEAE-4F82-8D27-6E4FA82160DB}" type="slidenum">
              <a:rPr lang="zh-CN" altLang="en-US" smtClean="0"/>
              <a:t>‹#›</a:t>
            </a:fld>
            <a:endParaRPr lang="zh-CN" altLang="en-US"/>
          </a:p>
        </p:txBody>
      </p:sp>
    </p:spTree>
    <p:extLst>
      <p:ext uri="{BB962C8B-B14F-4D97-AF65-F5344CB8AC3E}">
        <p14:creationId xmlns:p14="http://schemas.microsoft.com/office/powerpoint/2010/main" val="2588018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BBBC26-B2D4-ABB6-159E-7E413F184F6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168C319-D4A7-1CD4-D982-7D9222A051C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89B35B8-F2A0-8974-57EE-7D4B0A6D18CC}"/>
              </a:ext>
            </a:extLst>
          </p:cNvPr>
          <p:cNvSpPr>
            <a:spLocks noGrp="1"/>
          </p:cNvSpPr>
          <p:nvPr>
            <p:ph type="dt" sz="half" idx="10"/>
          </p:nvPr>
        </p:nvSpPr>
        <p:spPr/>
        <p:txBody>
          <a:bodyPr/>
          <a:lstStyle/>
          <a:p>
            <a:fld id="{7B342420-2FD0-4577-845F-9308AB58360F}" type="datetimeFigureOut">
              <a:rPr lang="zh-CN" altLang="en-US" smtClean="0"/>
              <a:t>2026/9/19</a:t>
            </a:fld>
            <a:endParaRPr lang="zh-CN" altLang="en-US"/>
          </a:p>
        </p:txBody>
      </p:sp>
      <p:sp>
        <p:nvSpPr>
          <p:cNvPr id="5" name="页脚占位符 4">
            <a:extLst>
              <a:ext uri="{FF2B5EF4-FFF2-40B4-BE49-F238E27FC236}">
                <a16:creationId xmlns:a16="http://schemas.microsoft.com/office/drawing/2014/main" id="{8906CA91-674A-4BD5-0725-6B7F4E08E80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D7CE46F-86B6-748F-B20F-CE455CF8A575}"/>
              </a:ext>
            </a:extLst>
          </p:cNvPr>
          <p:cNvSpPr>
            <a:spLocks noGrp="1"/>
          </p:cNvSpPr>
          <p:nvPr>
            <p:ph type="sldNum" sz="quarter" idx="12"/>
          </p:nvPr>
        </p:nvSpPr>
        <p:spPr/>
        <p:txBody>
          <a:bodyPr/>
          <a:lstStyle/>
          <a:p>
            <a:fld id="{A9EFC865-CEAE-4F82-8D27-6E4FA82160DB}" type="slidenum">
              <a:rPr lang="zh-CN" altLang="en-US" smtClean="0"/>
              <a:t>‹#›</a:t>
            </a:fld>
            <a:endParaRPr lang="zh-CN" altLang="en-US"/>
          </a:p>
        </p:txBody>
      </p:sp>
    </p:spTree>
    <p:extLst>
      <p:ext uri="{BB962C8B-B14F-4D97-AF65-F5344CB8AC3E}">
        <p14:creationId xmlns:p14="http://schemas.microsoft.com/office/powerpoint/2010/main" val="27361018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E72B062-A158-52AA-8DA7-A5F8F883EBB1}"/>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3057DCB-CD99-057A-72C7-CE1CC65D0D6B}"/>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A1EBCA4-E4DA-D05F-DA88-D843452954B7}"/>
              </a:ext>
            </a:extLst>
          </p:cNvPr>
          <p:cNvSpPr>
            <a:spLocks noGrp="1"/>
          </p:cNvSpPr>
          <p:nvPr>
            <p:ph type="dt" sz="half" idx="10"/>
          </p:nvPr>
        </p:nvSpPr>
        <p:spPr/>
        <p:txBody>
          <a:bodyPr/>
          <a:lstStyle/>
          <a:p>
            <a:fld id="{7B342420-2FD0-4577-845F-9308AB58360F}" type="datetimeFigureOut">
              <a:rPr lang="zh-CN" altLang="en-US" smtClean="0"/>
              <a:t>2026/9/19</a:t>
            </a:fld>
            <a:endParaRPr lang="zh-CN" altLang="en-US"/>
          </a:p>
        </p:txBody>
      </p:sp>
      <p:sp>
        <p:nvSpPr>
          <p:cNvPr id="5" name="页脚占位符 4">
            <a:extLst>
              <a:ext uri="{FF2B5EF4-FFF2-40B4-BE49-F238E27FC236}">
                <a16:creationId xmlns:a16="http://schemas.microsoft.com/office/drawing/2014/main" id="{9FC75E91-624A-F04B-680F-DE76C111C8E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F533B25-0529-F9B5-EAF8-5B3B434DE498}"/>
              </a:ext>
            </a:extLst>
          </p:cNvPr>
          <p:cNvSpPr>
            <a:spLocks noGrp="1"/>
          </p:cNvSpPr>
          <p:nvPr>
            <p:ph type="sldNum" sz="quarter" idx="12"/>
          </p:nvPr>
        </p:nvSpPr>
        <p:spPr/>
        <p:txBody>
          <a:bodyPr/>
          <a:lstStyle/>
          <a:p>
            <a:fld id="{A9EFC865-CEAE-4F82-8D27-6E4FA82160DB}" type="slidenum">
              <a:rPr lang="zh-CN" altLang="en-US" smtClean="0"/>
              <a:t>‹#›</a:t>
            </a:fld>
            <a:endParaRPr lang="zh-CN" altLang="en-US"/>
          </a:p>
        </p:txBody>
      </p:sp>
    </p:spTree>
    <p:extLst>
      <p:ext uri="{BB962C8B-B14F-4D97-AF65-F5344CB8AC3E}">
        <p14:creationId xmlns:p14="http://schemas.microsoft.com/office/powerpoint/2010/main" val="875443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760FE47F-006F-4E9C-B082-0FDD8A18FD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EFB5E17-580E-DF7C-4273-D6AE2C2071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FF4B09B-A63A-9425-100E-B7137F5AE9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B342420-2FD0-4577-845F-9308AB58360F}" type="datetimeFigureOut">
              <a:rPr lang="zh-CN" altLang="en-US" smtClean="0"/>
              <a:t>2026/9/19</a:t>
            </a:fld>
            <a:endParaRPr lang="zh-CN" altLang="en-US"/>
          </a:p>
        </p:txBody>
      </p:sp>
      <p:sp>
        <p:nvSpPr>
          <p:cNvPr id="5" name="页脚占位符 4">
            <a:extLst>
              <a:ext uri="{FF2B5EF4-FFF2-40B4-BE49-F238E27FC236}">
                <a16:creationId xmlns:a16="http://schemas.microsoft.com/office/drawing/2014/main" id="{79E9B4CF-98A9-E64E-3327-96447DCC55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A8FF3955-7FEB-007D-CAC6-2E311269C9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9EFC865-CEAE-4F82-8D27-6E4FA82160DB}" type="slidenum">
              <a:rPr lang="zh-CN" altLang="en-US" smtClean="0"/>
              <a:t>‹#›</a:t>
            </a:fld>
            <a:endParaRPr lang="zh-CN" altLang="en-US"/>
          </a:p>
        </p:txBody>
      </p:sp>
    </p:spTree>
    <p:extLst>
      <p:ext uri="{BB962C8B-B14F-4D97-AF65-F5344CB8AC3E}">
        <p14:creationId xmlns:p14="http://schemas.microsoft.com/office/powerpoint/2010/main" val="39600097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DB0B32-FDA2-52C3-BC38-30566D1297DB}"/>
              </a:ext>
            </a:extLst>
          </p:cNvPr>
          <p:cNvSpPr>
            <a:spLocks noGrp="1"/>
          </p:cNvSpPr>
          <p:nvPr>
            <p:ph type="ctrTitle"/>
          </p:nvPr>
        </p:nvSpPr>
        <p:spPr>
          <a:xfrm>
            <a:off x="1524000" y="685800"/>
            <a:ext cx="9144000" cy="2133599"/>
          </a:xfrm>
        </p:spPr>
        <p:txBody>
          <a:bodyPr/>
          <a:lstStyle/>
          <a:p>
            <a:r>
              <a:rPr lang="zh-CN" altLang="en-US" dirty="0"/>
              <a:t>第三部分：</a:t>
            </a:r>
            <a:r>
              <a:rPr lang="en-US" altLang="zh-CN" dirty="0"/>
              <a:t>Data Processing &amp; Analysis</a:t>
            </a:r>
            <a:endParaRPr lang="zh-CN" altLang="en-US" dirty="0"/>
          </a:p>
        </p:txBody>
      </p:sp>
      <p:sp>
        <p:nvSpPr>
          <p:cNvPr id="3" name="副标题 2">
            <a:extLst>
              <a:ext uri="{FF2B5EF4-FFF2-40B4-BE49-F238E27FC236}">
                <a16:creationId xmlns:a16="http://schemas.microsoft.com/office/drawing/2014/main" id="{5A38114F-DADF-E329-0961-D238FB0464E4}"/>
              </a:ext>
            </a:extLst>
          </p:cNvPr>
          <p:cNvSpPr>
            <a:spLocks noGrp="1"/>
          </p:cNvSpPr>
          <p:nvPr>
            <p:ph type="subTitle" idx="1"/>
          </p:nvPr>
        </p:nvSpPr>
        <p:spPr>
          <a:xfrm>
            <a:off x="1523999" y="3069771"/>
            <a:ext cx="9622971" cy="2665865"/>
          </a:xfrm>
        </p:spPr>
        <p:txBody>
          <a:bodyPr>
            <a:normAutofit fontScale="85000" lnSpcReduction="20000"/>
          </a:bodyPr>
          <a:lstStyle/>
          <a:p>
            <a:r>
              <a:rPr lang="en-US" altLang="zh-CN" b="1" dirty="0" err="1"/>
              <a:t>参考文献</a:t>
            </a:r>
            <a:endParaRPr lang="zh-CN" altLang="zh-CN" dirty="0"/>
          </a:p>
          <a:p>
            <a:r>
              <a:rPr lang="en-US" altLang="zh-CN" dirty="0"/>
              <a:t>Comparison of two atmospheric correction methods for the classification of spaceborne urban hyperspectral data depending on the spatial resolution. International Journal of Remote Sensing, 2017, 39 (5), pp.1593-1614. ⟨10.1080/01431161.2017.1410247⟩. ⟨hal-01888019⟩遥感应用光谱分类或识别大气校正</a:t>
            </a:r>
            <a:endParaRPr lang="zh-CN" altLang="zh-CN" dirty="0"/>
          </a:p>
          <a:p>
            <a:r>
              <a:rPr lang="en-US" altLang="zh-CN" dirty="0"/>
              <a:t>Gautam et al. EPJ Techniques and Instrumentation (2015) 2:8 DOI 10.1140/</a:t>
            </a:r>
            <a:r>
              <a:rPr lang="en-US" altLang="zh-CN" dirty="0" err="1"/>
              <a:t>epjti</a:t>
            </a:r>
            <a:r>
              <a:rPr lang="en-US" altLang="zh-CN" dirty="0"/>
              <a:t>/s40485-015-0018-6拉曼光谱和红外光谱</a:t>
            </a:r>
            <a:r>
              <a:rPr lang="zh-CN" altLang="zh-CN" dirty="0"/>
              <a:t>处理</a:t>
            </a:r>
          </a:p>
          <a:p>
            <a:r>
              <a:rPr lang="en-US" altLang="zh-CN" dirty="0"/>
              <a:t>Initial Analysis of Spectral Smile Calibration of Hyperspectral Imager Suite (HISUI) Using Atmospheric Absorption Bands IEEE TRANSACTIONS ON GEOSCIENCE AND REMOTE SENSING, VOL. 60, 2022激光诱导击穿光谱（LIBS）成像,更为稳健和高效</a:t>
            </a:r>
            <a:endParaRPr lang="zh-CN" altLang="zh-CN" dirty="0"/>
          </a:p>
          <a:p>
            <a:endParaRPr lang="zh-CN" altLang="en-US" dirty="0"/>
          </a:p>
        </p:txBody>
      </p:sp>
    </p:spTree>
    <p:extLst>
      <p:ext uri="{BB962C8B-B14F-4D97-AF65-F5344CB8AC3E}">
        <p14:creationId xmlns:p14="http://schemas.microsoft.com/office/powerpoint/2010/main" val="21611234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E089E95-6082-9B1C-1C2F-EE7F21E4339B}"/>
              </a:ext>
            </a:extLst>
          </p:cNvPr>
          <p:cNvSpPr>
            <a:spLocks noGrp="1"/>
          </p:cNvSpPr>
          <p:nvPr>
            <p:ph idx="1"/>
          </p:nvPr>
        </p:nvSpPr>
        <p:spPr>
          <a:xfrm>
            <a:off x="838200" y="631371"/>
            <a:ext cx="10515600" cy="5545592"/>
          </a:xfrm>
        </p:spPr>
        <p:txBody>
          <a:bodyPr>
            <a:normAutofit fontScale="92500" lnSpcReduction="10000"/>
          </a:bodyPr>
          <a:lstStyle/>
          <a:p>
            <a:r>
              <a:rPr lang="zh-CN" altLang="zh-CN" dirty="0"/>
              <a:t>中文</a:t>
            </a:r>
            <a:r>
              <a:rPr lang="en-US" altLang="zh-CN" dirty="0"/>
              <a:t>                       English                                             </a:t>
            </a:r>
            <a:r>
              <a:rPr lang="zh-CN" altLang="zh-CN" dirty="0"/>
              <a:t>含义</a:t>
            </a:r>
          </a:p>
          <a:p>
            <a:r>
              <a:rPr lang="zh-CN" altLang="zh-CN" dirty="0"/>
              <a:t>辐射定标</a:t>
            </a:r>
            <a:r>
              <a:rPr lang="en-US" altLang="zh-CN" dirty="0"/>
              <a:t>   Radiometric Calibration</a:t>
            </a:r>
            <a:r>
              <a:rPr lang="zh-CN" altLang="zh-CN" dirty="0"/>
              <a:t>将传感器原始</a:t>
            </a:r>
            <a:r>
              <a:rPr lang="en-US" altLang="zh-CN" dirty="0"/>
              <a:t>DN</a:t>
            </a:r>
            <a:r>
              <a:rPr lang="zh-CN" altLang="zh-CN" dirty="0"/>
              <a:t>值转换为辐射亮度</a:t>
            </a:r>
            <a:r>
              <a:rPr lang="en-US" altLang="zh-CN" dirty="0"/>
              <a:t>/</a:t>
            </a:r>
            <a:r>
              <a:rPr lang="zh-CN" altLang="zh-CN" dirty="0"/>
              <a:t>反射率的过程</a:t>
            </a:r>
          </a:p>
          <a:p>
            <a:r>
              <a:rPr lang="zh-CN" altLang="zh-CN" dirty="0"/>
              <a:t>大气校正</a:t>
            </a:r>
            <a:r>
              <a:rPr lang="en-US" altLang="zh-CN" dirty="0"/>
              <a:t>Atmospheric Correction</a:t>
            </a:r>
            <a:r>
              <a:rPr lang="zh-CN" altLang="zh-CN" dirty="0"/>
              <a:t>消除大气散射、吸收对地表反射率的影响</a:t>
            </a:r>
          </a:p>
          <a:p>
            <a:r>
              <a:rPr lang="zh-CN" altLang="zh-CN" dirty="0"/>
              <a:t>光谱响应函数</a:t>
            </a:r>
            <a:r>
              <a:rPr lang="en-US" altLang="zh-CN" dirty="0"/>
              <a:t>Spectral Response Function (SRF)</a:t>
            </a:r>
            <a:r>
              <a:rPr lang="zh-CN" altLang="zh-CN" dirty="0"/>
              <a:t>传感器对不同波长的响应曲线</a:t>
            </a:r>
          </a:p>
          <a:p>
            <a:r>
              <a:rPr lang="zh-CN" altLang="zh-CN" dirty="0"/>
              <a:t>半高宽</a:t>
            </a:r>
            <a:r>
              <a:rPr lang="en-US" altLang="zh-CN" dirty="0"/>
              <a:t>Full Width at Half Maximum (FWHM)</a:t>
            </a:r>
            <a:r>
              <a:rPr lang="zh-CN" altLang="zh-CN" dirty="0"/>
              <a:t>光谱响应峰半高处的宽度，表征光谱分辨率</a:t>
            </a:r>
          </a:p>
          <a:p>
            <a:r>
              <a:rPr lang="zh-CN" altLang="zh-CN" dirty="0"/>
              <a:t>光谱微笑效应</a:t>
            </a:r>
            <a:r>
              <a:rPr lang="en-US" altLang="zh-CN" dirty="0"/>
              <a:t>Spectral Smile</a:t>
            </a:r>
            <a:r>
              <a:rPr lang="zh-CN" altLang="zh-CN" dirty="0"/>
              <a:t>推扫式传感器跨轨方向中心波长偏移现象</a:t>
            </a:r>
          </a:p>
          <a:p>
            <a:r>
              <a:rPr lang="zh-CN" altLang="zh-CN" dirty="0"/>
              <a:t>基线校正</a:t>
            </a:r>
            <a:r>
              <a:rPr lang="en-US" altLang="zh-CN" dirty="0"/>
              <a:t>Baseline Correction</a:t>
            </a:r>
            <a:r>
              <a:rPr lang="zh-CN" altLang="zh-CN" dirty="0"/>
              <a:t>去除荧光</a:t>
            </a:r>
            <a:r>
              <a:rPr lang="en-US" altLang="zh-CN" dirty="0"/>
              <a:t>/</a:t>
            </a:r>
            <a:r>
              <a:rPr lang="zh-CN" altLang="zh-CN" dirty="0"/>
              <a:t>散射造成的低频背景漂移</a:t>
            </a:r>
          </a:p>
          <a:p>
            <a:r>
              <a:rPr lang="zh-CN" altLang="zh-CN" dirty="0"/>
              <a:t>噪声等效辐亮度</a:t>
            </a:r>
            <a:r>
              <a:rPr lang="en-US" altLang="zh-CN" dirty="0"/>
              <a:t>Noise Equivalent Radiance (NER)</a:t>
            </a:r>
            <a:r>
              <a:rPr lang="zh-CN" altLang="zh-CN" dirty="0"/>
              <a:t>表征传感器噪声水平</a:t>
            </a:r>
          </a:p>
          <a:p>
            <a:r>
              <a:rPr lang="zh-CN" altLang="zh-CN" dirty="0"/>
              <a:t>几何校正</a:t>
            </a:r>
            <a:r>
              <a:rPr lang="en-US" altLang="zh-CN" dirty="0"/>
              <a:t>Geometric Correction</a:t>
            </a:r>
            <a:r>
              <a:rPr lang="zh-CN" altLang="zh-CN" dirty="0"/>
              <a:t>将图像像素与地理坐标配准</a:t>
            </a:r>
          </a:p>
          <a:p>
            <a:endParaRPr lang="zh-CN" altLang="en-US" dirty="0"/>
          </a:p>
        </p:txBody>
      </p:sp>
    </p:spTree>
    <p:extLst>
      <p:ext uri="{BB962C8B-B14F-4D97-AF65-F5344CB8AC3E}">
        <p14:creationId xmlns:p14="http://schemas.microsoft.com/office/powerpoint/2010/main" val="3507005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13A7CF-8A5D-FA48-3855-ED5113DC8065}"/>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E9253929-413F-3F2D-E2BE-6238B0DE7D4F}"/>
              </a:ext>
            </a:extLst>
          </p:cNvPr>
          <p:cNvSpPr>
            <a:spLocks noGrp="1"/>
          </p:cNvSpPr>
          <p:nvPr>
            <p:ph idx="1"/>
          </p:nvPr>
        </p:nvSpPr>
        <p:spPr/>
        <p:txBody>
          <a:bodyPr/>
          <a:lstStyle/>
          <a:p>
            <a:r>
              <a:rPr lang="zh-CN" altLang="zh-CN" b="1" dirty="0"/>
              <a:t>流程总览</a:t>
            </a:r>
            <a:endParaRPr lang="zh-CN" altLang="zh-CN" dirty="0"/>
          </a:p>
          <a:p>
            <a:r>
              <a:rPr lang="zh-CN" altLang="zh-CN" dirty="0"/>
              <a:t>先看这张流程图，三步：</a:t>
            </a:r>
          </a:p>
          <a:p>
            <a:r>
              <a:rPr lang="en-US" altLang="zh-CN" dirty="0"/>
              <a:t>Step 1 · </a:t>
            </a:r>
            <a:r>
              <a:rPr lang="en-US" altLang="zh-CN" dirty="0" err="1"/>
              <a:t>Preprocessing，预处理</a:t>
            </a:r>
            <a:endParaRPr lang="zh-CN" altLang="zh-CN" dirty="0"/>
          </a:p>
          <a:p>
            <a:r>
              <a:rPr lang="en-US" altLang="zh-CN" dirty="0"/>
              <a:t>Step 2 · Dimensionality </a:t>
            </a:r>
            <a:r>
              <a:rPr lang="en-US" altLang="zh-CN" dirty="0" err="1"/>
              <a:t>Reduction，降维</a:t>
            </a:r>
            <a:endParaRPr lang="zh-CN" altLang="zh-CN" dirty="0"/>
          </a:p>
          <a:p>
            <a:r>
              <a:rPr lang="en-US" altLang="zh-CN" dirty="0"/>
              <a:t>Step 3 · Classification &amp; </a:t>
            </a:r>
            <a:r>
              <a:rPr lang="en-US" altLang="zh-CN" dirty="0" err="1"/>
              <a:t>Recognition，分类与识别</a:t>
            </a:r>
            <a:endParaRPr lang="zh-CN" altLang="zh-CN" dirty="0"/>
          </a:p>
          <a:p>
            <a:endParaRPr lang="zh-CN" altLang="en-US" dirty="0"/>
          </a:p>
        </p:txBody>
      </p:sp>
    </p:spTree>
    <p:extLst>
      <p:ext uri="{BB962C8B-B14F-4D97-AF65-F5344CB8AC3E}">
        <p14:creationId xmlns:p14="http://schemas.microsoft.com/office/powerpoint/2010/main" val="30837326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C8289D-335D-F4AC-0FBF-9834C68DA308}"/>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058EA175-253E-F6B3-12FB-41DF8E400C0A}"/>
              </a:ext>
            </a:extLst>
          </p:cNvPr>
          <p:cNvSpPr>
            <a:spLocks noGrp="1"/>
          </p:cNvSpPr>
          <p:nvPr>
            <p:ph idx="1"/>
          </p:nvPr>
        </p:nvSpPr>
        <p:spPr/>
        <p:txBody>
          <a:bodyPr>
            <a:normAutofit fontScale="62500" lnSpcReduction="20000"/>
          </a:bodyPr>
          <a:lstStyle/>
          <a:p>
            <a:r>
              <a:rPr lang="zh-CN" altLang="zh-CN" b="1" dirty="0"/>
              <a:t>一、预处理</a:t>
            </a:r>
            <a:endParaRPr lang="zh-CN" altLang="zh-CN" dirty="0"/>
          </a:p>
          <a:p>
            <a:r>
              <a:rPr lang="zh-CN" altLang="zh-CN" b="1" dirty="0"/>
              <a:t>定标类</a:t>
            </a:r>
            <a:endParaRPr lang="zh-CN" altLang="zh-CN" dirty="0"/>
          </a:p>
          <a:p>
            <a:r>
              <a:rPr lang="en-US" altLang="zh-CN" dirty="0" err="1"/>
              <a:t>这一页有四个高频词</a:t>
            </a:r>
            <a:r>
              <a:rPr lang="en-US" altLang="zh-CN" dirty="0"/>
              <a:t>：</a:t>
            </a:r>
            <a:endParaRPr lang="zh-CN" altLang="zh-CN" dirty="0"/>
          </a:p>
          <a:p>
            <a:r>
              <a:rPr lang="en-US" altLang="zh-CN" dirty="0"/>
              <a:t>1. Radiometric </a:t>
            </a:r>
            <a:r>
              <a:rPr lang="en-US" altLang="zh-CN" dirty="0" err="1"/>
              <a:t>Calibration（辐射定标</a:t>
            </a:r>
            <a:r>
              <a:rPr lang="en-US" altLang="zh-CN" dirty="0"/>
              <a:t>）：</a:t>
            </a:r>
            <a:r>
              <a:rPr lang="en-US" altLang="zh-CN" dirty="0" err="1"/>
              <a:t>把仪器记到的数字</a:t>
            </a:r>
            <a:r>
              <a:rPr lang="en-US" altLang="zh-CN" dirty="0"/>
              <a:t> </a:t>
            </a:r>
            <a:r>
              <a:rPr lang="en-US" altLang="zh-CN" dirty="0" err="1"/>
              <a:t>DN（digital</a:t>
            </a:r>
            <a:r>
              <a:rPr lang="en-US" altLang="zh-CN" dirty="0"/>
              <a:t> </a:t>
            </a:r>
            <a:r>
              <a:rPr lang="en-US" altLang="zh-CN" dirty="0" err="1"/>
              <a:t>number）换算成真实的辐射亮度或反射率。没有这一步，数据只是一堆数字</a:t>
            </a:r>
            <a:r>
              <a:rPr lang="en-US" altLang="zh-CN" dirty="0"/>
              <a:t>。</a:t>
            </a:r>
            <a:endParaRPr lang="zh-CN" altLang="zh-CN" dirty="0"/>
          </a:p>
          <a:p>
            <a:r>
              <a:rPr lang="en-US" altLang="zh-CN" dirty="0"/>
              <a:t>2. Spectral Response </a:t>
            </a:r>
            <a:r>
              <a:rPr lang="en-US" altLang="zh-CN" dirty="0" err="1"/>
              <a:t>Function（SRF，光谱响应函数</a:t>
            </a:r>
            <a:r>
              <a:rPr lang="en-US" altLang="zh-CN" dirty="0"/>
              <a:t>）：传感器对每个波长“</a:t>
            </a:r>
            <a:r>
              <a:rPr lang="en-US" altLang="zh-CN" dirty="0" err="1"/>
              <a:t>有多敏感</a:t>
            </a:r>
            <a:r>
              <a:rPr lang="en-US" altLang="zh-CN" dirty="0"/>
              <a:t>”，</a:t>
            </a:r>
            <a:r>
              <a:rPr lang="en-US" altLang="zh-CN" dirty="0" err="1"/>
              <a:t>是一条随波长变化的曲线</a:t>
            </a:r>
            <a:r>
              <a:rPr lang="en-US" altLang="zh-CN" dirty="0"/>
              <a:t>。</a:t>
            </a:r>
            <a:endParaRPr lang="zh-CN" altLang="zh-CN" dirty="0"/>
          </a:p>
          <a:p>
            <a:r>
              <a:rPr lang="en-US" altLang="zh-CN" dirty="0"/>
              <a:t>3. </a:t>
            </a:r>
            <a:r>
              <a:rPr lang="en-US" altLang="zh-CN" dirty="0" err="1"/>
              <a:t>FWHM（Full</a:t>
            </a:r>
            <a:r>
              <a:rPr lang="en-US" altLang="zh-CN" dirty="0"/>
              <a:t> Width at Half </a:t>
            </a:r>
            <a:r>
              <a:rPr lang="en-US" altLang="zh-CN" dirty="0" err="1"/>
              <a:t>Maximum，半高宽</a:t>
            </a:r>
            <a:r>
              <a:rPr lang="en-US" altLang="zh-CN" dirty="0"/>
              <a:t>）：</a:t>
            </a:r>
            <a:r>
              <a:rPr lang="en-US" altLang="zh-CN" dirty="0" err="1"/>
              <a:t>峰高一半处的宽度。它越小，光谱分辨率越高</a:t>
            </a:r>
            <a:r>
              <a:rPr lang="en-US" altLang="zh-CN" dirty="0"/>
              <a:t>。</a:t>
            </a:r>
            <a:endParaRPr lang="zh-CN" altLang="zh-CN" dirty="0"/>
          </a:p>
          <a:p>
            <a:r>
              <a:rPr lang="en-US" altLang="zh-CN" dirty="0"/>
              <a:t>4. Spectral </a:t>
            </a:r>
            <a:r>
              <a:rPr lang="en-US" altLang="zh-CN" dirty="0" err="1"/>
              <a:t>Smile（光谱微笑效应</a:t>
            </a:r>
            <a:r>
              <a:rPr lang="en-US" altLang="zh-CN" dirty="0"/>
              <a:t>）：</a:t>
            </a:r>
            <a:r>
              <a:rPr lang="en-US" altLang="zh-CN" dirty="0" err="1"/>
              <a:t>中间和两边的波长对不齐，曲线像一张微笑的嘴</a:t>
            </a:r>
            <a:r>
              <a:rPr lang="en-US" altLang="zh-CN" dirty="0"/>
              <a:t>。</a:t>
            </a:r>
            <a:endParaRPr lang="zh-CN" altLang="zh-CN" dirty="0"/>
          </a:p>
          <a:p>
            <a:r>
              <a:rPr lang="en-US" altLang="zh-CN" i="1" dirty="0"/>
              <a:t> “The path of the light from the lamps is slightly different from the path of light through the full optical system… the smile correction table determined based on the former does not enable sufficient spectral smile correction for actual observation images.”</a:t>
            </a:r>
            <a:endParaRPr lang="zh-CN" altLang="zh-CN" dirty="0"/>
          </a:p>
          <a:p>
            <a:r>
              <a:rPr lang="en-US" altLang="zh-CN" i="1" dirty="0"/>
              <a:t> “…absorption bands centered at λ = 765 nm … CO2 … 2010 nm … 2060 nm.”</a:t>
            </a:r>
            <a:endParaRPr lang="zh-CN" altLang="zh-CN" dirty="0"/>
          </a:p>
          <a:p>
            <a:r>
              <a:rPr lang="en-US" altLang="zh-CN" dirty="0"/>
              <a:t> </a:t>
            </a:r>
            <a:endParaRPr lang="zh-CN" altLang="zh-CN" dirty="0"/>
          </a:p>
          <a:p>
            <a:endParaRPr lang="zh-CN" altLang="en-US" dirty="0"/>
          </a:p>
        </p:txBody>
      </p:sp>
    </p:spTree>
    <p:extLst>
      <p:ext uri="{BB962C8B-B14F-4D97-AF65-F5344CB8AC3E}">
        <p14:creationId xmlns:p14="http://schemas.microsoft.com/office/powerpoint/2010/main" val="34762805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4CD800-5534-1379-ADF6-A2EE9590A06B}"/>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C828409E-8E95-36B7-3BB4-F811DA0D1FE3}"/>
              </a:ext>
            </a:extLst>
          </p:cNvPr>
          <p:cNvSpPr>
            <a:spLocks noGrp="1"/>
          </p:cNvSpPr>
          <p:nvPr>
            <p:ph idx="1"/>
          </p:nvPr>
        </p:nvSpPr>
        <p:spPr/>
        <p:txBody>
          <a:bodyPr>
            <a:normAutofit fontScale="92500" lnSpcReduction="20000"/>
          </a:bodyPr>
          <a:lstStyle/>
          <a:p>
            <a:r>
              <a:rPr lang="zh-CN" altLang="zh-CN" b="1" dirty="0"/>
              <a:t>大气校正</a:t>
            </a:r>
            <a:endParaRPr lang="zh-CN" altLang="zh-CN" dirty="0"/>
          </a:p>
          <a:p>
            <a:r>
              <a:rPr lang="en-US" altLang="zh-CN" dirty="0"/>
              <a:t>1. Atmospheric Correction</a:t>
            </a:r>
            <a:r>
              <a:rPr lang="zh-CN" altLang="zh-CN" dirty="0"/>
              <a:t>（大气校正）：光从太空到地面会被大气散射和吸收，这一步把干扰减掉，还原地表真实反射率。</a:t>
            </a:r>
          </a:p>
          <a:p>
            <a:r>
              <a:rPr lang="en-US" altLang="zh-CN" dirty="0"/>
              <a:t>2. MODTRAN</a:t>
            </a:r>
            <a:r>
              <a:rPr lang="zh-CN" altLang="zh-CN" dirty="0"/>
              <a:t>：常用的大气辐射传输模型，物理法大气校正靠它算大气参数。</a:t>
            </a:r>
          </a:p>
          <a:p>
            <a:r>
              <a:rPr lang="zh-CN" altLang="zh-CN" dirty="0"/>
              <a:t>论文对比两条路线：物理模型法（</a:t>
            </a:r>
            <a:r>
              <a:rPr lang="en-US" altLang="zh-CN" dirty="0"/>
              <a:t>COCHISE</a:t>
            </a:r>
            <a:r>
              <a:rPr lang="zh-CN" altLang="zh-CN" dirty="0"/>
              <a:t>）准，但假设地面是平的；经验阴影校正法能识别阴影，但把像素当成</a:t>
            </a:r>
            <a:r>
              <a:rPr lang="en-US" altLang="zh-CN" dirty="0"/>
              <a:t>“</a:t>
            </a:r>
            <a:r>
              <a:rPr lang="zh-CN" altLang="zh-CN" dirty="0"/>
              <a:t>要么全亮、要么全暗</a:t>
            </a:r>
            <a:r>
              <a:rPr lang="en-US" altLang="zh-CN" dirty="0"/>
              <a:t>”</a:t>
            </a:r>
            <a:r>
              <a:rPr lang="zh-CN" altLang="zh-CN" dirty="0"/>
              <a:t>。</a:t>
            </a:r>
          </a:p>
          <a:p>
            <a:r>
              <a:rPr lang="en-US" altLang="zh-CN" dirty="0" err="1"/>
              <a:t>结论词：Spatial</a:t>
            </a:r>
            <a:r>
              <a:rPr lang="en-US" altLang="zh-CN" dirty="0"/>
              <a:t> </a:t>
            </a:r>
            <a:r>
              <a:rPr lang="en-US" altLang="zh-CN" dirty="0" err="1"/>
              <a:t>Resolution（空间分辨率）决定哪种方法更好</a:t>
            </a:r>
            <a:r>
              <a:rPr lang="en-US" altLang="zh-CN" dirty="0"/>
              <a:t>。</a:t>
            </a:r>
            <a:endParaRPr lang="zh-CN" altLang="zh-CN" dirty="0"/>
          </a:p>
          <a:p>
            <a:r>
              <a:rPr lang="en-US" altLang="zh-CN" i="1" dirty="0"/>
              <a:t>“…the choice depends on the spatial resolution of the processed data set… with the lower spatial resolution where COCHISE can be 10% more accurate than the empirical method.”</a:t>
            </a:r>
            <a:endParaRPr lang="zh-CN" altLang="zh-CN" dirty="0"/>
          </a:p>
          <a:p>
            <a:r>
              <a:rPr lang="en-US" altLang="zh-CN" dirty="0"/>
              <a:t> </a:t>
            </a:r>
            <a:endParaRPr lang="zh-CN" altLang="zh-CN" dirty="0"/>
          </a:p>
          <a:p>
            <a:endParaRPr lang="zh-CN" altLang="en-US" dirty="0"/>
          </a:p>
        </p:txBody>
      </p:sp>
    </p:spTree>
    <p:extLst>
      <p:ext uri="{BB962C8B-B14F-4D97-AF65-F5344CB8AC3E}">
        <p14:creationId xmlns:p14="http://schemas.microsoft.com/office/powerpoint/2010/main" val="12526780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3A0953-695C-E3CF-4280-4FF0F41D630A}"/>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633BB13D-7659-38E4-807E-74EA5DC883A2}"/>
              </a:ext>
            </a:extLst>
          </p:cNvPr>
          <p:cNvSpPr>
            <a:spLocks noGrp="1"/>
          </p:cNvSpPr>
          <p:nvPr>
            <p:ph idx="1"/>
          </p:nvPr>
        </p:nvSpPr>
        <p:spPr/>
        <p:txBody>
          <a:bodyPr>
            <a:normAutofit fontScale="62500" lnSpcReduction="20000"/>
          </a:bodyPr>
          <a:lstStyle/>
          <a:p>
            <a:r>
              <a:rPr lang="zh-CN" altLang="zh-CN" b="1" dirty="0"/>
              <a:t>拉曼</a:t>
            </a:r>
            <a:r>
              <a:rPr lang="en-US" altLang="zh-CN" b="1" dirty="0"/>
              <a:t> vs </a:t>
            </a:r>
            <a:r>
              <a:rPr lang="zh-CN" altLang="zh-CN" b="1" dirty="0"/>
              <a:t>红外</a:t>
            </a:r>
            <a:endParaRPr lang="zh-CN" altLang="zh-CN" dirty="0"/>
          </a:p>
          <a:p>
            <a:r>
              <a:rPr lang="en-US" altLang="zh-CN" dirty="0"/>
              <a:t>Fluorescence </a:t>
            </a:r>
            <a:r>
              <a:rPr lang="en-US" altLang="zh-CN" dirty="0" err="1"/>
              <a:t>Baseline（荧光基线</a:t>
            </a:r>
            <a:r>
              <a:rPr lang="en-US" altLang="zh-CN" dirty="0"/>
              <a:t>）：</a:t>
            </a:r>
            <a:r>
              <a:rPr lang="en-US" altLang="zh-CN" dirty="0" err="1"/>
              <a:t>拉曼信号弱，被荧光背景盖住，要先做</a:t>
            </a:r>
            <a:r>
              <a:rPr lang="en-US" altLang="zh-CN" dirty="0"/>
              <a:t> Baseline </a:t>
            </a:r>
            <a:r>
              <a:rPr lang="en-US" altLang="zh-CN" dirty="0" err="1"/>
              <a:t>Correction（基线校正</a:t>
            </a:r>
            <a:r>
              <a:rPr lang="en-US" altLang="zh-CN" dirty="0"/>
              <a:t>）。</a:t>
            </a:r>
            <a:endParaRPr lang="zh-CN" altLang="zh-CN" dirty="0"/>
          </a:p>
          <a:p>
            <a:r>
              <a:rPr lang="en-US" altLang="zh-CN" dirty="0"/>
              <a:t>Cosmic Ray Spike（宇宙射线尖峰）：CCD </a:t>
            </a:r>
            <a:r>
              <a:rPr lang="en-US" altLang="zh-CN" dirty="0" err="1"/>
              <a:t>上突然冒出的假亮点，要先去掉</a:t>
            </a:r>
            <a:r>
              <a:rPr lang="en-US" altLang="zh-CN" dirty="0"/>
              <a:t>。</a:t>
            </a:r>
            <a:endParaRPr lang="zh-CN" altLang="zh-CN" dirty="0"/>
          </a:p>
          <a:p>
            <a:r>
              <a:rPr lang="en-US" altLang="zh-CN" dirty="0" err="1"/>
              <a:t>ALS（Asymmetric</a:t>
            </a:r>
            <a:r>
              <a:rPr lang="en-US" altLang="zh-CN" dirty="0"/>
              <a:t> Least Squares）：</a:t>
            </a:r>
            <a:r>
              <a:rPr lang="en-US" altLang="zh-CN" dirty="0" err="1"/>
              <a:t>非对称最小二乘法，常用的拟合基线算法</a:t>
            </a:r>
            <a:r>
              <a:rPr lang="en-US" altLang="zh-CN" dirty="0"/>
              <a:t>。</a:t>
            </a:r>
            <a:endParaRPr lang="zh-CN" altLang="zh-CN" dirty="0"/>
          </a:p>
          <a:p>
            <a:r>
              <a:rPr lang="en-US" altLang="zh-CN" dirty="0"/>
              <a:t>Mie </a:t>
            </a:r>
            <a:r>
              <a:rPr lang="en-US" altLang="zh-CN" dirty="0" err="1"/>
              <a:t>Scattering（米氏散射</a:t>
            </a:r>
            <a:r>
              <a:rPr lang="en-US" altLang="zh-CN" dirty="0"/>
              <a:t>）：</a:t>
            </a:r>
            <a:r>
              <a:rPr lang="en-US" altLang="zh-CN" dirty="0" err="1"/>
              <a:t>细胞大小和红外波长差不多，会把光谱形状扭歪</a:t>
            </a:r>
            <a:r>
              <a:rPr lang="en-US" altLang="zh-CN" dirty="0"/>
              <a:t>。</a:t>
            </a:r>
            <a:endParaRPr lang="zh-CN" altLang="zh-CN" dirty="0"/>
          </a:p>
          <a:p>
            <a:r>
              <a:rPr lang="en-US" altLang="zh-CN" dirty="0" err="1"/>
              <a:t>EMSC（Extended</a:t>
            </a:r>
            <a:r>
              <a:rPr lang="en-US" altLang="zh-CN" dirty="0"/>
              <a:t> Multiplicative Scatter </a:t>
            </a:r>
            <a:r>
              <a:rPr lang="en-US" altLang="zh-CN" dirty="0" err="1"/>
              <a:t>Correction，扩展乘性散射校正</a:t>
            </a:r>
            <a:r>
              <a:rPr lang="en-US" altLang="zh-CN" dirty="0"/>
              <a:t>）：</a:t>
            </a:r>
            <a:r>
              <a:rPr lang="en-US" altLang="zh-CN" dirty="0" err="1"/>
              <a:t>红外里最常用的预处理</a:t>
            </a:r>
            <a:r>
              <a:rPr lang="en-US" altLang="zh-CN" dirty="0"/>
              <a:t>。</a:t>
            </a:r>
            <a:endParaRPr lang="zh-CN" altLang="zh-CN" dirty="0"/>
          </a:p>
          <a:p>
            <a:r>
              <a:rPr lang="en-US" altLang="zh-CN" dirty="0"/>
              <a:t>【</a:t>
            </a:r>
            <a:r>
              <a:rPr lang="en-US" altLang="zh-CN" dirty="0" err="1"/>
              <a:t>文献出处】Gautam</a:t>
            </a:r>
            <a:r>
              <a:rPr lang="en-US" altLang="zh-CN" dirty="0"/>
              <a:t> 2015。拉曼的荧光基线、宇宙射线尖峰、ALS、SG </a:t>
            </a:r>
            <a:r>
              <a:rPr lang="en-US" altLang="zh-CN" dirty="0" err="1"/>
              <a:t>平滑、SNV；FTIR</a:t>
            </a:r>
            <a:r>
              <a:rPr lang="en-US" altLang="zh-CN" dirty="0"/>
              <a:t> 的 Mie </a:t>
            </a:r>
            <a:r>
              <a:rPr lang="en-US" altLang="zh-CN" dirty="0" err="1"/>
              <a:t>散射、MSC</a:t>
            </a:r>
            <a:r>
              <a:rPr lang="en-US" altLang="zh-CN" dirty="0"/>
              <a:t>/EMSC，。</a:t>
            </a:r>
            <a:endParaRPr lang="zh-CN" altLang="zh-CN" dirty="0"/>
          </a:p>
          <a:p>
            <a:r>
              <a:rPr lang="en-US" altLang="zh-CN" i="1" dirty="0"/>
              <a:t> “…the strong intrinsic fluorescence from many biomolecules. The fluorescence background is often many times more intense than the weak Raman signals.”</a:t>
            </a:r>
            <a:endParaRPr lang="zh-CN" altLang="zh-CN" dirty="0"/>
          </a:p>
          <a:p>
            <a:r>
              <a:rPr lang="en-US" altLang="zh-CN" i="1" dirty="0"/>
              <a:t> “…mid-infrared spectrum… is hampered by Mie scattering… Extended Multiplicative Scatter Correction (EMSC) can be employed for this purpose.”</a:t>
            </a:r>
            <a:endParaRPr lang="zh-CN" altLang="zh-CN" dirty="0"/>
          </a:p>
          <a:p>
            <a:r>
              <a:rPr lang="en-US" altLang="zh-CN" dirty="0"/>
              <a:t> </a:t>
            </a:r>
            <a:endParaRPr lang="zh-CN" altLang="zh-CN" dirty="0"/>
          </a:p>
          <a:p>
            <a:endParaRPr lang="zh-CN" altLang="en-US" dirty="0"/>
          </a:p>
        </p:txBody>
      </p:sp>
    </p:spTree>
    <p:extLst>
      <p:ext uri="{BB962C8B-B14F-4D97-AF65-F5344CB8AC3E}">
        <p14:creationId xmlns:p14="http://schemas.microsoft.com/office/powerpoint/2010/main" val="4548001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5A6198-89D7-0A29-3398-06E1BBA973AF}"/>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50AE791F-FFB2-1AE6-A809-02A2A50AE6CD}"/>
              </a:ext>
            </a:extLst>
          </p:cNvPr>
          <p:cNvSpPr>
            <a:spLocks noGrp="1"/>
          </p:cNvSpPr>
          <p:nvPr>
            <p:ph idx="1"/>
          </p:nvPr>
        </p:nvSpPr>
        <p:spPr/>
        <p:txBody>
          <a:bodyPr>
            <a:normAutofit fontScale="70000" lnSpcReduction="20000"/>
          </a:bodyPr>
          <a:lstStyle/>
          <a:p>
            <a:r>
              <a:rPr lang="zh-CN" altLang="zh-CN" b="1" dirty="0"/>
              <a:t>二、 </a:t>
            </a:r>
            <a:r>
              <a:rPr lang="en-US" altLang="zh-CN" b="1" dirty="0" err="1"/>
              <a:t>降维：PCA</a:t>
            </a:r>
            <a:endParaRPr lang="zh-CN" altLang="zh-CN" dirty="0"/>
          </a:p>
          <a:p>
            <a:r>
              <a:rPr lang="en-US" altLang="zh-CN" dirty="0" err="1"/>
              <a:t>进入第二大步</a:t>
            </a:r>
            <a:r>
              <a:rPr lang="en-US" altLang="zh-CN" dirty="0"/>
              <a:t> Dimensionality </a:t>
            </a:r>
            <a:r>
              <a:rPr lang="en-US" altLang="zh-CN" dirty="0" err="1"/>
              <a:t>Reduction（降维</a:t>
            </a:r>
            <a:r>
              <a:rPr lang="en-US" altLang="zh-CN" dirty="0"/>
              <a:t>）。</a:t>
            </a:r>
            <a:endParaRPr lang="zh-CN" altLang="zh-CN" dirty="0"/>
          </a:p>
          <a:p>
            <a:r>
              <a:rPr lang="en-US" altLang="zh-CN" dirty="0"/>
              <a:t>Hyperspectral </a:t>
            </a:r>
            <a:r>
              <a:rPr lang="en-US" altLang="zh-CN" dirty="0" err="1"/>
              <a:t>Cube（高光谱数据立方体</a:t>
            </a:r>
            <a:r>
              <a:rPr lang="en-US" altLang="zh-CN" dirty="0"/>
              <a:t>）：</a:t>
            </a:r>
            <a:r>
              <a:rPr lang="en-US" altLang="zh-CN" dirty="0" err="1"/>
              <a:t>两个空间维度</a:t>
            </a:r>
            <a:r>
              <a:rPr lang="en-US" altLang="zh-CN" dirty="0"/>
              <a:t> + </a:t>
            </a:r>
            <a:r>
              <a:rPr lang="en-US" altLang="zh-CN" dirty="0" err="1"/>
              <a:t>一个光谱维度，一景图有几百个波段</a:t>
            </a:r>
            <a:r>
              <a:rPr lang="en-US" altLang="zh-CN" dirty="0"/>
              <a:t>。</a:t>
            </a:r>
            <a:endParaRPr lang="zh-CN" altLang="zh-CN" dirty="0"/>
          </a:p>
          <a:p>
            <a:r>
              <a:rPr lang="zh-CN" altLang="zh-CN" dirty="0"/>
              <a:t>为什么降维？因为波段之间高度相关。</a:t>
            </a:r>
          </a:p>
          <a:p>
            <a:r>
              <a:rPr lang="en-US" altLang="zh-CN" dirty="0" err="1"/>
              <a:t>PCA（Principal</a:t>
            </a:r>
            <a:r>
              <a:rPr lang="en-US" altLang="zh-CN" dirty="0"/>
              <a:t> Component </a:t>
            </a:r>
            <a:r>
              <a:rPr lang="en-US" altLang="zh-CN" dirty="0" err="1"/>
              <a:t>Analysis，主成分分析</a:t>
            </a:r>
            <a:r>
              <a:rPr lang="en-US" altLang="zh-CN" dirty="0"/>
              <a:t>）：</a:t>
            </a:r>
            <a:r>
              <a:rPr lang="en-US" altLang="zh-CN" dirty="0" err="1"/>
              <a:t>把几百个波段“拧成”几个</a:t>
            </a:r>
            <a:r>
              <a:rPr lang="en-US" altLang="zh-CN" dirty="0"/>
              <a:t> </a:t>
            </a:r>
            <a:r>
              <a:rPr lang="en-US" altLang="zh-CN" dirty="0" err="1"/>
              <a:t>PC（主成分</a:t>
            </a:r>
            <a:r>
              <a:rPr lang="en-US" altLang="zh-CN" dirty="0"/>
              <a:t>）。</a:t>
            </a:r>
            <a:endParaRPr lang="zh-CN" altLang="zh-CN" dirty="0"/>
          </a:p>
          <a:p>
            <a:r>
              <a:rPr lang="en-US" altLang="zh-CN" dirty="0"/>
              <a:t>Eigenvalue / </a:t>
            </a:r>
            <a:r>
              <a:rPr lang="en-US" altLang="zh-CN" dirty="0" err="1"/>
              <a:t>Eigenvector（特征值</a:t>
            </a:r>
            <a:r>
              <a:rPr lang="en-US" altLang="zh-CN" dirty="0"/>
              <a:t> / </a:t>
            </a:r>
            <a:r>
              <a:rPr lang="en-US" altLang="zh-CN" dirty="0" err="1"/>
              <a:t>特征向量</a:t>
            </a:r>
            <a:r>
              <a:rPr lang="en-US" altLang="zh-CN" dirty="0"/>
              <a:t>）：PCA </a:t>
            </a:r>
            <a:r>
              <a:rPr lang="en-US" altLang="zh-CN" dirty="0" err="1"/>
              <a:t>的数学基础，协方差矩阵分解得到</a:t>
            </a:r>
            <a:r>
              <a:rPr lang="en-US" altLang="zh-CN" dirty="0"/>
              <a:t>。</a:t>
            </a:r>
            <a:endParaRPr lang="zh-CN" altLang="zh-CN" dirty="0"/>
          </a:p>
          <a:p>
            <a:r>
              <a:rPr lang="en-US" altLang="zh-CN" dirty="0"/>
              <a:t>Score </a:t>
            </a:r>
            <a:r>
              <a:rPr lang="en-US" altLang="zh-CN" dirty="0" err="1"/>
              <a:t>Plot（得分图</a:t>
            </a:r>
            <a:r>
              <a:rPr lang="en-US" altLang="zh-CN" dirty="0"/>
              <a:t>）：</a:t>
            </a:r>
            <a:r>
              <a:rPr lang="en-US" altLang="zh-CN" dirty="0" err="1"/>
              <a:t>看样本分成几堆；Loading</a:t>
            </a:r>
            <a:r>
              <a:rPr lang="en-US" altLang="zh-CN" dirty="0"/>
              <a:t> </a:t>
            </a:r>
            <a:r>
              <a:rPr lang="en-US" altLang="zh-CN" dirty="0" err="1"/>
              <a:t>Plot（载荷图</a:t>
            </a:r>
            <a:r>
              <a:rPr lang="en-US" altLang="zh-CN" dirty="0"/>
              <a:t>）：</a:t>
            </a:r>
            <a:r>
              <a:rPr lang="en-US" altLang="zh-CN" dirty="0" err="1"/>
              <a:t>看哪些波长在起作用</a:t>
            </a:r>
            <a:r>
              <a:rPr lang="en-US" altLang="zh-CN" dirty="0"/>
              <a:t>。</a:t>
            </a:r>
            <a:endParaRPr lang="zh-CN" altLang="zh-CN" dirty="0"/>
          </a:p>
          <a:p>
            <a:r>
              <a:rPr lang="en-US" altLang="zh-CN" dirty="0"/>
              <a:t>【</a:t>
            </a:r>
            <a:r>
              <a:rPr lang="en-US" altLang="zh-CN" dirty="0" err="1"/>
              <a:t>文献出处</a:t>
            </a:r>
            <a:r>
              <a:rPr lang="en-US" altLang="zh-CN" dirty="0"/>
              <a:t>】 Gautam 2015。PCA </a:t>
            </a:r>
            <a:r>
              <a:rPr lang="en-US" altLang="zh-CN" dirty="0" err="1"/>
              <a:t>原理、协方差矩阵特征分解、Score</a:t>
            </a:r>
            <a:r>
              <a:rPr lang="en-US" altLang="zh-CN" dirty="0"/>
              <a:t>/Loading </a:t>
            </a:r>
            <a:r>
              <a:rPr lang="en-US" altLang="zh-CN" dirty="0" err="1"/>
              <a:t>plot、碎石图选</a:t>
            </a:r>
            <a:r>
              <a:rPr lang="en-US" altLang="zh-CN" dirty="0"/>
              <a:t> PC 数。</a:t>
            </a:r>
            <a:endParaRPr lang="zh-CN" altLang="zh-CN" dirty="0"/>
          </a:p>
          <a:p>
            <a:r>
              <a:rPr lang="en-US" altLang="zh-CN" i="1" dirty="0"/>
              <a:t>“Eigenvectors of the covariance matrix of the data…” </a:t>
            </a:r>
            <a:r>
              <a:rPr lang="en-US" altLang="zh-CN" i="1" dirty="0" err="1"/>
              <a:t>以及</a:t>
            </a:r>
            <a:r>
              <a:rPr lang="en-US" altLang="zh-CN" i="1" dirty="0"/>
              <a:t> Fig.1 </a:t>
            </a:r>
            <a:r>
              <a:rPr lang="en-US" altLang="zh-CN" i="1" dirty="0" err="1"/>
              <a:t>说明</a:t>
            </a:r>
            <a:r>
              <a:rPr lang="en-US" altLang="zh-CN" i="1" dirty="0"/>
              <a:t>：“Scatter Plots of score values of different Principal Components (PCs)…” </a:t>
            </a:r>
            <a:r>
              <a:rPr lang="en-US" altLang="zh-CN" i="1" dirty="0" err="1"/>
              <a:t>用于看分组与离群点</a:t>
            </a:r>
            <a:r>
              <a:rPr lang="en-US" altLang="zh-CN" i="1" dirty="0"/>
              <a:t>。</a:t>
            </a:r>
            <a:endParaRPr lang="zh-CN" altLang="zh-CN" dirty="0"/>
          </a:p>
          <a:p>
            <a:r>
              <a:rPr lang="en-US" altLang="zh-CN" dirty="0"/>
              <a:t> </a:t>
            </a:r>
            <a:endParaRPr lang="zh-CN" altLang="zh-CN" dirty="0"/>
          </a:p>
          <a:p>
            <a:endParaRPr lang="zh-CN" altLang="en-US" dirty="0"/>
          </a:p>
        </p:txBody>
      </p:sp>
    </p:spTree>
    <p:extLst>
      <p:ext uri="{BB962C8B-B14F-4D97-AF65-F5344CB8AC3E}">
        <p14:creationId xmlns:p14="http://schemas.microsoft.com/office/powerpoint/2010/main" val="26919838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C16078-7D5F-2676-4090-36624032AB14}"/>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7BAAF120-8C23-2ABF-5564-60BCC427BBC9}"/>
              </a:ext>
            </a:extLst>
          </p:cNvPr>
          <p:cNvSpPr>
            <a:spLocks noGrp="1"/>
          </p:cNvSpPr>
          <p:nvPr>
            <p:ph idx="1"/>
          </p:nvPr>
        </p:nvSpPr>
        <p:spPr/>
        <p:txBody>
          <a:bodyPr>
            <a:normAutofit fontScale="92500" lnSpcReduction="10000"/>
          </a:bodyPr>
          <a:lstStyle/>
          <a:p>
            <a:r>
              <a:rPr lang="en-US" altLang="zh-CN" b="1" dirty="0"/>
              <a:t> PCA vs MNF</a:t>
            </a:r>
            <a:endParaRPr lang="zh-CN" altLang="zh-CN" dirty="0"/>
          </a:p>
          <a:p>
            <a:r>
              <a:rPr lang="zh-CN" altLang="zh-CN" dirty="0"/>
              <a:t>重点对比两个词：</a:t>
            </a:r>
          </a:p>
          <a:p>
            <a:r>
              <a:rPr lang="en-US" altLang="zh-CN" dirty="0"/>
              <a:t>PCA 按 </a:t>
            </a:r>
            <a:r>
              <a:rPr lang="en-US" altLang="zh-CN" dirty="0" err="1"/>
              <a:t>Variance（方差）大小排</a:t>
            </a:r>
            <a:r>
              <a:rPr lang="en-US" altLang="zh-CN" dirty="0"/>
              <a:t>。</a:t>
            </a:r>
            <a:endParaRPr lang="zh-CN" altLang="zh-CN" dirty="0"/>
          </a:p>
          <a:p>
            <a:r>
              <a:rPr lang="en-US" altLang="zh-CN" dirty="0"/>
              <a:t>MNF（Minimum Noise </a:t>
            </a:r>
            <a:r>
              <a:rPr lang="en-US" altLang="zh-CN" dirty="0" err="1"/>
              <a:t>Fraction，最小噪声分离</a:t>
            </a:r>
            <a:r>
              <a:rPr lang="en-US" altLang="zh-CN" dirty="0"/>
              <a:t>）：先把噪声“</a:t>
            </a:r>
            <a:r>
              <a:rPr lang="en-US" altLang="zh-CN" dirty="0" err="1"/>
              <a:t>白化</a:t>
            </a:r>
            <a:r>
              <a:rPr lang="en-US" altLang="zh-CN" dirty="0"/>
              <a:t>”，</a:t>
            </a:r>
            <a:r>
              <a:rPr lang="en-US" altLang="zh-CN" dirty="0" err="1"/>
              <a:t>再做</a:t>
            </a:r>
            <a:r>
              <a:rPr lang="en-US" altLang="zh-CN" dirty="0"/>
              <a:t> </a:t>
            </a:r>
            <a:r>
              <a:rPr lang="en-US" altLang="zh-CN" dirty="0" err="1"/>
              <a:t>PCA，按</a:t>
            </a:r>
            <a:r>
              <a:rPr lang="en-US" altLang="zh-CN" dirty="0"/>
              <a:t> Signal-to-Noise </a:t>
            </a:r>
            <a:r>
              <a:rPr lang="en-US" altLang="zh-CN" dirty="0" err="1"/>
              <a:t>Ratio（SNR，信噪比）排</a:t>
            </a:r>
            <a:r>
              <a:rPr lang="en-US" altLang="zh-CN" dirty="0"/>
              <a:t>。</a:t>
            </a:r>
            <a:endParaRPr lang="zh-CN" altLang="zh-CN" dirty="0"/>
          </a:p>
          <a:p>
            <a:r>
              <a:rPr lang="en-US" altLang="zh-CN" dirty="0" err="1"/>
              <a:t>一句话：PCA</a:t>
            </a:r>
            <a:r>
              <a:rPr lang="en-US" altLang="zh-CN" dirty="0"/>
              <a:t> </a:t>
            </a:r>
            <a:r>
              <a:rPr lang="en-US" altLang="zh-CN" dirty="0" err="1"/>
              <a:t>看方差大不大，MNF</a:t>
            </a:r>
            <a:r>
              <a:rPr lang="en-US" altLang="zh-CN" dirty="0"/>
              <a:t> </a:t>
            </a:r>
            <a:r>
              <a:rPr lang="en-US" altLang="zh-CN" dirty="0" err="1"/>
              <a:t>看信噪比高不高。高光谱里</a:t>
            </a:r>
            <a:r>
              <a:rPr lang="en-US" altLang="zh-CN" dirty="0"/>
              <a:t> MNF </a:t>
            </a:r>
            <a:r>
              <a:rPr lang="en-US" altLang="zh-CN" dirty="0" err="1"/>
              <a:t>用得更多</a:t>
            </a:r>
            <a:r>
              <a:rPr lang="en-US" altLang="zh-CN" dirty="0"/>
              <a:t>。</a:t>
            </a:r>
            <a:endParaRPr lang="zh-CN" altLang="zh-CN" dirty="0"/>
          </a:p>
          <a:p>
            <a:r>
              <a:rPr lang="en-US" altLang="zh-CN" dirty="0"/>
              <a:t>【</a:t>
            </a:r>
            <a:r>
              <a:rPr lang="en-US" altLang="zh-CN" dirty="0" err="1"/>
              <a:t>文献出处】Gautam</a:t>
            </a:r>
            <a:r>
              <a:rPr lang="en-US" altLang="zh-CN" dirty="0"/>
              <a:t> 2015。PCA </a:t>
            </a:r>
            <a:r>
              <a:rPr lang="en-US" altLang="zh-CN" dirty="0" err="1"/>
              <a:t>按方差排序的局限、MNF</a:t>
            </a:r>
            <a:r>
              <a:rPr lang="en-US" altLang="zh-CN" dirty="0"/>
              <a:t> 按 SNR </a:t>
            </a:r>
            <a:r>
              <a:rPr lang="en-US" altLang="zh-CN" dirty="0" err="1"/>
              <a:t>排序与噪声分离能力</a:t>
            </a:r>
            <a:endParaRPr lang="zh-CN" altLang="zh-CN" dirty="0"/>
          </a:p>
          <a:p>
            <a:r>
              <a:rPr lang="en-US" altLang="zh-CN" i="1" dirty="0"/>
              <a:t>PCA </a:t>
            </a:r>
            <a:r>
              <a:rPr lang="zh-CN" altLang="zh-CN" i="1" dirty="0"/>
              <a:t>最大化方差但不区分信号与噪声；</a:t>
            </a:r>
            <a:r>
              <a:rPr lang="en-US" altLang="zh-CN" i="1" dirty="0"/>
              <a:t>MNF </a:t>
            </a:r>
            <a:r>
              <a:rPr lang="zh-CN" altLang="zh-CN" i="1" dirty="0"/>
              <a:t>先做噪声白化再分解，使高信噪比成分排在前面。</a:t>
            </a:r>
            <a:endParaRPr lang="zh-CN" altLang="zh-CN" dirty="0"/>
          </a:p>
          <a:p>
            <a:endParaRPr lang="zh-CN" altLang="en-US" dirty="0"/>
          </a:p>
        </p:txBody>
      </p:sp>
    </p:spTree>
    <p:extLst>
      <p:ext uri="{BB962C8B-B14F-4D97-AF65-F5344CB8AC3E}">
        <p14:creationId xmlns:p14="http://schemas.microsoft.com/office/powerpoint/2010/main" val="29252260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0A3E53-CAD9-6CAA-9885-7B3BBDAF4FF0}"/>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8C8DCBB8-E137-26D2-7B7B-F0C931B444E3}"/>
              </a:ext>
            </a:extLst>
          </p:cNvPr>
          <p:cNvSpPr>
            <a:spLocks noGrp="1"/>
          </p:cNvSpPr>
          <p:nvPr>
            <p:ph idx="1"/>
          </p:nvPr>
        </p:nvSpPr>
        <p:spPr/>
        <p:txBody>
          <a:bodyPr>
            <a:normAutofit fontScale="70000" lnSpcReduction="20000"/>
          </a:bodyPr>
          <a:lstStyle/>
          <a:p>
            <a:r>
              <a:rPr lang="zh-CN" altLang="zh-CN" b="1" dirty="0"/>
              <a:t>三、</a:t>
            </a:r>
            <a:r>
              <a:rPr lang="en-US" altLang="zh-CN" b="1" dirty="0" err="1"/>
              <a:t>分类</a:t>
            </a:r>
            <a:r>
              <a:rPr lang="en-US" altLang="zh-CN" b="1" dirty="0"/>
              <a:t>：</a:t>
            </a:r>
            <a:endParaRPr lang="zh-CN" altLang="zh-CN" dirty="0"/>
          </a:p>
          <a:p>
            <a:r>
              <a:rPr lang="en-US" altLang="zh-CN" dirty="0" err="1"/>
              <a:t>重点记一个词</a:t>
            </a:r>
            <a:r>
              <a:rPr lang="en-US" altLang="zh-CN" dirty="0"/>
              <a:t>：</a:t>
            </a:r>
            <a:endParaRPr lang="zh-CN" altLang="zh-CN" dirty="0"/>
          </a:p>
          <a:p>
            <a:r>
              <a:rPr lang="en-US" altLang="zh-CN" dirty="0"/>
              <a:t>SAM（Spectral Angle </a:t>
            </a:r>
            <a:r>
              <a:rPr lang="en-US" altLang="zh-CN" dirty="0" err="1"/>
              <a:t>Mapper，光谱角度匹配</a:t>
            </a:r>
            <a:r>
              <a:rPr lang="en-US" altLang="zh-CN" dirty="0"/>
              <a:t>）：</a:t>
            </a:r>
            <a:r>
              <a:rPr lang="en-US" altLang="zh-CN" dirty="0" err="1"/>
              <a:t>把每条光谱看成一条向量，比较两条向量的夹角，夹角越小越像</a:t>
            </a:r>
            <a:r>
              <a:rPr lang="en-US" altLang="zh-CN" dirty="0"/>
              <a:t>。</a:t>
            </a:r>
            <a:endParaRPr lang="zh-CN" altLang="zh-CN" dirty="0"/>
          </a:p>
          <a:p>
            <a:r>
              <a:rPr lang="en-US" altLang="zh-CN" dirty="0" err="1"/>
              <a:t>关键：它只看形状，不看亮度</a:t>
            </a:r>
            <a:r>
              <a:rPr lang="en-US" altLang="zh-CN" dirty="0"/>
              <a:t>。</a:t>
            </a:r>
            <a:r>
              <a:rPr lang="zh-CN" altLang="zh-CN" dirty="0"/>
              <a:t>阴影像素虽然整体变暗，但光谱形状没变，照样能和光照下的同类对上号。</a:t>
            </a:r>
          </a:p>
          <a:p>
            <a:r>
              <a:rPr lang="en-US" altLang="zh-CN" dirty="0" err="1"/>
              <a:t>这就是</a:t>
            </a:r>
            <a:r>
              <a:rPr lang="en-US" altLang="zh-CN" dirty="0"/>
              <a:t> Sun-Shadow </a:t>
            </a:r>
            <a:r>
              <a:rPr lang="en-US" altLang="zh-CN" dirty="0" err="1"/>
              <a:t>Strategy（光照-阴影分步策略</a:t>
            </a:r>
            <a:r>
              <a:rPr lang="en-US" altLang="zh-CN" dirty="0"/>
              <a:t>）：</a:t>
            </a:r>
            <a:r>
              <a:rPr lang="en-US" altLang="zh-CN" dirty="0" err="1"/>
              <a:t>先用光照像元分类，再用</a:t>
            </a:r>
            <a:r>
              <a:rPr lang="en-US" altLang="zh-CN" dirty="0"/>
              <a:t> SAM </a:t>
            </a:r>
            <a:r>
              <a:rPr lang="en-US" altLang="zh-CN" dirty="0" err="1"/>
              <a:t>去认阴影像元</a:t>
            </a:r>
            <a:r>
              <a:rPr lang="en-US" altLang="zh-CN" dirty="0"/>
              <a:t>。</a:t>
            </a:r>
            <a:endParaRPr lang="zh-CN" altLang="zh-CN" dirty="0"/>
          </a:p>
          <a:p>
            <a:r>
              <a:rPr lang="en-US" altLang="zh-CN" dirty="0"/>
              <a:t>【</a:t>
            </a:r>
            <a:r>
              <a:rPr lang="en-US" altLang="zh-CN" dirty="0" err="1"/>
              <a:t>文献出处</a:t>
            </a:r>
            <a:r>
              <a:rPr lang="en-US" altLang="zh-CN" dirty="0"/>
              <a:t>】 Roussel 2017。光照-阴影分步策略 SS-KM/</a:t>
            </a:r>
            <a:r>
              <a:rPr lang="en-US" altLang="zh-CN" dirty="0" err="1"/>
              <a:t>SS-SVM、用</a:t>
            </a:r>
            <a:r>
              <a:rPr lang="en-US" altLang="zh-CN" dirty="0"/>
              <a:t> SAM </a:t>
            </a:r>
            <a:r>
              <a:rPr lang="en-US" altLang="zh-CN" dirty="0" err="1"/>
              <a:t>匹配阴影像元、训练集只有光照像元（SGT）的真实场景</a:t>
            </a:r>
            <a:r>
              <a:rPr lang="en-US" altLang="zh-CN" dirty="0"/>
              <a:t>。</a:t>
            </a:r>
            <a:endParaRPr lang="zh-CN" altLang="zh-CN" dirty="0"/>
          </a:p>
          <a:p>
            <a:r>
              <a:rPr lang="en-US" altLang="zh-CN" i="1" dirty="0"/>
              <a:t> “…a Spectral Angle Mapper (SAM) classification has been chosen for its ability to focus on the shape of spectra, which remains globally similar for a pair of pixels associated to the same material, even if one is located in a sunlit area and the other in a shadow area.”</a:t>
            </a:r>
            <a:endParaRPr lang="zh-CN" altLang="zh-CN" dirty="0"/>
          </a:p>
          <a:p>
            <a:r>
              <a:rPr lang="en-US" altLang="zh-CN" dirty="0"/>
              <a:t> </a:t>
            </a:r>
            <a:endParaRPr lang="zh-CN" altLang="zh-CN" dirty="0"/>
          </a:p>
          <a:p>
            <a:endParaRPr lang="zh-CN" altLang="en-US" dirty="0"/>
          </a:p>
        </p:txBody>
      </p:sp>
    </p:spTree>
    <p:extLst>
      <p:ext uri="{BB962C8B-B14F-4D97-AF65-F5344CB8AC3E}">
        <p14:creationId xmlns:p14="http://schemas.microsoft.com/office/powerpoint/2010/main" val="41587583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AC19E5-DE87-E9ED-1132-7FB375A88E2D}"/>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3554F31A-10FD-CE5E-564B-E7ADA15139F7}"/>
              </a:ext>
            </a:extLst>
          </p:cNvPr>
          <p:cNvSpPr>
            <a:spLocks noGrp="1"/>
          </p:cNvSpPr>
          <p:nvPr>
            <p:ph idx="1"/>
          </p:nvPr>
        </p:nvSpPr>
        <p:spPr/>
        <p:txBody>
          <a:bodyPr>
            <a:normAutofit lnSpcReduction="10000"/>
          </a:bodyPr>
          <a:lstStyle/>
          <a:p>
            <a:r>
              <a:rPr lang="zh-CN" altLang="zh-CN" b="1" dirty="0"/>
              <a:t>验证：</a:t>
            </a:r>
            <a:endParaRPr lang="zh-CN" altLang="zh-CN" dirty="0"/>
          </a:p>
          <a:p>
            <a:r>
              <a:rPr lang="zh-CN" altLang="zh-CN" dirty="0"/>
              <a:t>最后一组词是模型验证</a:t>
            </a:r>
          </a:p>
          <a:p>
            <a:r>
              <a:rPr lang="en-US" altLang="zh-CN" dirty="0" err="1"/>
              <a:t>Cross-Validation（交叉验证</a:t>
            </a:r>
            <a:r>
              <a:rPr lang="en-US" altLang="zh-CN" dirty="0"/>
              <a:t>），</a:t>
            </a:r>
            <a:r>
              <a:rPr lang="en-US" altLang="zh-CN" dirty="0" err="1"/>
              <a:t>常用</a:t>
            </a:r>
            <a:r>
              <a:rPr lang="en-US" altLang="zh-CN" dirty="0"/>
              <a:t> </a:t>
            </a:r>
            <a:r>
              <a:rPr lang="en-US" altLang="zh-CN" dirty="0" err="1"/>
              <a:t>K-fold（K</a:t>
            </a:r>
            <a:r>
              <a:rPr lang="en-US" altLang="zh-CN" dirty="0"/>
              <a:t> </a:t>
            </a:r>
            <a:r>
              <a:rPr lang="en-US" altLang="zh-CN" dirty="0" err="1"/>
              <a:t>折交叉验证</a:t>
            </a:r>
            <a:r>
              <a:rPr lang="en-US" altLang="zh-CN" dirty="0"/>
              <a:t>）。</a:t>
            </a:r>
            <a:endParaRPr lang="zh-CN" altLang="zh-CN" dirty="0"/>
          </a:p>
          <a:p>
            <a:r>
              <a:rPr lang="en-US" altLang="zh-CN" dirty="0"/>
              <a:t>Confusion </a:t>
            </a:r>
            <a:r>
              <a:rPr lang="en-US" altLang="zh-CN" dirty="0" err="1"/>
              <a:t>Matrix（混淆矩阵</a:t>
            </a:r>
            <a:r>
              <a:rPr lang="en-US" altLang="zh-CN" dirty="0"/>
              <a:t>）：TP </a:t>
            </a:r>
            <a:r>
              <a:rPr lang="en-US" altLang="zh-CN" dirty="0" err="1"/>
              <a:t>真阳性、TN</a:t>
            </a:r>
            <a:r>
              <a:rPr lang="en-US" altLang="zh-CN" dirty="0"/>
              <a:t> </a:t>
            </a:r>
            <a:r>
              <a:rPr lang="en-US" altLang="zh-CN" dirty="0" err="1"/>
              <a:t>真阴性、FP</a:t>
            </a:r>
            <a:r>
              <a:rPr lang="en-US" altLang="zh-CN" dirty="0"/>
              <a:t> </a:t>
            </a:r>
            <a:r>
              <a:rPr lang="en-US" altLang="zh-CN" dirty="0" err="1"/>
              <a:t>假阳性、FN</a:t>
            </a:r>
            <a:r>
              <a:rPr lang="en-US" altLang="zh-CN" dirty="0"/>
              <a:t> </a:t>
            </a:r>
            <a:r>
              <a:rPr lang="en-US" altLang="zh-CN" dirty="0" err="1"/>
              <a:t>假阴性；由此算出</a:t>
            </a:r>
            <a:r>
              <a:rPr lang="en-US" altLang="zh-CN" dirty="0"/>
              <a:t> </a:t>
            </a:r>
            <a:r>
              <a:rPr lang="en-US" altLang="zh-CN" dirty="0" err="1"/>
              <a:t>Sensitivity（灵敏度</a:t>
            </a:r>
            <a:r>
              <a:rPr lang="en-US" altLang="zh-CN" dirty="0"/>
              <a:t>）、</a:t>
            </a:r>
            <a:r>
              <a:rPr lang="en-US" altLang="zh-CN" dirty="0" err="1"/>
              <a:t>Specificity（特异度</a:t>
            </a:r>
            <a:r>
              <a:rPr lang="en-US" altLang="zh-CN" dirty="0"/>
              <a:t>）、Overall </a:t>
            </a:r>
            <a:r>
              <a:rPr lang="en-US" altLang="zh-CN" dirty="0" err="1"/>
              <a:t>Accuracy（总精度</a:t>
            </a:r>
            <a:r>
              <a:rPr lang="en-US" altLang="zh-CN" dirty="0"/>
              <a:t>）。</a:t>
            </a:r>
            <a:endParaRPr lang="zh-CN" altLang="zh-CN" dirty="0"/>
          </a:p>
          <a:p>
            <a:r>
              <a:rPr lang="en-US" altLang="zh-CN" dirty="0"/>
              <a:t>ROC </a:t>
            </a:r>
            <a:r>
              <a:rPr lang="en-US" altLang="zh-CN" dirty="0" err="1"/>
              <a:t>Curve（ROC</a:t>
            </a:r>
            <a:r>
              <a:rPr lang="en-US" altLang="zh-CN" dirty="0"/>
              <a:t> </a:t>
            </a:r>
            <a:r>
              <a:rPr lang="en-US" altLang="zh-CN" dirty="0" err="1"/>
              <a:t>曲线）和</a:t>
            </a:r>
            <a:r>
              <a:rPr lang="en-US" altLang="zh-CN" dirty="0"/>
              <a:t> </a:t>
            </a:r>
            <a:r>
              <a:rPr lang="en-US" altLang="zh-CN" dirty="0" err="1"/>
              <a:t>AUC（曲线下面积</a:t>
            </a:r>
            <a:r>
              <a:rPr lang="en-US" altLang="zh-CN" dirty="0"/>
              <a:t>）。</a:t>
            </a:r>
            <a:endParaRPr lang="zh-CN" altLang="zh-CN" dirty="0"/>
          </a:p>
          <a:p>
            <a:r>
              <a:rPr lang="en-US" altLang="zh-CN" dirty="0" err="1"/>
              <a:t>Overfitting（过拟合</a:t>
            </a:r>
            <a:r>
              <a:rPr lang="en-US" altLang="zh-CN" dirty="0"/>
              <a:t>）</a:t>
            </a:r>
          </a:p>
          <a:p>
            <a:r>
              <a:rPr lang="en-US" altLang="zh-CN" dirty="0"/>
              <a:t>【</a:t>
            </a:r>
            <a:r>
              <a:rPr lang="en-US" altLang="zh-CN" dirty="0" err="1"/>
              <a:t>文献出处】Gautam</a:t>
            </a:r>
            <a:r>
              <a:rPr lang="en-US" altLang="zh-CN" dirty="0"/>
              <a:t> 2015。</a:t>
            </a:r>
            <a:r>
              <a:rPr lang="zh-CN" altLang="zh-CN" dirty="0"/>
              <a:t>交叉验证、混淆矩阵、灵敏度</a:t>
            </a:r>
            <a:r>
              <a:rPr lang="en-US" altLang="zh-CN" dirty="0"/>
              <a:t>/</a:t>
            </a:r>
            <a:r>
              <a:rPr lang="zh-CN" altLang="zh-CN" dirty="0"/>
              <a:t>特异度、</a:t>
            </a:r>
            <a:r>
              <a:rPr lang="en-US" altLang="zh-CN" dirty="0"/>
              <a:t>ROC-AUC</a:t>
            </a:r>
            <a:r>
              <a:rPr lang="zh-CN" altLang="zh-CN" dirty="0"/>
              <a:t>、阴性对照防止伪相关</a:t>
            </a:r>
          </a:p>
          <a:p>
            <a:endParaRPr lang="zh-CN" altLang="en-US" dirty="0"/>
          </a:p>
        </p:txBody>
      </p:sp>
    </p:spTree>
    <p:extLst>
      <p:ext uri="{BB962C8B-B14F-4D97-AF65-F5344CB8AC3E}">
        <p14:creationId xmlns:p14="http://schemas.microsoft.com/office/powerpoint/2010/main" val="33025371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6D6F06-24A1-EDE6-3B98-DC2674F9CE31}"/>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060A7A7D-2271-0A7F-1562-0174FFDCCDFB}"/>
              </a:ext>
            </a:extLst>
          </p:cNvPr>
          <p:cNvSpPr>
            <a:spLocks noGrp="1"/>
          </p:cNvSpPr>
          <p:nvPr>
            <p:ph idx="1"/>
          </p:nvPr>
        </p:nvSpPr>
        <p:spPr/>
        <p:txBody>
          <a:bodyPr>
            <a:normAutofit fontScale="85000" lnSpcReduction="20000"/>
          </a:bodyPr>
          <a:lstStyle/>
          <a:p>
            <a:r>
              <a:rPr lang="en-US" altLang="zh-CN" dirty="0"/>
              <a:t>1</a:t>
            </a:r>
            <a:endParaRPr lang="zh-CN" altLang="zh-CN" dirty="0"/>
          </a:p>
          <a:p>
            <a:r>
              <a:rPr lang="en-US" altLang="zh-CN" dirty="0"/>
              <a:t>However, </a:t>
            </a:r>
            <a:r>
              <a:rPr lang="en-US" altLang="zh-CN" dirty="0">
                <a:highlight>
                  <a:srgbClr val="FFFF00"/>
                </a:highlight>
              </a:rPr>
              <a:t>multispectral imagery </a:t>
            </a:r>
            <a:r>
              <a:rPr lang="en-US" altLang="zh-CN" dirty="0"/>
              <a:t>is limited regarding </a:t>
            </a:r>
            <a:r>
              <a:rPr lang="en-US" altLang="zh-CN" dirty="0">
                <a:highlight>
                  <a:srgbClr val="FFFF00"/>
                </a:highlight>
              </a:rPr>
              <a:t>spectral analysis</a:t>
            </a:r>
            <a:r>
              <a:rPr lang="en-US" altLang="zh-CN" dirty="0"/>
              <a:t>. Its low spectral resolution does not allow the discrimination among the large variety of urban materials. </a:t>
            </a:r>
            <a:r>
              <a:rPr lang="en-US" altLang="zh-CN" dirty="0">
                <a:highlight>
                  <a:srgbClr val="FFFF00"/>
                </a:highlight>
              </a:rPr>
              <a:t>Hyperspectral imagery</a:t>
            </a:r>
            <a:r>
              <a:rPr lang="en-US" altLang="zh-CN" dirty="0"/>
              <a:t>, which is characterized by a very high spectral resolution and whose spatial resolution tends to improve (</a:t>
            </a:r>
            <a:r>
              <a:rPr lang="en-US" altLang="zh-CN" dirty="0" err="1"/>
              <a:t>Briottet</a:t>
            </a:r>
            <a:r>
              <a:rPr lang="en-US" altLang="zh-CN" dirty="0"/>
              <a:t> et al. 2011), has proved to be a promising tool to overcome this matter.</a:t>
            </a:r>
            <a:endParaRPr lang="zh-CN" altLang="zh-CN" dirty="0"/>
          </a:p>
          <a:p>
            <a:r>
              <a:rPr lang="en-US" altLang="zh-CN" dirty="0"/>
              <a:t>One of the </a:t>
            </a:r>
            <a:r>
              <a:rPr lang="en-US" altLang="zh-CN" dirty="0" err="1"/>
              <a:t>keypoints</a:t>
            </a:r>
            <a:r>
              <a:rPr lang="en-US" altLang="zh-CN" dirty="0"/>
              <a:t> to achieve these applications is the </a:t>
            </a:r>
            <a:r>
              <a:rPr lang="en-US" altLang="zh-CN" dirty="0">
                <a:highlight>
                  <a:srgbClr val="FFFF00"/>
                </a:highlight>
              </a:rPr>
              <a:t>atmospheric correction phase </a:t>
            </a:r>
            <a:r>
              <a:rPr lang="en-US" altLang="zh-CN" dirty="0"/>
              <a:t>which aims to retrieve, from at sensor radiance, the reflectance associated to the targeted surface, which is by nature independent of the irradiance conditions on the one hand and of the environment topography on the other hand. Different correction methods exist. ATREM (Goetz et al. 1997) for ‘Atmospheric </a:t>
            </a:r>
            <a:r>
              <a:rPr lang="en-US" altLang="zh-CN" dirty="0" err="1"/>
              <a:t>REMoval</a:t>
            </a:r>
            <a:r>
              <a:rPr lang="en-US" altLang="zh-CN" dirty="0"/>
              <a:t> pro gram’ and ACORN (Miller 2002) for ‘Atmosphere </a:t>
            </a:r>
            <a:r>
              <a:rPr lang="en-US" altLang="zh-CN" dirty="0" err="1"/>
              <a:t>CORrection</a:t>
            </a:r>
            <a:r>
              <a:rPr lang="en-US" altLang="zh-CN" dirty="0"/>
              <a:t> Now’ assume a flat homogeneous ground hypothesis with a </a:t>
            </a:r>
            <a:r>
              <a:rPr lang="en-US" altLang="zh-CN" dirty="0">
                <a:highlight>
                  <a:srgbClr val="FFFF00"/>
                </a:highlight>
              </a:rPr>
              <a:t>Lambertian surface</a:t>
            </a:r>
            <a:r>
              <a:rPr lang="en-US" altLang="zh-CN" dirty="0"/>
              <a:t>.</a:t>
            </a:r>
            <a:endParaRPr lang="zh-CN" altLang="zh-CN" dirty="0"/>
          </a:p>
          <a:p>
            <a:endParaRPr lang="zh-CN" altLang="en-US" dirty="0"/>
          </a:p>
        </p:txBody>
      </p:sp>
    </p:spTree>
    <p:extLst>
      <p:ext uri="{BB962C8B-B14F-4D97-AF65-F5344CB8AC3E}">
        <p14:creationId xmlns:p14="http://schemas.microsoft.com/office/powerpoint/2010/main" val="29477619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8DC0F5-D947-3C8E-3F95-1A9E7C0EE191}"/>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107E5A4E-3790-A43E-E403-93E82A871BCA}"/>
              </a:ext>
            </a:extLst>
          </p:cNvPr>
          <p:cNvSpPr>
            <a:spLocks noGrp="1"/>
          </p:cNvSpPr>
          <p:nvPr>
            <p:ph idx="1"/>
          </p:nvPr>
        </p:nvSpPr>
        <p:spPr/>
        <p:txBody>
          <a:bodyPr/>
          <a:lstStyle/>
          <a:p>
            <a:r>
              <a:rPr lang="en-US" altLang="zh-CN" dirty="0"/>
              <a:t>2</a:t>
            </a:r>
            <a:endParaRPr lang="zh-CN" altLang="zh-CN" dirty="0"/>
          </a:p>
          <a:p>
            <a:r>
              <a:rPr lang="en-US" altLang="zh-CN" dirty="0">
                <a:highlight>
                  <a:srgbClr val="FFFF00"/>
                </a:highlight>
              </a:rPr>
              <a:t>Principal component analysis </a:t>
            </a:r>
            <a:r>
              <a:rPr lang="en-US" altLang="zh-CN" dirty="0"/>
              <a:t>(PCA) PCA is an unsupervised data transformation procedure of complex data sets. PCA is used for projecting a higher dimensional data matrix “X” onto a low component sub space. It reduces a set of variables into a smaller set of orthogonal, and therefore </a:t>
            </a:r>
            <a:r>
              <a:rPr lang="en-US" altLang="zh-CN" dirty="0" err="1"/>
              <a:t>inde</a:t>
            </a:r>
            <a:r>
              <a:rPr lang="en-US" altLang="zh-CN" dirty="0"/>
              <a:t> pendent, principal components (PCs) in the direction of maximal variation i.e. it reduces the dimensionality and retains the most significant information for further ana lysis.</a:t>
            </a:r>
            <a:endParaRPr lang="zh-CN" altLang="zh-CN" dirty="0"/>
          </a:p>
          <a:p>
            <a:endParaRPr lang="zh-CN" altLang="en-US" dirty="0"/>
          </a:p>
        </p:txBody>
      </p:sp>
    </p:spTree>
    <p:extLst>
      <p:ext uri="{BB962C8B-B14F-4D97-AF65-F5344CB8AC3E}">
        <p14:creationId xmlns:p14="http://schemas.microsoft.com/office/powerpoint/2010/main" val="6159946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16814B-687F-5178-CE6A-462E3F0450E7}"/>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F54C613B-E5B9-C03A-6C4C-58105A146331}"/>
              </a:ext>
            </a:extLst>
          </p:cNvPr>
          <p:cNvSpPr>
            <a:spLocks noGrp="1"/>
          </p:cNvSpPr>
          <p:nvPr>
            <p:ph idx="1"/>
          </p:nvPr>
        </p:nvSpPr>
        <p:spPr/>
        <p:txBody>
          <a:bodyPr>
            <a:normAutofit fontScale="92500" lnSpcReduction="10000"/>
          </a:bodyPr>
          <a:lstStyle/>
          <a:p>
            <a:r>
              <a:rPr lang="en-US" altLang="zh-CN" dirty="0"/>
              <a:t>3 </a:t>
            </a:r>
            <a:endParaRPr lang="zh-CN" altLang="zh-CN" dirty="0"/>
          </a:p>
          <a:p>
            <a:r>
              <a:rPr lang="en-US" altLang="zh-CN" dirty="0">
                <a:highlight>
                  <a:srgbClr val="FFFF00"/>
                </a:highlight>
              </a:rPr>
              <a:t>Hyperspectral data </a:t>
            </a:r>
            <a:r>
              <a:rPr lang="en-US" altLang="zh-CN" dirty="0"/>
              <a:t>can be used to extract various </a:t>
            </a:r>
            <a:r>
              <a:rPr lang="en-US" altLang="zh-CN" dirty="0" err="1"/>
              <a:t>informa</a:t>
            </a:r>
            <a:r>
              <a:rPr lang="en-US" altLang="zh-CN" dirty="0"/>
              <a:t> </a:t>
            </a:r>
            <a:r>
              <a:rPr lang="en-US" altLang="zh-CN" dirty="0" err="1"/>
              <a:t>tion</a:t>
            </a:r>
            <a:r>
              <a:rPr lang="en-US" altLang="zh-CN" dirty="0"/>
              <a:t> from discrete absorption and reflection features of a target surface or atmosphere. Thus, HISUI data are expected to be useful in various fields, such as natural resources, agriculture, forestry, environmental monitoring, and Earth science [1]. For such applications, both an accurate spectral calibration and a radiometric calibration are necessary for the reliability of the information extracted from hyperspectral data (see, e.g., [2]–[4]). In particular, for push-broom-type sensors, it is important to evaluate and calibrate the </a:t>
            </a:r>
            <a:r>
              <a:rPr lang="en-US" altLang="zh-CN" dirty="0">
                <a:highlight>
                  <a:srgbClr val="FFFF00"/>
                </a:highlight>
              </a:rPr>
              <a:t>spectral smile</a:t>
            </a:r>
            <a:r>
              <a:rPr lang="en-US" altLang="zh-CN" dirty="0"/>
              <a:t>, which is a phenomenon showing a cross-track dependence in a </a:t>
            </a:r>
            <a:r>
              <a:rPr lang="en-US" altLang="zh-CN" dirty="0" err="1"/>
              <a:t>devia</a:t>
            </a:r>
            <a:r>
              <a:rPr lang="en-US" altLang="zh-CN" dirty="0"/>
              <a:t> </a:t>
            </a:r>
            <a:r>
              <a:rPr lang="en-US" altLang="zh-CN" dirty="0" err="1"/>
              <a:t>tion</a:t>
            </a:r>
            <a:r>
              <a:rPr lang="en-US" altLang="zh-CN" dirty="0"/>
              <a:t> from the original wavelength assignment caused by optical distortions incident on the detector array</a:t>
            </a:r>
            <a:endParaRPr lang="zh-CN" altLang="zh-CN" dirty="0"/>
          </a:p>
          <a:p>
            <a:endParaRPr lang="zh-CN" altLang="en-US" dirty="0"/>
          </a:p>
        </p:txBody>
      </p:sp>
    </p:spTree>
    <p:extLst>
      <p:ext uri="{BB962C8B-B14F-4D97-AF65-F5344CB8AC3E}">
        <p14:creationId xmlns:p14="http://schemas.microsoft.com/office/powerpoint/2010/main" val="18896509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7E620A-A7CA-BC53-9979-5F3F0DCEDD53}"/>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9C362E40-18DD-D809-B7BE-6C62683D58C1}"/>
              </a:ext>
            </a:extLst>
          </p:cNvPr>
          <p:cNvSpPr>
            <a:spLocks noGrp="1"/>
          </p:cNvSpPr>
          <p:nvPr>
            <p:ph idx="1"/>
          </p:nvPr>
        </p:nvSpPr>
        <p:spPr/>
        <p:txBody>
          <a:bodyPr>
            <a:normAutofit fontScale="85000" lnSpcReduction="20000"/>
          </a:bodyPr>
          <a:lstStyle/>
          <a:p>
            <a:r>
              <a:rPr lang="en-US" altLang="zh-CN" dirty="0"/>
              <a:t>B. Evaluation of the Spectral Smile by Atmospheric Correction </a:t>
            </a:r>
            <a:endParaRPr lang="zh-CN" altLang="zh-CN" dirty="0"/>
          </a:p>
          <a:p>
            <a:r>
              <a:rPr lang="en-US" altLang="zh-CN" dirty="0"/>
              <a:t>The </a:t>
            </a:r>
            <a:r>
              <a:rPr lang="en-US" altLang="zh-CN" dirty="0">
                <a:highlight>
                  <a:srgbClr val="FFFF00"/>
                </a:highlight>
              </a:rPr>
              <a:t>analytical procedure </a:t>
            </a:r>
            <a:r>
              <a:rPr lang="en-US" altLang="zh-CN" dirty="0"/>
              <a:t>to evaluate the spectral smile by atmospheric correction was given as follows. In this analysis, we used the modeled radiance incident on HISUI from the target site, which was calculated using </a:t>
            </a:r>
            <a:r>
              <a:rPr lang="en-US" altLang="zh-CN" dirty="0">
                <a:highlight>
                  <a:srgbClr val="FFFF00"/>
                </a:highlight>
              </a:rPr>
              <a:t>MODTRAN 6. MODTRAN </a:t>
            </a:r>
            <a:r>
              <a:rPr lang="en-US" altLang="zh-CN" dirty="0"/>
              <a:t>calculations were performed using the U.S. Standard 1976 Atmospheric Profile, the desert aerosol model, and a Lambertian desert-barren surface type as representative parameter values. In addition, solar altitude, target latitude and longitude, ground height, and seasonal parameters were provided with values for each target and observation timing. These settings are a simple and efficient method for evaluating spectral smile for large numbers of pixels in a variety of HISUI scenes. Note that fine-tuning of MODTRAN parameters was not conducted for this analysis because the objective of this study was not to obtain accurate surface reflectance, but rather to estimate </a:t>
            </a:r>
            <a:r>
              <a:rPr lang="en-US" altLang="zh-CN" dirty="0" err="1"/>
              <a:t>δλ</a:t>
            </a:r>
            <a:r>
              <a:rPr lang="en-US" altLang="zh-CN" dirty="0"/>
              <a:t> using </a:t>
            </a:r>
            <a:r>
              <a:rPr lang="en-US" altLang="zh-CN" dirty="0">
                <a:highlight>
                  <a:srgbClr val="FFFF00"/>
                </a:highlight>
              </a:rPr>
              <a:t>atmospheric absorption bands.</a:t>
            </a:r>
            <a:endParaRPr lang="zh-CN" altLang="zh-CN" dirty="0">
              <a:highlight>
                <a:srgbClr val="FFFF00"/>
              </a:highlight>
            </a:endParaRPr>
          </a:p>
          <a:p>
            <a:endParaRPr lang="zh-CN" altLang="en-US" dirty="0"/>
          </a:p>
        </p:txBody>
      </p:sp>
    </p:spTree>
    <p:extLst>
      <p:ext uri="{BB962C8B-B14F-4D97-AF65-F5344CB8AC3E}">
        <p14:creationId xmlns:p14="http://schemas.microsoft.com/office/powerpoint/2010/main" val="150084631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1862</Words>
  <Application>Microsoft Office PowerPoint</Application>
  <PresentationFormat>宽屏</PresentationFormat>
  <Paragraphs>87</Paragraphs>
  <Slides>14</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14</vt:i4>
      </vt:variant>
    </vt:vector>
  </HeadingPairs>
  <TitlesOfParts>
    <vt:vector size="18" baseType="lpstr">
      <vt:lpstr>等线</vt:lpstr>
      <vt:lpstr>等线 Light</vt:lpstr>
      <vt:lpstr>Arial</vt:lpstr>
      <vt:lpstr>Office 主题​​</vt:lpstr>
      <vt:lpstr>第三部分：Data Processing &amp; Analysis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Rio Zeus</dc:creator>
  <cp:lastModifiedBy>Rio Zeus</cp:lastModifiedBy>
  <cp:revision>1</cp:revision>
  <dcterms:created xsi:type="dcterms:W3CDTF">2026-09-19T09:19:56Z</dcterms:created>
  <dcterms:modified xsi:type="dcterms:W3CDTF">2026-09-19T09:20:14Z</dcterms:modified>
</cp:coreProperties>
</file>