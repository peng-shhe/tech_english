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91695" cy="73152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06240"/>
            <a:ext cx="12191695" cy="36576"/>
          </a:xfrm>
          <a:prstGeom prst="rect">
            <a:avLst/>
          </a:prstGeom>
          <a:solidFill>
            <a:srgbClr val="48C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Spectral Imaging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48CAE4"/>
                </a:solidFill>
                <a:latin typeface="Calibri"/>
              </a:rPr>
              <a:t>Applications &amp; Future Trends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2044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BBCCDD"/>
                </a:solidFill>
                <a:latin typeface="Calibri"/>
              </a:rPr>
              <a:t>Remote Sensing  •  Environmental Monitoring  •  Precision Agriculture
Biomedical Imaging  •  Industrial Sorting  •  Miniaturization  •  Real-time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Technical English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0352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48CAE4"/>
                </a:solidFill>
                <a:latin typeface="Calibri"/>
              </a:rPr>
              <a:t>Based on 6 research papers (2003–2025)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Outline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8CAE4"/>
                </a:solidFill>
                <a:latin typeface="Calibri"/>
              </a:rPr>
              <a:t>Presentation Structure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1554480"/>
            <a:ext cx="384048" cy="384048"/>
          </a:xfrm>
          <a:prstGeom prst="ellipse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581912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2A4A"/>
                </a:solidFill>
                <a:latin typeface="Calibri"/>
              </a:rPr>
              <a:t>Introduction to Spectral Imaging</a:t>
            </a:r>
          </a:p>
        </p:txBody>
      </p:sp>
      <p:sp>
        <p:nvSpPr>
          <p:cNvPr id="9" name="Oval 8"/>
          <p:cNvSpPr/>
          <p:nvPr/>
        </p:nvSpPr>
        <p:spPr>
          <a:xfrm>
            <a:off x="6400800" y="1554480"/>
            <a:ext cx="384048" cy="384048"/>
          </a:xfrm>
          <a:prstGeom prst="ellipse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581912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2A4A"/>
                </a:solidFill>
                <a:latin typeface="Calibri"/>
              </a:rPr>
              <a:t>Application: Remote Sensing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2121408"/>
            <a:ext cx="384048" cy="384048"/>
          </a:xfrm>
          <a:prstGeom prst="ellipse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14884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2A4A"/>
                </a:solidFill>
                <a:latin typeface="Calibri"/>
              </a:rPr>
              <a:t>Application: Environmental Monitoring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0" y="2121408"/>
            <a:ext cx="384048" cy="384048"/>
          </a:xfrm>
          <a:prstGeom prst="ellipse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14884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2A4A"/>
                </a:solidFill>
                <a:latin typeface="Calibri"/>
              </a:rPr>
              <a:t>Application: Precision Agriculture</a:t>
            </a:r>
          </a:p>
        </p:txBody>
      </p:sp>
      <p:sp>
        <p:nvSpPr>
          <p:cNvPr id="15" name="Oval 14"/>
          <p:cNvSpPr/>
          <p:nvPr/>
        </p:nvSpPr>
        <p:spPr>
          <a:xfrm>
            <a:off x="1097280" y="2688336"/>
            <a:ext cx="384048" cy="384048"/>
          </a:xfrm>
          <a:prstGeom prst="ellipse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2715768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2A4A"/>
                </a:solidFill>
                <a:latin typeface="Calibri"/>
              </a:rPr>
              <a:t>Application: Biomedical Imaging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0" y="2688336"/>
            <a:ext cx="384048" cy="384048"/>
          </a:xfrm>
          <a:prstGeom prst="ellipse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715768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2A4A"/>
                </a:solidFill>
                <a:latin typeface="Calibri"/>
              </a:rPr>
              <a:t>Application: Industrial Sorting</a:t>
            </a:r>
          </a:p>
        </p:txBody>
      </p:sp>
      <p:sp>
        <p:nvSpPr>
          <p:cNvPr id="19" name="Oval 18"/>
          <p:cNvSpPr/>
          <p:nvPr/>
        </p:nvSpPr>
        <p:spPr>
          <a:xfrm>
            <a:off x="1097280" y="3255264"/>
            <a:ext cx="384048" cy="384048"/>
          </a:xfrm>
          <a:prstGeom prst="ellipse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3282696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2A4A"/>
                </a:solidFill>
                <a:latin typeface="Calibri"/>
              </a:rPr>
              <a:t>Future Trend: Miniaturization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3255264"/>
            <a:ext cx="384048" cy="384048"/>
          </a:xfrm>
          <a:prstGeom prst="ellipse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282696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2A4A"/>
                </a:solidFill>
                <a:latin typeface="Calibri"/>
              </a:rPr>
              <a:t>Future Trend: Real-time Processing &amp; AI</a:t>
            </a:r>
          </a:p>
        </p:txBody>
      </p:sp>
      <p:sp>
        <p:nvSpPr>
          <p:cNvPr id="23" name="Oval 22"/>
          <p:cNvSpPr/>
          <p:nvPr/>
        </p:nvSpPr>
        <p:spPr>
          <a:xfrm>
            <a:off x="1097280" y="3822192"/>
            <a:ext cx="384048" cy="384048"/>
          </a:xfrm>
          <a:prstGeom prst="ellipse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3849624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2A4A"/>
                </a:solidFill>
                <a:latin typeface="Calibri"/>
              </a:rPr>
              <a:t>Future Trends &amp; 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008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5A5A"/>
                </a:solidFill>
                <a:latin typeface="Calibri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What is Spectral Imaging?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8CAE4"/>
                </a:solidFill>
                <a:latin typeface="Calibri"/>
              </a:rPr>
              <a:t>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096C7"/>
                </a:solidFill>
                <a:latin typeface="Calibri"/>
              </a:rPr>
              <a:t>Definition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D2D2D"/>
                </a:solidFill>
                <a:latin typeface="Calibri"/>
              </a:rPr>
              <a:t>Spectral imaging integrates imaging with spectroscopy, acquiring a spectral curve for each pixel to form a 3-D "spectral data cube" (2 spatial + 1 spectral dimension), enabling identification of material composition and spatial distribution.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06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5A5A"/>
                </a:solidFill>
                <a:latin typeface="Calibri"/>
              </a:rPr>
              <a:t>Source: Mukhtar et al., 2025, p.1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175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096C7"/>
                </a:solidFill>
                <a:latin typeface="Calibri"/>
              </a:rPr>
              <a:t>Three Types by Number of Bands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520440"/>
            <a:ext cx="3566160" cy="15544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520440"/>
            <a:ext cx="109728" cy="15544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584448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2A4A"/>
                </a:solidFill>
                <a:latin typeface="Calibri"/>
              </a:rPr>
              <a:t>Panchromatic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977639"/>
            <a:ext cx="3246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Calibri"/>
              </a:rPr>
              <a:t>Single band
High spatial resolution
Limited spectral info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3520440"/>
            <a:ext cx="3566160" cy="15544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3520440"/>
            <a:ext cx="109728" cy="155448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3584448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96C7"/>
                </a:solidFill>
                <a:latin typeface="Calibri"/>
              </a:rPr>
              <a:t>Multispectral (MSI)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977639"/>
            <a:ext cx="3246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Calibri"/>
              </a:rPr>
              <a:t>3–25 discrete bands
Medium spectral resolution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3520440"/>
            <a:ext cx="3566160" cy="15544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3520440"/>
            <a:ext cx="109728" cy="1554480"/>
          </a:xfrm>
          <a:prstGeom prst="rect">
            <a:avLst/>
          </a:prstGeom>
          <a:solidFill>
            <a:srgbClr val="F4A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3584448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A25F"/>
                </a:solidFill>
                <a:latin typeface="Calibri"/>
              </a:rPr>
              <a:t>Hyperspectral (HSI)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3977639"/>
            <a:ext cx="3246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Calibri"/>
              </a:rPr>
              <a:t>Hundreds of contiguous narrow bands
Fine spectral discrimination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B2A4A"/>
                </a:solidFill>
                <a:latin typeface="Calibri"/>
              </a:rPr>
              <a:t>Key Evolution: Multispectral → Hyperspectral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7150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Calibri"/>
              </a:rPr>
              <a:t>Hyperspectral imagers employ hundreds of contiguous bands to detect and identify a variety of natural and man-made materials (Shaw &amp; Burke, 2003, p.1).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640080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Calibri"/>
              </a:rPr>
              <a:t>Shaw &amp; Burke, 2003; Mukhtar et al., 2025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008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5A5A"/>
                </a:solidFill>
                <a:latin typeface="Calibri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Application 1: Remote Sensing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8CAE4"/>
                </a:solidFill>
                <a:latin typeface="Calibri"/>
              </a:rPr>
              <a:t>Shaw &amp; Burke, 2003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096C7"/>
                </a:solidFill>
                <a:latin typeface="Calibri"/>
              </a:rPr>
              <a:t>Background &amp; Motivation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Calibri"/>
              </a:rPr>
              <a:t>Spectral imaging arose as an alternative to high-spatial-resolution, large-aperture satellite imaging systems, using spectral signatures rather than spatial shapes to classify ground cover.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096C7"/>
                </a:solidFill>
                <a:latin typeface="Calibri"/>
              </a:rPr>
              <a:t>Sensor Evolution Timeline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926080"/>
            <a:ext cx="3474720" cy="4572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944368"/>
            <a:ext cx="3474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1972  —  Landsat-1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83280"/>
            <a:ext cx="3474720" cy="7315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456432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D2D2D"/>
                </a:solidFill>
                <a:latin typeface="Calibri"/>
              </a:rPr>
              <a:t>First spaceborne multispectral imager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79" y="2926080"/>
            <a:ext cx="3474720" cy="4572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79" y="2944368"/>
            <a:ext cx="3474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1987  —  AVIRIS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79" y="3383280"/>
            <a:ext cx="3474720" cy="7315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19" y="3456432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D2D2D"/>
                </a:solidFill>
                <a:latin typeface="Calibri"/>
              </a:rPr>
              <a:t>First airborne hyperspectral imager (full solar-reflective)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18" y="2926080"/>
            <a:ext cx="3474720" cy="4572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18" y="2944368"/>
            <a:ext cx="3474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2000  —  Hyperion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18" y="3383280"/>
            <a:ext cx="3474720" cy="7315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58" y="3456432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D2D2D"/>
                </a:solidFill>
                <a:latin typeface="Calibri"/>
              </a:rPr>
              <a:t>First spaceborne HSI, 220 bands, 30 m GSD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891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096C7"/>
                </a:solidFill>
                <a:latin typeface="Calibri"/>
              </a:rPr>
              <a:t>Three Major Application Categories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8006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1B2A4A"/>
                </a:solidFill>
                <a:latin typeface="Calibri"/>
              </a:rPr>
              <a:t>•  Anomaly Detection — isolate uncommon features (e.g., man-made materials in natural backgrounds)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>
                <a:solidFill>
                  <a:srgbClr val="2D2D2D"/>
                </a:solidFill>
                <a:latin typeface="Calibri"/>
              </a:rPr>
              <a:t>•  Target Recognition — identify specific materials using a priori spectral libraries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>
                <a:solidFill>
                  <a:srgbClr val="2D2D2D"/>
                </a:solidFill>
                <a:latin typeface="Calibri"/>
              </a:rPr>
              <a:t>•  Background Characterization — holistic scene analysis: land, ocean, and atmosphere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40080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Calibri"/>
              </a:rPr>
              <a:t>Shaw &amp; Burke, 2003, pp.1, 9, 13-14, 19-20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008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5A5A"/>
                </a:solidFill>
                <a:latin typeface="Calibri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Application 2: Environmental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8CAE4"/>
                </a:solidFill>
                <a:latin typeface="Calibri"/>
              </a:rPr>
              <a:t>Tolentino et al., 2025 — Uranium Mine Site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096C7"/>
                </a:solidFill>
                <a:latin typeface="Calibri"/>
              </a:rPr>
              <a:t>Case: Mary Kathleen Uranium Legacy Mine, Australia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Calibri"/>
              </a:rPr>
              <a:t>Tailings storage facility (~1.3 km², 5.5–7.5 Mt tailings) with acid mine drainage and heavy metal / radionuclide migration risks.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23160"/>
            <a:ext cx="5394960" cy="18288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423160"/>
            <a:ext cx="5394960" cy="36576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432304"/>
            <a:ext cx="5212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Drone-Based HSI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52928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1">
                <a:solidFill>
                  <a:srgbClr val="1B2A4A"/>
                </a:solidFill>
                <a:latin typeface="Calibri"/>
              </a:rPr>
              <a:t>•  Sensor: HySpex Mjolnir VS-620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  <a:latin typeface="Calibri"/>
              </a:rPr>
              <a:t>•  Range: VNIR–SWIR, 400–2500 nm, 410 bands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  <a:latin typeface="Calibri"/>
              </a:rPr>
              <a:t>•  Spatial resolution: 6–10 cm/pixel (120 m altitude)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  <a:latin typeface="Calibri"/>
              </a:rPr>
              <a:t>•  Centimetre GSD reduces mixed-pixel effects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2423160"/>
            <a:ext cx="5394960" cy="18288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2423160"/>
            <a:ext cx="5394960" cy="36576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432304"/>
            <a:ext cx="5212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Processing Methods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852928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1">
                <a:solidFill>
                  <a:srgbClr val="1B2A4A"/>
                </a:solidFill>
                <a:latin typeface="Calibri"/>
              </a:rPr>
              <a:t>•  SAM (Spectral Angle Mapper)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  <a:latin typeface="Calibri"/>
              </a:rPr>
              <a:t>•  Data-driven; classifies by spectral angle to endmembers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1">
                <a:solidFill>
                  <a:srgbClr val="1B2A4A"/>
                </a:solidFill>
                <a:latin typeface="Calibri"/>
              </a:rPr>
              <a:t>•  BR (Band Ratios)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  <a:latin typeface="Calibri"/>
              </a:rPr>
              <a:t>•  Knowledge-driven; reactivity &amp; clay-mixture indices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4805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096C7"/>
                </a:solidFill>
                <a:latin typeface="Calibri"/>
              </a:rPr>
              <a:t>Key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920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>
                <a:solidFill>
                  <a:srgbClr val="2D2D2D"/>
                </a:solidFill>
                <a:latin typeface="Calibri"/>
              </a:rPr>
              <a:t>•  SAM differentiated mineral endmembers (gypsum, chlorite, clay) in visually uniform areas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>
                <a:solidFill>
                  <a:srgbClr val="2D2D2D"/>
                </a:solidFill>
                <a:latin typeface="Calibri"/>
              </a:rPr>
              <a:t>•  Mapped evaporite salt deposition pathways along surface water flow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>
                <a:solidFill>
                  <a:srgbClr val="2D2D2D"/>
                </a:solidFill>
                <a:latin typeface="Calibri"/>
              </a:rPr>
              <a:t>•  Identified degradation points of evaporation pond (EP) and tailings barriers — guides remediation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640080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Calibri"/>
              </a:rPr>
              <a:t>Tolentino et al., 2025, pp.1, 5-6, 9-16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008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5A5A"/>
                </a:solidFill>
                <a:latin typeface="Calibri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Application 3: Precision Agriculture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8CAE4"/>
                </a:solidFill>
                <a:latin typeface="Calibri"/>
              </a:rPr>
              <a:t>Raja et al., 2025 — Robotic Weed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096C7"/>
                </a:solidFill>
                <a:latin typeface="Calibri"/>
              </a:rPr>
              <a:t>Challenge: Crop–Weed Differentiation in High-Density Fields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Calibri"/>
              </a:rPr>
              <a:t>In organic farming, crop and weed foliage intertwine, defeating conventional classifiers — especially in celery.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31720"/>
            <a:ext cx="11064240" cy="11887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331720"/>
            <a:ext cx="11064240" cy="347472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40864"/>
            <a:ext cx="107899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Innovation: Crop Signaling with Rhodamine B (Rh-B)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724912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Calibri"/>
              </a:rPr>
              <a:t>Pre-transplantation treatment of celery seedlings with Rh-B, a fluorescent compound producing machine-readable signals. Imaging uses a photometric monochrome camera + green LEDs (523 nm) + bandpass filter (575/25 nm). Conveyor speed 2.4 km/h mimics tractor field speed.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033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096C7"/>
                </a:solidFill>
                <a:latin typeface="Calibri"/>
              </a:rPr>
              <a:t>Outstanding Results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160520"/>
            <a:ext cx="3566160" cy="15544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160520"/>
            <a:ext cx="3566160" cy="54864"/>
          </a:xfrm>
          <a:prstGeom prst="rect">
            <a:avLst/>
          </a:prstGeom>
          <a:solidFill>
            <a:srgbClr val="F4A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251960"/>
            <a:ext cx="3566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1B2A4A"/>
                </a:solidFill>
                <a:latin typeface="Calibri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89204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096C7"/>
                </a:solidFill>
                <a:latin typeface="Calibri"/>
              </a:rPr>
              <a:t>Crop–Weed Accuracy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212080"/>
            <a:ext cx="3566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A5A5A"/>
                </a:solidFill>
                <a:latin typeface="Calibri"/>
              </a:rPr>
              <a:t>No false positives
across 313 images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43400" y="4160520"/>
            <a:ext cx="3566160" cy="15544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43400" y="4160520"/>
            <a:ext cx="3566160" cy="54864"/>
          </a:xfrm>
          <a:prstGeom prst="rect">
            <a:avLst/>
          </a:prstGeom>
          <a:solidFill>
            <a:srgbClr val="F4A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4251960"/>
            <a:ext cx="3566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1B2A4A"/>
                </a:solidFill>
                <a:latin typeface="Calibri"/>
              </a:rPr>
              <a:t>99.66%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489204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096C7"/>
                </a:solidFill>
                <a:latin typeface="Calibri"/>
              </a:rPr>
              <a:t>Stem Location Precision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5212080"/>
            <a:ext cx="3566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A5A5A"/>
                </a:solidFill>
                <a:latin typeface="Calibri"/>
              </a:rPr>
              <a:t>Avg. error 3.58 mm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4160520"/>
            <a:ext cx="3566160" cy="15544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160" y="4160520"/>
            <a:ext cx="3566160" cy="54864"/>
          </a:xfrm>
          <a:prstGeom prst="rect">
            <a:avLst/>
          </a:prstGeom>
          <a:solidFill>
            <a:srgbClr val="F4A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0" y="4251960"/>
            <a:ext cx="3566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1B2A4A"/>
                </a:solidFill>
                <a:latin typeface="Calibri"/>
              </a:rPr>
              <a:t>30 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489204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096C7"/>
                </a:solidFill>
                <a:latin typeface="Calibri"/>
              </a:rPr>
              <a:t>Processing Time / Frame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5212080"/>
            <a:ext cx="3566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A5A5A"/>
                </a:solidFill>
                <a:latin typeface="Calibri"/>
              </a:rPr>
              <a:t>Enables real-time robotic weeding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640080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Calibri"/>
              </a:rPr>
              <a:t>Raja et al., 2025, pp.1, 3-4, 8-9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008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5A5A"/>
                </a:solidFill>
                <a:latin typeface="Calibri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Application 4: Biomedical Imaging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8CAE4"/>
                </a:solidFill>
                <a:latin typeface="Calibri"/>
              </a:rPr>
              <a:t>Tran &amp; Fei, 2023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096C7"/>
                </a:solidFill>
                <a:latin typeface="Calibri"/>
              </a:rPr>
              <a:t>Why Spectral Imaging in Biomedicine?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Calibri"/>
              </a:rPr>
              <a:t>Reveals physiological processes beyond RGB: metabolic processes, retinal oxygen saturation, tumors (skin/tongue/mucosa), and ischemia (intestine &amp; brain). Non-ionizing, minimally invasive (VIS-NIR).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60320"/>
            <a:ext cx="5394960" cy="9144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6060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  <a:latin typeface="Calibri"/>
              </a:rPr>
              <a:t>Compact / Ultracompact Definition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944368"/>
            <a:ext cx="5212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D2D2D"/>
                </a:solidFill>
                <a:latin typeface="Calibri"/>
              </a:rPr>
              <a:t>Compact: ≤ 5 kg (no external lens/cables)
Ultracompact: &lt; 500 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2560320"/>
            <a:ext cx="5394960" cy="3657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2560320"/>
            <a:ext cx="5394960" cy="347472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569464"/>
            <a:ext cx="5212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Key Application Areas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990088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1B2A4A"/>
                </a:solidFill>
                <a:latin typeface="Calibri"/>
              </a:rPr>
              <a:t>•  Skin Cancer Diagnosis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2D2D2D"/>
                </a:solidFill>
                <a:latin typeface="Calibri"/>
              </a:rPr>
              <a:t>•  100% sensitivity, 85% specificity (10 bands, 63+183 images)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1B2A4A"/>
                </a:solidFill>
                <a:latin typeface="Calibri"/>
              </a:rPr>
              <a:t>•  Wound &amp; Burn Healing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2D2D2D"/>
                </a:solidFill>
                <a:latin typeface="Calibri"/>
              </a:rPr>
              <a:t>•  Hemoglobin concentration &amp; oxygenation over 2 weeks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1B2A4A"/>
                </a:solidFill>
                <a:latin typeface="Calibri"/>
              </a:rPr>
              <a:t>•  Retinal Diseases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2D2D2D"/>
                </a:solidFill>
                <a:latin typeface="Calibri"/>
              </a:rPr>
              <a:t>•  Oxygen saturation repeatability SD = 1.4%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1B2A4A"/>
                </a:solidFill>
                <a:latin typeface="Calibri"/>
              </a:rPr>
              <a:t>•  Surgical Guidance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2D2D2D"/>
                </a:solidFill>
                <a:latin typeface="Calibri"/>
              </a:rPr>
              <a:t>•  Laparoscopic HSI: SNR 30–43 dB, 4.6 s acquisition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1B2A4A"/>
                </a:solidFill>
                <a:latin typeface="Calibri"/>
              </a:rPr>
              <a:t>•  Tumor Diagnosis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2D2D2D"/>
                </a:solidFill>
                <a:latin typeface="Calibri"/>
              </a:rPr>
              <a:t>•  NIR-II (1000–1700 nm) enhances tumor-to-background ratio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0080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Calibri"/>
              </a:rPr>
              <a:t>Tran &amp; Fei, 2023, pp.2, 28-34; Mukhtar et al., 2025, pp.5-6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008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5A5A"/>
                </a:solidFill>
                <a:latin typeface="Calibri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Application 5: Industrial Sorting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8CAE4"/>
                </a:solidFill>
                <a:latin typeface="Calibri"/>
              </a:rPr>
              <a:t>Romaniello et al., 2024 — Gluten-Free Legumes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096C7"/>
                </a:solidFill>
                <a:latin typeface="Calibri"/>
              </a:rPr>
              <a:t>Problem: Separating Gluten Contaminants from Legumes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Calibri"/>
              </a:rPr>
              <a:t>Celiac disease drives demand for gluten-free food. Must fully remove wheat/barley/oat from faba beans, chickpeas, and lentils — mechanical separation fails due to uneven shape/color.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31720"/>
            <a:ext cx="11064240" cy="6858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7744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  <a:latin typeface="Calibri"/>
              </a:rPr>
              <a:t>Why HSI in Food Industry?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974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D2D2D"/>
                </a:solidFill>
                <a:latin typeface="Calibri"/>
              </a:rPr>
              <a:t>Speed, objectivity, low cost, and non-destructive — enables analysis of the entire production batch.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004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96C7"/>
                </a:solidFill>
                <a:latin typeface="Calibri"/>
              </a:rPr>
              <a:t>Lab HSI System &amp; Classifier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56616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2D2D2D"/>
                </a:solidFill>
                <a:latin typeface="Calibri"/>
              </a:rPr>
              <a:t>•  VIS/NIR: 400–1000 nm; SWIR: 1000–1700 nm (InGaAs)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2D2D2D"/>
                </a:solidFill>
                <a:latin typeface="Calibri"/>
              </a:rPr>
              <a:t>•  FS-MRMR feature selection + SVM-linear classifier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1B2A4A"/>
                </a:solidFill>
                <a:latin typeface="Calibri"/>
              </a:rPr>
              <a:t>•  100% Correct Classification Rate (CCR) across all 6 datasets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634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96C7"/>
                </a:solidFill>
                <a:latin typeface="Calibri"/>
              </a:rPr>
              <a:t>Industrial Sorter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292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2D2D2D"/>
                </a:solidFill>
                <a:latin typeface="Calibri"/>
              </a:rPr>
              <a:t>•  2× NIR cameras (15,000 Hz, 0.06 mm) + 2× RGB cameras (16M colors)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2D2D2D"/>
                </a:solidFill>
                <a:latin typeface="Calibri"/>
              </a:rPr>
              <a:t>•  Free-fall detection + compressed-air ejection of contaminants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3566160"/>
            <a:ext cx="4297680" cy="25603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3657600"/>
            <a:ext cx="4297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Industrial Test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4114800"/>
            <a:ext cx="4297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F4A25F"/>
                </a:solidFill>
                <a:latin typeface="Calibri"/>
              </a:rPr>
              <a:t>FPR = 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4754880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CCDDEE"/>
                </a:solidFill>
                <a:latin typeface="Calibri"/>
              </a:rPr>
              <a:t>False Positive Rate — no contaminants pass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5120640"/>
            <a:ext cx="4297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TPR &gt; 99%   |   FNR 0.33–0.64%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5623560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48CAE4"/>
                </a:solidFill>
                <a:latin typeface="Calibri"/>
              </a:rPr>
              <a:t>(minimal product waste)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640080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Calibri"/>
              </a:rPr>
              <a:t>Romaniello et al., 2024, pp.1-3, 5, 7-10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008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5A5A"/>
                </a:solidFill>
                <a:latin typeface="Calibri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Future Trend 1: Miniaturization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8CAE4"/>
                </a:solidFill>
                <a:latin typeface="Calibri"/>
              </a:rPr>
              <a:t>Mukhtar et al.,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096C7"/>
                </a:solidFill>
                <a:latin typeface="Calibri"/>
              </a:rPr>
              <a:t>Four Major Hardware Design Trends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5486400" cy="20116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5486400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38528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B2A4A"/>
                </a:solidFill>
                <a:latin typeface="Calibri"/>
              </a:rPr>
              <a:t>DIY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67712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Calibri"/>
              </a:rPr>
              <a:t>COTS camera + off-the-shelf optics + 3D printing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96C7"/>
                </a:solidFill>
                <a:latin typeface="Calibri"/>
              </a:rPr>
              <a:t>✓ Advantage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2608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D2D2D"/>
                </a:solidFill>
                <a:latin typeface="Calibri"/>
              </a:rPr>
              <a:t>Low-cost, customizable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697480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05050"/>
                </a:solidFill>
                <a:latin typeface="Calibri"/>
              </a:rPr>
              <a:t>✗ Limitation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92608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D2D2D"/>
                </a:solidFill>
                <a:latin typeface="Calibri"/>
              </a:rPr>
              <a:t>Large mechanical tolerance, tedious calibration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828800"/>
            <a:ext cx="5486400" cy="20116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1828800"/>
            <a:ext cx="5486400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938528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B2A4A"/>
                </a:solidFill>
                <a:latin typeface="Calibri"/>
              </a:rPr>
              <a:t>Freeform Optics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267712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Calibri"/>
              </a:rPr>
              <a:t>Dispersion + aberration + focusing in one non-axisymmetric surface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697480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96C7"/>
                </a:solidFill>
                <a:latin typeface="Calibri"/>
              </a:rPr>
              <a:t>✓ Advantage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92608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D2D2D"/>
                </a:solidFill>
                <a:latin typeface="Calibri"/>
              </a:rPr>
              <a:t>Wide FOV, high fidelity, meets CubeSat/UAV limits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2697480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05050"/>
                </a:solidFill>
                <a:latin typeface="Calibri"/>
              </a:rPr>
              <a:t>✗ Limitation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292608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D2D2D"/>
                </a:solidFill>
                <a:latin typeface="Calibri"/>
              </a:rPr>
              <a:t>High manufacturing cost, long lead time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023360"/>
            <a:ext cx="5486400" cy="20116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023360"/>
            <a:ext cx="5486400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133088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B2A4A"/>
                </a:solidFill>
                <a:latin typeface="Calibri"/>
              </a:rPr>
              <a:t>Filter-on-Chip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462272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Calibri"/>
              </a:rPr>
              <a:t>Fabry-Pérot / photonic crystal filters monolithically on CMOS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892040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96C7"/>
                </a:solidFill>
                <a:latin typeface="Calibri"/>
              </a:rPr>
              <a:t>✓ Advantage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12064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D2D2D"/>
                </a:solidFill>
                <a:latin typeface="Calibri"/>
              </a:rPr>
              <a:t>No moving parts, true snapshot, high SWaP efficiency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4892040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05050"/>
                </a:solidFill>
                <a:latin typeface="Calibri"/>
              </a:rPr>
              <a:t>✗ Limitation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0" y="512064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D2D2D"/>
                </a:solidFill>
                <a:latin typeface="Calibri"/>
              </a:rPr>
              <a:t>Difficult large-area nanofabrication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4023360"/>
            <a:ext cx="5486400" cy="20116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2200" y="4023360"/>
            <a:ext cx="5486400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4133088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B2A4A"/>
                </a:solidFill>
                <a:latin typeface="Calibri"/>
              </a:rPr>
              <a:t>Metasurface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4462272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Calibri"/>
              </a:rPr>
              <a:t>Subwavelength meta-atoms for spectral/polarization/computational control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4892040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96C7"/>
                </a:solidFill>
                <a:latin typeface="Calibri"/>
              </a:rPr>
              <a:t>✓ Advantage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512064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D2D2D"/>
                </a:solidFill>
                <a:latin typeface="Calibri"/>
              </a:rPr>
              <a:t>Ultrathin, multifunctional, video-rate HSI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06840" y="4892040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05050"/>
                </a:solidFill>
                <a:latin typeface="Calibri"/>
              </a:rPr>
              <a:t>✗ Limitation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06840" y="512064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D2D2D"/>
                </a:solidFill>
                <a:latin typeface="Calibri"/>
              </a:rPr>
              <a:t>nm-precision fabrication across cm apertures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Calibri"/>
              </a:rPr>
              <a:t>From 48 kg (1972 MSS) to &lt; 30 g snapshot cameras — progress driven by manufacturing maturity, not new optical architectures.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640080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Calibri"/>
              </a:rPr>
              <a:t>Mukhtar et al., 2025, pp.1, 51; Tran &amp; Fei, 2023, p.7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008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5A5A"/>
                </a:solidFill>
                <a:latin typeface="Calibri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Future Trend 2: Real-time Processing &amp;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8CAE4"/>
                </a:solidFill>
                <a:latin typeface="Calibri"/>
              </a:rPr>
              <a:t>Mukhtar et al.,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096C7"/>
                </a:solidFill>
                <a:latin typeface="Calibri"/>
              </a:rPr>
              <a:t>Demand for Real-time Spectral 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3566160" cy="1371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3566160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38528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B2A4A"/>
                </a:solidFill>
                <a:latin typeface="Calibri"/>
              </a:rPr>
              <a:t>Industrial Sorting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86000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D2D2D"/>
                </a:solidFill>
                <a:latin typeface="Calibri"/>
              </a:rPr>
              <a:t>NIR cameras at 15,000 Hz
Free-fall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80360"/>
            <a:ext cx="3566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A5A5A"/>
                </a:solidFill>
                <a:latin typeface="Calibri"/>
              </a:rPr>
              <a:t>Romaniello et 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828800"/>
            <a:ext cx="3566160" cy="1371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828800"/>
            <a:ext cx="3566160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1938528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B2A4A"/>
                </a:solidFill>
                <a:latin typeface="Calibri"/>
              </a:rPr>
              <a:t>Precision Weeding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286000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D2D2D"/>
                </a:solidFill>
                <a:latin typeface="Calibri"/>
              </a:rPr>
              <a:t>30 ms per frame
Real-time robotic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880360"/>
            <a:ext cx="3566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A5A5A"/>
                </a:solidFill>
                <a:latin typeface="Calibri"/>
              </a:rPr>
              <a:t>Raja et al.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828800"/>
            <a:ext cx="3566160" cy="1371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828800"/>
            <a:ext cx="3566160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1938528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B2A4A"/>
                </a:solidFill>
                <a:latin typeface="Calibri"/>
              </a:rPr>
              <a:t>Surgical Guidance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286000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D2D2D"/>
                </a:solidFill>
                <a:latin typeface="Calibri"/>
              </a:rPr>
              <a:t>Acquisition as low as 4.6 s
SNR 30–43 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880360"/>
            <a:ext cx="3566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A5A5A"/>
                </a:solidFill>
                <a:latin typeface="Calibri"/>
              </a:rPr>
              <a:t>Mukhtar et 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5204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096C7"/>
                </a:solidFill>
                <a:latin typeface="Calibri"/>
              </a:rPr>
              <a:t>AI &amp; Computational Imaging Integration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977639"/>
            <a:ext cx="11064240" cy="21945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11480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2D2D2D"/>
                </a:solidFill>
                <a:latin typeface="Calibri"/>
              </a:rPr>
              <a:t>•  Computational spectral reconstruction: compressed sensing &amp; deep learning demultiplexing reduce hardware burden without losing spectral resolution.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2D2D2D"/>
                </a:solidFill>
                <a:latin typeface="Calibri"/>
              </a:rPr>
              <a:t>•  Edge Intelligence: ML models embedded directly in handheld/UAV devices for on-site, real-time analysis (e.g., plant health, pollutant detection).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1B2A4A"/>
                </a:solidFill>
                <a:latin typeface="Calibri"/>
              </a:rPr>
              <a:t>•  Algorithm-Hardware Co-Design: physics-aware neural networks on ASICs → sub-Watt on-device spectral analytics for autonomous drones and handheld diagnostics.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640080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Calibri"/>
              </a:rPr>
              <a:t>Mukhtar et al., 2025, pp.2, 51-52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008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5A5A"/>
                </a:solidFill>
                <a:latin typeface="Calibri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Future Trends 3: Other Key Directions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8CAE4"/>
                </a:solidFill>
                <a:latin typeface="Calibri"/>
              </a:rPr>
              <a:t>Mukhtar et al., 2025; Tran &amp; Fei, 2023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3611880" cy="21031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3611880" cy="54864"/>
          </a:xfrm>
          <a:prstGeom prst="rect">
            <a:avLst/>
          </a:prstGeom>
          <a:solidFill>
            <a:srgbClr val="F4A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B2A4A"/>
                </a:solidFill>
                <a:latin typeface="Calibri"/>
              </a:rPr>
              <a:t>Tunable Metasurfaces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32918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Calibri"/>
              </a:rPr>
              <a:t>Reconfigurable spectral response in real time based on task requirements, with minimal size/power increase.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3291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5A5A"/>
                </a:solidFill>
                <a:latin typeface="Calibri"/>
              </a:rPr>
              <a:t>Mukhtar 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417320"/>
            <a:ext cx="3611880" cy="21031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417320"/>
            <a:ext cx="3611880" cy="54864"/>
          </a:xfrm>
          <a:prstGeom prst="rect">
            <a:avLst/>
          </a:prstGeom>
          <a:solidFill>
            <a:srgbClr val="F4A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5448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B2A4A"/>
                </a:solidFill>
                <a:latin typeface="Calibri"/>
              </a:rPr>
              <a:t>Expanded Spectral Coverage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1965960"/>
            <a:ext cx="32918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Calibri"/>
              </a:rPr>
              <a:t>Extend from VIS-NIR to ultraviolet and mid-infrared — unlocks astronomy, chemical sensing, security.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3200400"/>
            <a:ext cx="3291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5A5A"/>
                </a:solidFill>
                <a:latin typeface="Calibri"/>
              </a:rPr>
              <a:t>Mukhtar 2025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417320"/>
            <a:ext cx="3611880" cy="21031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417320"/>
            <a:ext cx="3611880" cy="54864"/>
          </a:xfrm>
          <a:prstGeom prst="rect">
            <a:avLst/>
          </a:prstGeom>
          <a:solidFill>
            <a:srgbClr val="F4A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55448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B2A4A"/>
                </a:solidFill>
                <a:latin typeface="Calibri"/>
              </a:rPr>
              <a:t>Low-Cost &amp; Open-Source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1965960"/>
            <a:ext cx="32918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Calibri"/>
              </a:rPr>
              <a:t>COTS components, 3D printing, open hardware/software, smartphones as camera + control + IoT node.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200400"/>
            <a:ext cx="3291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5A5A"/>
                </a:solidFill>
                <a:latin typeface="Calibri"/>
              </a:rPr>
              <a:t>Tran &amp; Fei 2023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794760"/>
            <a:ext cx="3611880" cy="21031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794760"/>
            <a:ext cx="3611880" cy="54864"/>
          </a:xfrm>
          <a:prstGeom prst="rect">
            <a:avLst/>
          </a:prstGeom>
          <a:solidFill>
            <a:srgbClr val="F4A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93192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B2A4A"/>
                </a:solidFill>
                <a:latin typeface="Calibri"/>
              </a:rPr>
              <a:t>Multimodal Fusion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343400"/>
            <a:ext cx="32918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Calibri"/>
              </a:rPr>
              <a:t>Combine with OCT (depth), LSCI (vasculature), Raman (chemistry), photoacoustic (up to 5 cm penetration).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577840"/>
            <a:ext cx="3291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5A5A"/>
                </a:solidFill>
                <a:latin typeface="Calibri"/>
              </a:rPr>
              <a:t>Tran &amp; Fei 2023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3794760"/>
            <a:ext cx="3611880" cy="21031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3794760"/>
            <a:ext cx="3611880" cy="54864"/>
          </a:xfrm>
          <a:prstGeom prst="rect">
            <a:avLst/>
          </a:prstGeom>
          <a:solidFill>
            <a:srgbClr val="F4A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80" y="393192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B2A4A"/>
                </a:solidFill>
                <a:latin typeface="Calibri"/>
              </a:rPr>
              <a:t>IoT &amp; Edge Networks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4343400"/>
            <a:ext cx="32918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Calibri"/>
              </a:rPr>
              <a:t>UAV swarms / field sensors process data locally, transmit only key insights for scalable environmental monitoring.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5577840"/>
            <a:ext cx="3291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5A5A"/>
                </a:solidFill>
                <a:latin typeface="Calibri"/>
              </a:rPr>
              <a:t>Mukhtar 2025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60" y="3794760"/>
            <a:ext cx="3611880" cy="21031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38160" y="3794760"/>
            <a:ext cx="3611880" cy="54864"/>
          </a:xfrm>
          <a:prstGeom prst="rect">
            <a:avLst/>
          </a:prstGeom>
          <a:solidFill>
            <a:srgbClr val="F4A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393192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B2A4A"/>
                </a:solidFill>
                <a:latin typeface="Calibri"/>
              </a:rPr>
              <a:t>Scalable Manufacturing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4343400"/>
            <a:ext cx="32918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Calibri"/>
              </a:rPr>
              <a:t>Roll-to-roll nanoimprint, high-throughput DUV lithography, open calibration protocols → mass-market products.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5577840"/>
            <a:ext cx="3291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5A5A"/>
                </a:solidFill>
                <a:latin typeface="Calibri"/>
              </a:rPr>
              <a:t>Mukhtar 2025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640080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Calibri"/>
              </a:rPr>
              <a:t>Mukhtar et al., 2025, pp.51-52; Tran &amp; Fei, 2023, pp.35-38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008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5A5A"/>
                </a:solidFill>
                <a:latin typeface="Calibr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8CAE4"/>
                </a:solidFill>
                <a:latin typeface="Calibri"/>
              </a:rPr>
              <a:t>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096C7"/>
                </a:solidFill>
                <a:latin typeface="Calibri"/>
              </a:rPr>
              <a:t>Spectral Imaging: From Remote Sensing to Diverse Fields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5486400" cy="42062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5486400" cy="3840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01952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Applications &amp; Key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33172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1B2A4A"/>
                </a:solidFill>
                <a:latin typeface="Calibri"/>
              </a:rPr>
              <a:t>•  Remote Sensing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  <a:latin typeface="Calibri"/>
              </a:rPr>
              <a:t>•  Anomaly detection, target recognition, background characterization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1B2A4A"/>
                </a:solidFill>
                <a:latin typeface="Calibri"/>
              </a:rPr>
              <a:t>•  Environmental Monitoring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  <a:latin typeface="Calibri"/>
              </a:rPr>
              <a:t>•  Drone HSI maps uranium mine contamination at cm-scale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1B2A4A"/>
                </a:solidFill>
                <a:latin typeface="Calibri"/>
              </a:rPr>
              <a:t>•  Precision Agriculture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  <a:latin typeface="Calibri"/>
              </a:rPr>
              <a:t>•  100% accuracy, 30 ms/frame with Rh-B crop signaling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1B2A4A"/>
                </a:solidFill>
                <a:latin typeface="Calibri"/>
              </a:rPr>
              <a:t>•  Biomedical Imaging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  <a:latin typeface="Calibri"/>
              </a:rPr>
              <a:t>•  100% skin-cancer sensitivity; surgery at 4.6 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1B2A4A"/>
                </a:solidFill>
                <a:latin typeface="Calibri"/>
              </a:rPr>
              <a:t>•  Industrial Sorting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  <a:latin typeface="Calibri"/>
              </a:rPr>
              <a:t>•  0% FPR, &gt;99% TPR for gluten-free legume sorting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874519"/>
            <a:ext cx="5486400" cy="42062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874519"/>
            <a:ext cx="5486400" cy="384048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901952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Future Trends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33172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0096C7"/>
                </a:solidFill>
                <a:latin typeface="Calibri"/>
              </a:rPr>
              <a:t>•  Miniaturization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  <a:latin typeface="Calibri"/>
              </a:rPr>
              <a:t>•  DIY / Freeform Optics / Filter-on-Chip / Metasurface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  <a:latin typeface="Calibri"/>
              </a:rPr>
              <a:t>•  Snapshot cameras (&lt; 30 g) &amp; on-chip integration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0096C7"/>
                </a:solidFill>
                <a:latin typeface="Calibri"/>
              </a:rPr>
              <a:t>•  Real-time Processing + AI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  <a:latin typeface="Calibri"/>
              </a:rPr>
              <a:t>•  Edge intelligence &amp; algorithm-hardware co-design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  <a:latin typeface="Calibri"/>
              </a:rPr>
              <a:t>•  Sub-Watt on-device spectral analytics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0096C7"/>
                </a:solidFill>
                <a:latin typeface="Calibri"/>
              </a:rPr>
              <a:t>•  Other Directions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  <a:latin typeface="Calibri"/>
              </a:rPr>
              <a:t>•  Tunable metasurfaces, UV/MIR expansion, low-cost, multimodal fusion, IoT networks, scalable manufacturing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0080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Calibri"/>
              </a:rPr>
              <a:t>All papers: 2003–2025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008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5A5A"/>
                </a:solidFill>
                <a:latin typeface="Calibr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8CAE4"/>
                </a:solidFill>
                <a:latin typeface="Calibri"/>
              </a:rPr>
              <a:t>Source Papers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2D2D2D"/>
                </a:solidFill>
                <a:latin typeface="Calibri"/>
              </a:rPr>
              <a:t>[P1] Shaw, G.A.; Burke, H.K. "Spectral Imaging for Remote Sensing." Lincoln Laboratory Journal, 14(1), 2003.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2D2D2D"/>
                </a:solidFill>
                <a:latin typeface="Calibri"/>
              </a:rPr>
              <a:t>[P2] Tolentino, V.; Ortega Lucero, A.; Koerting, F.; Savinova, E.; Hildebrand, J.C.; Micklethwaite, S. "Drone-Based VNIR–SWIR Hyperspectral Imaging for Environmental Monitoring of a Uranium Legacy Mine Site." Drones, 9, 313, 2025.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2D2D2D"/>
                </a:solidFill>
                <a:latin typeface="Calibri"/>
              </a:rPr>
              <a:t>[P3] Raja, R.; Su, W.-H.; Slaughter, D.C.; Fennimore, S.A. "Real-time precision crop identification in high weed-density environments for robotic weed control using spectral fluorescence imaging in celery." Computers and Electronics in Agriculture, 231, 110022, 2025.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2D2D2D"/>
                </a:solidFill>
                <a:latin typeface="Calibri"/>
              </a:rPr>
              <a:t>[P4] Tran, M.H.; Fei, B. "Compact and ultracompact spectral imagers: technology and applications in biomedical imaging." Journal of Biomedical Optics, 28(4), 040901, 2023.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2D2D2D"/>
                </a:solidFill>
                <a:latin typeface="Calibri"/>
              </a:rPr>
              <a:t>[P5] Romaniello, R.; Barrasso, A.E.; Perone, C.; Tamborrino, A.; Berardi, A.; Leone, A. "Optimisation of an Industrial Optical Sorter of Legumes for Gluten-Free Production Using Hyperspectral Imaging Techniques." Foods, 13, 404, 2024.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2D2D2D"/>
                </a:solidFill>
                <a:latin typeface="Calibri"/>
              </a:rPr>
              <a:t>[P6] Mukhtar, S.; Arbabi, A.; Viegas, J. "Compact Spectral Imaging: A Review of Miniaturized and Integrated Systems." Laser &amp; Photonics Reviews, 2025.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008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5A5A"/>
                </a:solidFill>
                <a:latin typeface="Calibr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0">
                <a:solidFill>
                  <a:srgbClr val="48CAE4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BBCCDD"/>
                </a:solidFill>
                <a:latin typeface="Calibri"/>
              </a:rPr>
              <a:t>Spectral Imaging: Applications &amp; Future Trends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