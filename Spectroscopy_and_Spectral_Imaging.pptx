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95728"/>
            <a:ext cx="12191695" cy="73152"/>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224528"/>
            <a:ext cx="12191695" cy="36576"/>
          </a:xfrm>
          <a:prstGeom prst="rect">
            <a:avLst/>
          </a:prstGeom>
          <a:solidFill>
            <a:srgbClr val="48C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51560"/>
            <a:ext cx="10725912" cy="91440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3800" b="1" i="0">
                <a:solidFill>
                  <a:srgbClr val="FFFFFF"/>
                </a:solidFill>
                <a:latin typeface="Calibri"/>
                <a:ea typeface="Microsoft YaHei"/>
              </a:rPr>
              <a:t>Spectroscopy and Spectral Imaging</a:t>
            </a:r>
          </a:p>
        </p:txBody>
      </p:sp>
      <p:sp>
        <p:nvSpPr>
          <p:cNvPr id="6" name="TextBox 5"/>
          <p:cNvSpPr txBox="1"/>
          <p:nvPr/>
        </p:nvSpPr>
        <p:spPr>
          <a:xfrm>
            <a:off x="731520" y="1828800"/>
            <a:ext cx="10725912" cy="50292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2600" b="1" i="0">
                <a:solidFill>
                  <a:srgbClr val="F4A25F"/>
                </a:solidFill>
                <a:latin typeface="Calibri"/>
                <a:ea typeface="Microsoft YaHei"/>
              </a:rPr>
              <a:t>光谱与光谱成像</a:t>
            </a:r>
          </a:p>
        </p:txBody>
      </p:sp>
      <p:sp>
        <p:nvSpPr>
          <p:cNvPr id="7" name="TextBox 6"/>
          <p:cNvSpPr txBox="1"/>
          <p:nvPr/>
        </p:nvSpPr>
        <p:spPr>
          <a:xfrm>
            <a:off x="731520" y="2606040"/>
            <a:ext cx="10725912" cy="45720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1700" b="0" i="0">
                <a:solidFill>
                  <a:srgbClr val="48CAE4"/>
                </a:solidFill>
                <a:latin typeface="Calibri"/>
                <a:ea typeface="Microsoft YaHei"/>
              </a:rPr>
              <a:t>From Fundamental Spectroscopy to Spectral Imaging Applications</a:t>
            </a:r>
          </a:p>
        </p:txBody>
      </p:sp>
      <p:sp>
        <p:nvSpPr>
          <p:cNvPr id="8" name="TextBox 7"/>
          <p:cNvSpPr txBox="1"/>
          <p:nvPr/>
        </p:nvSpPr>
        <p:spPr>
          <a:xfrm>
            <a:off x="731520" y="3401568"/>
            <a:ext cx="10725912" cy="731520"/>
          </a:xfrm>
          <a:prstGeom prst="rect">
            <a:avLst/>
          </a:prstGeom>
          <a:noFill/>
        </p:spPr>
        <p:txBody>
          <a:bodyPr wrap="square" anchor="t" lIns="25400" rIns="25400" tIns="25400" bIns="25400">
            <a:spAutoFit/>
          </a:bodyPr>
          <a:lstStyle/>
          <a:p>
            <a:pPr algn="ctr">
              <a:lnSpc>
                <a:spcPct val="105000"/>
              </a:lnSpc>
              <a:spcBef>
                <a:spcPts val="0"/>
              </a:spcBef>
              <a:spcAft>
                <a:spcPts val="400"/>
              </a:spcAft>
            </a:pPr>
            <a:r>
              <a:rPr sz="1400" b="0" i="0">
                <a:solidFill>
                  <a:srgbClr val="BBCCDD"/>
                </a:solidFill>
                <a:latin typeface="Calibri"/>
                <a:ea typeface="Microsoft YaHei"/>
              </a:rPr>
              <a:t>Fundamentals of Spectroscopy  •  Principles of Spectral Imaging</a:t>
            </a:r>
          </a:p>
          <a:p>
            <a:pPr algn="ctr">
              <a:lnSpc>
                <a:spcPct val="105000"/>
              </a:lnSpc>
              <a:spcBef>
                <a:spcPts val="0"/>
              </a:spcBef>
              <a:spcAft>
                <a:spcPts val="200"/>
              </a:spcAft>
            </a:pPr>
            <a:r>
              <a:rPr sz="1400" b="0" i="0">
                <a:solidFill>
                  <a:srgbClr val="BBCCDD"/>
                </a:solidFill>
                <a:latin typeface="Calibri"/>
                <a:ea typeface="Microsoft YaHei"/>
              </a:rPr>
              <a:t>Data Processing &amp; Analysis  •  Applications &amp; Future Trends</a:t>
            </a:r>
          </a:p>
        </p:txBody>
      </p:sp>
      <p:sp>
        <p:nvSpPr>
          <p:cNvPr id="9" name="TextBox 8"/>
          <p:cNvSpPr txBox="1"/>
          <p:nvPr/>
        </p:nvSpPr>
        <p:spPr>
          <a:xfrm>
            <a:off x="731520" y="4800600"/>
            <a:ext cx="10725912" cy="45720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1800" b="0" i="0">
                <a:solidFill>
                  <a:srgbClr val="FFFFFF"/>
                </a:solidFill>
                <a:latin typeface="Calibri"/>
                <a:ea typeface="Microsoft YaHei"/>
              </a:rPr>
              <a:t>Technical English Group Presentation</a:t>
            </a:r>
          </a:p>
        </p:txBody>
      </p:sp>
      <p:sp>
        <p:nvSpPr>
          <p:cNvPr id="10" name="TextBox 9"/>
          <p:cNvSpPr txBox="1"/>
          <p:nvPr/>
        </p:nvSpPr>
        <p:spPr>
          <a:xfrm>
            <a:off x="731520" y="5349240"/>
            <a:ext cx="10725912" cy="36576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1300" b="0" i="0">
                <a:solidFill>
                  <a:srgbClr val="48CAE4"/>
                </a:solidFill>
                <a:latin typeface="Calibri"/>
                <a:ea typeface="Microsoft YaHei"/>
              </a:rPr>
              <a:t>Based on research papers (2003–2025)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Contents</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Presentation Structure · 目录</a:t>
            </a:r>
          </a:p>
        </p:txBody>
      </p:sp>
      <p:sp>
        <p:nvSpPr>
          <p:cNvPr id="7" name="Rectangle 6"/>
          <p:cNvSpPr/>
          <p:nvPr/>
        </p:nvSpPr>
        <p:spPr>
          <a:xfrm>
            <a:off x="548640" y="1554480"/>
            <a:ext cx="5486400" cy="20116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54480"/>
            <a:ext cx="118872" cy="201168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68680" y="1874519"/>
            <a:ext cx="713232" cy="713232"/>
          </a:xfrm>
          <a:prstGeom prst="ellipse">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ea typeface="Microsoft YaHei"/>
              </a:rPr>
              <a:t>01</a:t>
            </a:r>
          </a:p>
        </p:txBody>
      </p:sp>
      <p:sp>
        <p:nvSpPr>
          <p:cNvPr id="10" name="TextBox 9"/>
          <p:cNvSpPr txBox="1"/>
          <p:nvPr/>
        </p:nvSpPr>
        <p:spPr>
          <a:xfrm>
            <a:off x="1783080" y="1828800"/>
            <a:ext cx="4114800" cy="640080"/>
          </a:xfrm>
          <a:prstGeom prst="rect">
            <a:avLst/>
          </a:prstGeom>
          <a:noFill/>
        </p:spPr>
        <p:txBody>
          <a:bodyPr wrap="square" anchor="t" lIns="25400" rIns="25400" tIns="25400" bIns="25400">
            <a:spAutoFit/>
          </a:bodyPr>
          <a:lstStyle/>
          <a:p>
            <a:pPr algn="l">
              <a:lnSpc>
                <a:spcPct val="100000"/>
              </a:lnSpc>
              <a:spcBef>
                <a:spcPts val="0"/>
              </a:spcBef>
              <a:spcAft>
                <a:spcPts val="200"/>
              </a:spcAft>
            </a:pPr>
            <a:r>
              <a:rPr sz="1700" b="1" i="0">
                <a:solidFill>
                  <a:srgbClr val="1B2A4A"/>
                </a:solidFill>
                <a:latin typeface="Calibri"/>
                <a:ea typeface="Microsoft YaHei"/>
              </a:rPr>
              <a:t>Fundamentals of Spectroscopy</a:t>
            </a:r>
          </a:p>
        </p:txBody>
      </p:sp>
      <p:sp>
        <p:nvSpPr>
          <p:cNvPr id="11" name="TextBox 10"/>
          <p:cNvSpPr txBox="1"/>
          <p:nvPr/>
        </p:nvSpPr>
        <p:spPr>
          <a:xfrm>
            <a:off x="1783080" y="2395728"/>
            <a:ext cx="4114800" cy="3200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F4A25F"/>
                </a:solidFill>
                <a:latin typeface="Calibri"/>
                <a:ea typeface="Microsoft YaHei"/>
              </a:rPr>
              <a:t>光谱学基础</a:t>
            </a:r>
          </a:p>
        </p:txBody>
      </p:sp>
      <p:sp>
        <p:nvSpPr>
          <p:cNvPr id="12" name="TextBox 11"/>
          <p:cNvSpPr txBox="1"/>
          <p:nvPr/>
        </p:nvSpPr>
        <p:spPr>
          <a:xfrm>
            <a:off x="1783080" y="2743200"/>
            <a:ext cx="4069080" cy="640080"/>
          </a:xfrm>
          <a:prstGeom prst="rect">
            <a:avLst/>
          </a:prstGeom>
          <a:noFill/>
        </p:spPr>
        <p:txBody>
          <a:bodyPr wrap="square" anchor="t" lIns="25400" rIns="25400" tIns="25400" bIns="25400">
            <a:spAutoFit/>
          </a:bodyPr>
          <a:lstStyle/>
          <a:p>
            <a:pPr algn="l">
              <a:lnSpc>
                <a:spcPct val="110000"/>
              </a:lnSpc>
              <a:spcBef>
                <a:spcPts val="0"/>
              </a:spcBef>
              <a:spcAft>
                <a:spcPts val="200"/>
              </a:spcAft>
            </a:pPr>
            <a:r>
              <a:rPr sz="1100" b="0" i="0">
                <a:solidFill>
                  <a:srgbClr val="5A5A5A"/>
                </a:solidFill>
                <a:latin typeface="Calibri"/>
                <a:ea typeface="Microsoft YaHei"/>
              </a:rPr>
              <a:t>Electromagnetic waves · Spectra · Atomic &amp; molecular energy levels</a:t>
            </a:r>
          </a:p>
        </p:txBody>
      </p:sp>
      <p:sp>
        <p:nvSpPr>
          <p:cNvPr id="13" name="Rectangle 12"/>
          <p:cNvSpPr/>
          <p:nvPr/>
        </p:nvSpPr>
        <p:spPr>
          <a:xfrm>
            <a:off x="6281927" y="1554480"/>
            <a:ext cx="5486400" cy="20116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81927" y="1554480"/>
            <a:ext cx="118872" cy="201168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601967" y="1874519"/>
            <a:ext cx="713232" cy="713232"/>
          </a:xfrm>
          <a:prstGeom prst="ellipse">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ea typeface="Microsoft YaHei"/>
              </a:rPr>
              <a:t>02</a:t>
            </a:r>
          </a:p>
        </p:txBody>
      </p:sp>
      <p:sp>
        <p:nvSpPr>
          <p:cNvPr id="16" name="TextBox 15"/>
          <p:cNvSpPr txBox="1"/>
          <p:nvPr/>
        </p:nvSpPr>
        <p:spPr>
          <a:xfrm>
            <a:off x="7516367" y="1828800"/>
            <a:ext cx="4114800" cy="640080"/>
          </a:xfrm>
          <a:prstGeom prst="rect">
            <a:avLst/>
          </a:prstGeom>
          <a:noFill/>
        </p:spPr>
        <p:txBody>
          <a:bodyPr wrap="square" anchor="t" lIns="25400" rIns="25400" tIns="25400" bIns="25400">
            <a:spAutoFit/>
          </a:bodyPr>
          <a:lstStyle/>
          <a:p>
            <a:pPr algn="l">
              <a:lnSpc>
                <a:spcPct val="100000"/>
              </a:lnSpc>
              <a:spcBef>
                <a:spcPts val="0"/>
              </a:spcBef>
              <a:spcAft>
                <a:spcPts val="200"/>
              </a:spcAft>
            </a:pPr>
            <a:r>
              <a:rPr sz="1700" b="1" i="0">
                <a:solidFill>
                  <a:srgbClr val="1B2A4A"/>
                </a:solidFill>
                <a:latin typeface="Calibri"/>
                <a:ea typeface="Microsoft YaHei"/>
              </a:rPr>
              <a:t>Principles of Spectral Imaging</a:t>
            </a:r>
          </a:p>
        </p:txBody>
      </p:sp>
      <p:sp>
        <p:nvSpPr>
          <p:cNvPr id="17" name="TextBox 16"/>
          <p:cNvSpPr txBox="1"/>
          <p:nvPr/>
        </p:nvSpPr>
        <p:spPr>
          <a:xfrm>
            <a:off x="7516367" y="2395728"/>
            <a:ext cx="4114800" cy="3200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F4A25F"/>
                </a:solidFill>
                <a:latin typeface="Calibri"/>
                <a:ea typeface="Microsoft YaHei"/>
              </a:rPr>
              <a:t>光谱成像原理</a:t>
            </a:r>
          </a:p>
        </p:txBody>
      </p:sp>
      <p:sp>
        <p:nvSpPr>
          <p:cNvPr id="18" name="TextBox 17"/>
          <p:cNvSpPr txBox="1"/>
          <p:nvPr/>
        </p:nvSpPr>
        <p:spPr>
          <a:xfrm>
            <a:off x="7516367" y="2743200"/>
            <a:ext cx="4069080" cy="640080"/>
          </a:xfrm>
          <a:prstGeom prst="rect">
            <a:avLst/>
          </a:prstGeom>
          <a:noFill/>
        </p:spPr>
        <p:txBody>
          <a:bodyPr wrap="square" anchor="t" lIns="25400" rIns="25400" tIns="25400" bIns="25400">
            <a:spAutoFit/>
          </a:bodyPr>
          <a:lstStyle/>
          <a:p>
            <a:pPr algn="l">
              <a:lnSpc>
                <a:spcPct val="110000"/>
              </a:lnSpc>
              <a:spcBef>
                <a:spcPts val="0"/>
              </a:spcBef>
              <a:spcAft>
                <a:spcPts val="200"/>
              </a:spcAft>
            </a:pPr>
            <a:r>
              <a:rPr sz="1100" b="0" i="0">
                <a:solidFill>
                  <a:srgbClr val="5A5A5A"/>
                </a:solidFill>
                <a:latin typeface="Calibri"/>
                <a:ea typeface="Microsoft YaHei"/>
              </a:rPr>
              <a:t>Data cube · Whiskbroom / Pushbroom / Staring · MSI vs. HSI</a:t>
            </a:r>
          </a:p>
        </p:txBody>
      </p:sp>
      <p:sp>
        <p:nvSpPr>
          <p:cNvPr id="19" name="Rectangle 18"/>
          <p:cNvSpPr/>
          <p:nvPr/>
        </p:nvSpPr>
        <p:spPr>
          <a:xfrm>
            <a:off x="548640" y="3840480"/>
            <a:ext cx="5486400" cy="20116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840480"/>
            <a:ext cx="118872" cy="201168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68680" y="4160520"/>
            <a:ext cx="713232" cy="713232"/>
          </a:xfrm>
          <a:prstGeom prst="ellipse">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ea typeface="Microsoft YaHei"/>
              </a:rPr>
              <a:t>03</a:t>
            </a:r>
          </a:p>
        </p:txBody>
      </p:sp>
      <p:sp>
        <p:nvSpPr>
          <p:cNvPr id="22" name="TextBox 21"/>
          <p:cNvSpPr txBox="1"/>
          <p:nvPr/>
        </p:nvSpPr>
        <p:spPr>
          <a:xfrm>
            <a:off x="1783080" y="4114800"/>
            <a:ext cx="4114800" cy="640080"/>
          </a:xfrm>
          <a:prstGeom prst="rect">
            <a:avLst/>
          </a:prstGeom>
          <a:noFill/>
        </p:spPr>
        <p:txBody>
          <a:bodyPr wrap="square" anchor="t" lIns="25400" rIns="25400" tIns="25400" bIns="25400">
            <a:spAutoFit/>
          </a:bodyPr>
          <a:lstStyle/>
          <a:p>
            <a:pPr algn="l">
              <a:lnSpc>
                <a:spcPct val="100000"/>
              </a:lnSpc>
              <a:spcBef>
                <a:spcPts val="0"/>
              </a:spcBef>
              <a:spcAft>
                <a:spcPts val="200"/>
              </a:spcAft>
            </a:pPr>
            <a:r>
              <a:rPr sz="1700" b="1" i="0">
                <a:solidFill>
                  <a:srgbClr val="1B2A4A"/>
                </a:solidFill>
                <a:latin typeface="Calibri"/>
                <a:ea typeface="Microsoft YaHei"/>
              </a:rPr>
              <a:t>Data Processing &amp; Analysis</a:t>
            </a:r>
          </a:p>
        </p:txBody>
      </p:sp>
      <p:sp>
        <p:nvSpPr>
          <p:cNvPr id="23" name="TextBox 22"/>
          <p:cNvSpPr txBox="1"/>
          <p:nvPr/>
        </p:nvSpPr>
        <p:spPr>
          <a:xfrm>
            <a:off x="1783080" y="4681728"/>
            <a:ext cx="4114800" cy="3200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F4A25F"/>
                </a:solidFill>
                <a:latin typeface="Calibri"/>
                <a:ea typeface="Microsoft YaHei"/>
              </a:rPr>
              <a:t>光谱数据处理与分析</a:t>
            </a:r>
          </a:p>
        </p:txBody>
      </p:sp>
      <p:sp>
        <p:nvSpPr>
          <p:cNvPr id="24" name="TextBox 23"/>
          <p:cNvSpPr txBox="1"/>
          <p:nvPr/>
        </p:nvSpPr>
        <p:spPr>
          <a:xfrm>
            <a:off x="1783080" y="5029200"/>
            <a:ext cx="4069080" cy="640080"/>
          </a:xfrm>
          <a:prstGeom prst="rect">
            <a:avLst/>
          </a:prstGeom>
          <a:noFill/>
        </p:spPr>
        <p:txBody>
          <a:bodyPr wrap="square" anchor="t" lIns="25400" rIns="25400" tIns="25400" bIns="25400">
            <a:spAutoFit/>
          </a:bodyPr>
          <a:lstStyle/>
          <a:p>
            <a:pPr algn="l">
              <a:lnSpc>
                <a:spcPct val="110000"/>
              </a:lnSpc>
              <a:spcBef>
                <a:spcPts val="0"/>
              </a:spcBef>
              <a:spcAft>
                <a:spcPts val="200"/>
              </a:spcAft>
            </a:pPr>
            <a:r>
              <a:rPr sz="1100" b="0" i="0">
                <a:solidFill>
                  <a:srgbClr val="5A5A5A"/>
                </a:solidFill>
                <a:latin typeface="Calibri"/>
                <a:ea typeface="Microsoft YaHei"/>
              </a:rPr>
              <a:t>Calibration · PCA / MNF · Spectral classification &amp; validation</a:t>
            </a:r>
          </a:p>
        </p:txBody>
      </p:sp>
      <p:sp>
        <p:nvSpPr>
          <p:cNvPr id="25" name="Rectangle 24"/>
          <p:cNvSpPr/>
          <p:nvPr/>
        </p:nvSpPr>
        <p:spPr>
          <a:xfrm>
            <a:off x="6281927" y="3840480"/>
            <a:ext cx="5486400" cy="20116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81927" y="3840480"/>
            <a:ext cx="118872" cy="201168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01967" y="4160520"/>
            <a:ext cx="713232" cy="713232"/>
          </a:xfrm>
          <a:prstGeom prst="ellipse">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ea typeface="Microsoft YaHei"/>
              </a:rPr>
              <a:t>04</a:t>
            </a:r>
          </a:p>
        </p:txBody>
      </p:sp>
      <p:sp>
        <p:nvSpPr>
          <p:cNvPr id="28" name="TextBox 27"/>
          <p:cNvSpPr txBox="1"/>
          <p:nvPr/>
        </p:nvSpPr>
        <p:spPr>
          <a:xfrm>
            <a:off x="7516367" y="4114800"/>
            <a:ext cx="4114800" cy="640080"/>
          </a:xfrm>
          <a:prstGeom prst="rect">
            <a:avLst/>
          </a:prstGeom>
          <a:noFill/>
        </p:spPr>
        <p:txBody>
          <a:bodyPr wrap="square" anchor="t" lIns="25400" rIns="25400" tIns="25400" bIns="25400">
            <a:spAutoFit/>
          </a:bodyPr>
          <a:lstStyle/>
          <a:p>
            <a:pPr algn="l">
              <a:lnSpc>
                <a:spcPct val="100000"/>
              </a:lnSpc>
              <a:spcBef>
                <a:spcPts val="0"/>
              </a:spcBef>
              <a:spcAft>
                <a:spcPts val="200"/>
              </a:spcAft>
            </a:pPr>
            <a:r>
              <a:rPr sz="1700" b="1" i="0">
                <a:solidFill>
                  <a:srgbClr val="1B2A4A"/>
                </a:solidFill>
                <a:latin typeface="Calibri"/>
                <a:ea typeface="Microsoft YaHei"/>
              </a:rPr>
              <a:t>Applications &amp; Future Trends</a:t>
            </a:r>
          </a:p>
        </p:txBody>
      </p:sp>
      <p:sp>
        <p:nvSpPr>
          <p:cNvPr id="29" name="TextBox 28"/>
          <p:cNvSpPr txBox="1"/>
          <p:nvPr/>
        </p:nvSpPr>
        <p:spPr>
          <a:xfrm>
            <a:off x="7516367" y="4681728"/>
            <a:ext cx="4114800" cy="3200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F4A25F"/>
                </a:solidFill>
                <a:latin typeface="Calibri"/>
                <a:ea typeface="Microsoft YaHei"/>
              </a:rPr>
              <a:t>应用案例与未来趋势</a:t>
            </a:r>
          </a:p>
        </p:txBody>
      </p:sp>
      <p:sp>
        <p:nvSpPr>
          <p:cNvPr id="30" name="TextBox 29"/>
          <p:cNvSpPr txBox="1"/>
          <p:nvPr/>
        </p:nvSpPr>
        <p:spPr>
          <a:xfrm>
            <a:off x="7516367" y="5029200"/>
            <a:ext cx="4069080" cy="640080"/>
          </a:xfrm>
          <a:prstGeom prst="rect">
            <a:avLst/>
          </a:prstGeom>
          <a:noFill/>
        </p:spPr>
        <p:txBody>
          <a:bodyPr wrap="square" anchor="t" lIns="25400" rIns="25400" tIns="25400" bIns="25400">
            <a:spAutoFit/>
          </a:bodyPr>
          <a:lstStyle/>
          <a:p>
            <a:pPr algn="l">
              <a:lnSpc>
                <a:spcPct val="110000"/>
              </a:lnSpc>
              <a:spcBef>
                <a:spcPts val="0"/>
              </a:spcBef>
              <a:spcAft>
                <a:spcPts val="200"/>
              </a:spcAft>
            </a:pPr>
            <a:r>
              <a:rPr sz="1100" b="0" i="0">
                <a:solidFill>
                  <a:srgbClr val="5A5A5A"/>
                </a:solidFill>
                <a:latin typeface="Calibri"/>
                <a:ea typeface="Microsoft YaHei"/>
              </a:rPr>
              <a:t>Remote sensing · Agriculture · Biomedicine · Miniaturization &amp; AI</a:t>
            </a:r>
          </a:p>
        </p:txBody>
      </p:sp>
      <p:sp>
        <p:nvSpPr>
          <p:cNvPr id="31" name="TextBox 30"/>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2 / 63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31720"/>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069080"/>
            <a:ext cx="12191695" cy="27432"/>
          </a:xfrm>
          <a:prstGeom prst="rect">
            <a:avLst/>
          </a:prstGeom>
          <a:solidFill>
            <a:srgbClr val="48C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98448"/>
            <a:ext cx="10725912" cy="45720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2000" b="1" i="0">
                <a:solidFill>
                  <a:srgbClr val="48CAE4"/>
                </a:solidFill>
                <a:latin typeface="Calibri"/>
                <a:ea typeface="Microsoft YaHei"/>
              </a:rPr>
              <a:t>PART 01</a:t>
            </a:r>
          </a:p>
        </p:txBody>
      </p:sp>
      <p:sp>
        <p:nvSpPr>
          <p:cNvPr id="6" name="TextBox 5"/>
          <p:cNvSpPr txBox="1"/>
          <p:nvPr/>
        </p:nvSpPr>
        <p:spPr>
          <a:xfrm>
            <a:off x="731520" y="2487168"/>
            <a:ext cx="10725912" cy="82296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3600" b="1" i="0">
                <a:solidFill>
                  <a:srgbClr val="FFFFFF"/>
                </a:solidFill>
                <a:latin typeface="Calibri"/>
                <a:ea typeface="Microsoft YaHei"/>
              </a:rPr>
              <a:t>Fundamentals of Spectroscopy</a:t>
            </a:r>
          </a:p>
        </p:txBody>
      </p:sp>
      <p:sp>
        <p:nvSpPr>
          <p:cNvPr id="7" name="TextBox 6"/>
          <p:cNvSpPr txBox="1"/>
          <p:nvPr/>
        </p:nvSpPr>
        <p:spPr>
          <a:xfrm>
            <a:off x="731520" y="3291840"/>
            <a:ext cx="10725912" cy="45720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2100" b="1" i="0">
                <a:solidFill>
                  <a:srgbClr val="F4A25F"/>
                </a:solidFill>
                <a:latin typeface="Calibri"/>
                <a:ea typeface="Microsoft YaHei"/>
              </a:rPr>
              <a:t>光谱学基础</a:t>
            </a:r>
          </a:p>
        </p:txBody>
      </p:sp>
      <p:sp>
        <p:nvSpPr>
          <p:cNvPr id="8" name="TextBox 7"/>
          <p:cNvSpPr txBox="1"/>
          <p:nvPr/>
        </p:nvSpPr>
        <p:spPr>
          <a:xfrm>
            <a:off x="1188720" y="4251960"/>
            <a:ext cx="9811512" cy="1463040"/>
          </a:xfrm>
          <a:prstGeom prst="rect">
            <a:avLst/>
          </a:prstGeom>
          <a:noFill/>
        </p:spPr>
        <p:txBody>
          <a:bodyPr wrap="square" anchor="t" lIns="25400" rIns="25400" tIns="25400" bIns="25400">
            <a:spAutoFit/>
          </a:bodyPr>
          <a:lstStyle/>
          <a:p>
            <a:pPr algn="ctr">
              <a:lnSpc>
                <a:spcPct val="145000"/>
              </a:lnSpc>
              <a:spcBef>
                <a:spcPts val="0"/>
              </a:spcBef>
              <a:spcAft>
                <a:spcPts val="200"/>
              </a:spcAft>
            </a:pPr>
            <a:r>
              <a:rPr sz="1400" b="0" i="0">
                <a:solidFill>
                  <a:srgbClr val="BBCCDD"/>
                </a:solidFill>
                <a:latin typeface="Calibri"/>
                <a:ea typeface="Microsoft YaHei"/>
              </a:rPr>
              <a:t>Light as electromagnetic waves · Spectroscopy
Atomic &amp; molecular energy levels · Historical development
Key parameters · Beer–Lambert law · Eight technique families</a:t>
            </a:r>
          </a:p>
        </p:txBody>
      </p:sp>
      <p:sp>
        <p:nvSpPr>
          <p:cNvPr id="9" name="TextBox 8"/>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3 / 63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1 · Light as Electromagnetic Waves</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1 · Fundamentals of Spectroscopy</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4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Garini et al., 2006 · Prasad et al., 2024</a:t>
            </a:r>
          </a:p>
        </p:txBody>
      </p:sp>
      <p:sp>
        <p:nvSpPr>
          <p:cNvPr id="9" name="Rectangle 8"/>
          <p:cNvSpPr/>
          <p:nvPr/>
        </p:nvSpPr>
        <p:spPr>
          <a:xfrm>
            <a:off x="457200" y="1325880"/>
            <a:ext cx="5605272" cy="32004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605272" cy="6400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444752"/>
            <a:ext cx="5257800" cy="297180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400" b="1" i="0">
                <a:solidFill>
                  <a:srgbClr val="1B2A4A"/>
                </a:solidFill>
                <a:latin typeface="Calibri"/>
                <a:ea typeface="Microsoft YaHei"/>
              </a:rPr>
              <a:t>English</a:t>
            </a:r>
          </a:p>
          <a:p>
            <a:pPr algn="l">
              <a:lnSpc>
                <a:spcPct val="112000"/>
              </a:lnSpc>
              <a:spcBef>
                <a:spcPts val="200"/>
              </a:spcBef>
              <a:spcAft>
                <a:spcPts val="200"/>
              </a:spcAft>
            </a:pPr>
            <a:r>
              <a:rPr sz="1050" b="0" i="0">
                <a:solidFill>
                  <a:srgbClr val="2D2D2D"/>
                </a:solidFill>
                <a:latin typeface="Calibri"/>
                <a:ea typeface="Microsoft YaHei"/>
              </a:rPr>
              <a:t>Wave can be defined as any disturbance made in the medium that propagates through space. Most of the waves require some of the supporting media for propagation. The time dependence of displacement at any single point in the space often oscillates about some equilibrium position. For example, sound waves travel through the medium of air, and disturbance is the small collective displacement of air molecules. Therefore, it has properties of waves such as ocean waves, and light waves have crests and troughs. The distance between two successive crests or troughs is known as wavelength. Frequency can be defined as the number of waves passing from a point in one second. The velocity of light is the product of the wavelength of light and frequency of light. The different colors of light have different frequencies and wavelengths.</a:t>
            </a:r>
          </a:p>
        </p:txBody>
      </p:sp>
      <p:sp>
        <p:nvSpPr>
          <p:cNvPr id="12" name="Rectangle 11"/>
          <p:cNvSpPr/>
          <p:nvPr/>
        </p:nvSpPr>
        <p:spPr>
          <a:xfrm>
            <a:off x="6263640" y="1325880"/>
            <a:ext cx="5468112" cy="32004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68112" cy="64008"/>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444752"/>
            <a:ext cx="5120640" cy="297180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400" b="1" i="0">
                <a:solidFill>
                  <a:srgbClr val="F4A25F"/>
                </a:solidFill>
                <a:latin typeface="Calibri"/>
                <a:ea typeface="Microsoft YaHei"/>
              </a:rPr>
              <a:t>中文</a:t>
            </a:r>
          </a:p>
          <a:p>
            <a:pPr algn="l">
              <a:lnSpc>
                <a:spcPct val="112000"/>
              </a:lnSpc>
              <a:spcBef>
                <a:spcPts val="200"/>
              </a:spcBef>
              <a:spcAft>
                <a:spcPts val="200"/>
              </a:spcAft>
            </a:pPr>
            <a:r>
              <a:rPr sz="1050" b="0" i="0">
                <a:solidFill>
                  <a:srgbClr val="2D2D2D"/>
                </a:solidFill>
                <a:latin typeface="Calibri"/>
                <a:ea typeface="Microsoft YaHei"/>
              </a:rPr>
              <a:t>波可以定义为在空间传播的介质中产生的任何扰动。大多数波需要一些支持介质才能传播。空间中任何单点位移的时间依赖性常常围绕某个平衡位置振荡。例如，声波通过空气介质传播，扰动是空气分子的微小集体位移。因此，它具有海浪等波的性质，光波也有波峰和波谷。两个连续波峰或波谷之间的距离称为波长。频率可以定义为一秒钟内从一点经过的波数。光速是光的波长和光的频率的乘积。不同颜色的光有不同的频率和波长。光可以直线穿过某些物体，但不是所有物体。</a:t>
            </a:r>
          </a:p>
        </p:txBody>
      </p:sp>
      <p:sp>
        <p:nvSpPr>
          <p:cNvPr id="15" name="Rectangle 14"/>
          <p:cNvSpPr/>
          <p:nvPr/>
        </p:nvSpPr>
        <p:spPr>
          <a:xfrm>
            <a:off x="457200" y="4754880"/>
            <a:ext cx="2688336" cy="14630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4754880"/>
            <a:ext cx="2688336" cy="6400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4937760"/>
            <a:ext cx="2414016" cy="45720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1400" b="1" i="0">
                <a:solidFill>
                  <a:srgbClr val="1B2A4A"/>
                </a:solidFill>
                <a:latin typeface="Calibri"/>
                <a:ea typeface="Microsoft YaHei"/>
              </a:rPr>
              <a:t>Crest &amp; Trough</a:t>
            </a:r>
          </a:p>
        </p:txBody>
      </p:sp>
      <p:sp>
        <p:nvSpPr>
          <p:cNvPr id="18" name="TextBox 17"/>
          <p:cNvSpPr txBox="1"/>
          <p:nvPr/>
        </p:nvSpPr>
        <p:spPr>
          <a:xfrm>
            <a:off x="594360" y="5413248"/>
            <a:ext cx="2414016" cy="731520"/>
          </a:xfrm>
          <a:prstGeom prst="rect">
            <a:avLst/>
          </a:prstGeom>
          <a:noFill/>
        </p:spPr>
        <p:txBody>
          <a:bodyPr wrap="square" anchor="t" lIns="25400" rIns="25400" tIns="25400" bIns="25400">
            <a:spAutoFit/>
          </a:bodyPr>
          <a:lstStyle/>
          <a:p>
            <a:pPr algn="ctr">
              <a:lnSpc>
                <a:spcPct val="112000"/>
              </a:lnSpc>
              <a:spcBef>
                <a:spcPts val="0"/>
              </a:spcBef>
              <a:spcAft>
                <a:spcPts val="200"/>
              </a:spcAft>
            </a:pPr>
            <a:r>
              <a:rPr sz="1050" b="0" i="0">
                <a:solidFill>
                  <a:srgbClr val="5A5A5A"/>
                </a:solidFill>
                <a:latin typeface="Calibri"/>
                <a:ea typeface="Microsoft YaHei"/>
              </a:rPr>
              <a:t>波峰与波谷：振荡的最高点和最低点</a:t>
            </a:r>
          </a:p>
        </p:txBody>
      </p:sp>
      <p:sp>
        <p:nvSpPr>
          <p:cNvPr id="19" name="Rectangle 18"/>
          <p:cNvSpPr/>
          <p:nvPr/>
        </p:nvSpPr>
        <p:spPr>
          <a:xfrm>
            <a:off x="3300984" y="4754880"/>
            <a:ext cx="2688336" cy="14630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300984" y="4754880"/>
            <a:ext cx="2688336" cy="6400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38144" y="4937760"/>
            <a:ext cx="2414016" cy="45720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1400" b="1" i="0">
                <a:solidFill>
                  <a:srgbClr val="0096C7"/>
                </a:solidFill>
                <a:latin typeface="Calibri"/>
                <a:ea typeface="Microsoft YaHei"/>
              </a:rPr>
              <a:t>Wavelength  λ</a:t>
            </a:r>
          </a:p>
        </p:txBody>
      </p:sp>
      <p:sp>
        <p:nvSpPr>
          <p:cNvPr id="22" name="TextBox 21"/>
          <p:cNvSpPr txBox="1"/>
          <p:nvPr/>
        </p:nvSpPr>
        <p:spPr>
          <a:xfrm>
            <a:off x="3438144" y="5413248"/>
            <a:ext cx="2414016" cy="731520"/>
          </a:xfrm>
          <a:prstGeom prst="rect">
            <a:avLst/>
          </a:prstGeom>
          <a:noFill/>
        </p:spPr>
        <p:txBody>
          <a:bodyPr wrap="square" anchor="t" lIns="25400" rIns="25400" tIns="25400" bIns="25400">
            <a:spAutoFit/>
          </a:bodyPr>
          <a:lstStyle/>
          <a:p>
            <a:pPr algn="ctr">
              <a:lnSpc>
                <a:spcPct val="112000"/>
              </a:lnSpc>
              <a:spcBef>
                <a:spcPts val="0"/>
              </a:spcBef>
              <a:spcAft>
                <a:spcPts val="200"/>
              </a:spcAft>
            </a:pPr>
            <a:r>
              <a:rPr sz="1050" b="0" i="0">
                <a:solidFill>
                  <a:srgbClr val="5A5A5A"/>
                </a:solidFill>
                <a:latin typeface="Calibri"/>
                <a:ea typeface="Microsoft YaHei"/>
              </a:rPr>
              <a:t>波长：相邻波峰/波谷间距，nm、µm</a:t>
            </a:r>
          </a:p>
        </p:txBody>
      </p:sp>
      <p:sp>
        <p:nvSpPr>
          <p:cNvPr id="23" name="Rectangle 22"/>
          <p:cNvSpPr/>
          <p:nvPr/>
        </p:nvSpPr>
        <p:spPr>
          <a:xfrm>
            <a:off x="6144768" y="4754880"/>
            <a:ext cx="2688336" cy="14630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44768" y="4754880"/>
            <a:ext cx="2688336" cy="64008"/>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81928" y="4937760"/>
            <a:ext cx="2414016" cy="45720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1400" b="1" i="0">
                <a:solidFill>
                  <a:srgbClr val="F4A25F"/>
                </a:solidFill>
                <a:latin typeface="Calibri"/>
                <a:ea typeface="Microsoft YaHei"/>
              </a:rPr>
              <a:t>Frequency  ν</a:t>
            </a:r>
          </a:p>
        </p:txBody>
      </p:sp>
      <p:sp>
        <p:nvSpPr>
          <p:cNvPr id="26" name="TextBox 25"/>
          <p:cNvSpPr txBox="1"/>
          <p:nvPr/>
        </p:nvSpPr>
        <p:spPr>
          <a:xfrm>
            <a:off x="6281928" y="5413248"/>
            <a:ext cx="2414016" cy="731520"/>
          </a:xfrm>
          <a:prstGeom prst="rect">
            <a:avLst/>
          </a:prstGeom>
          <a:noFill/>
        </p:spPr>
        <p:txBody>
          <a:bodyPr wrap="square" anchor="t" lIns="25400" rIns="25400" tIns="25400" bIns="25400">
            <a:spAutoFit/>
          </a:bodyPr>
          <a:lstStyle/>
          <a:p>
            <a:pPr algn="ctr">
              <a:lnSpc>
                <a:spcPct val="112000"/>
              </a:lnSpc>
              <a:spcBef>
                <a:spcPts val="0"/>
              </a:spcBef>
              <a:spcAft>
                <a:spcPts val="200"/>
              </a:spcAft>
            </a:pPr>
            <a:r>
              <a:rPr sz="1050" b="0" i="0">
                <a:solidFill>
                  <a:srgbClr val="5A5A5A"/>
                </a:solidFill>
                <a:latin typeface="Calibri"/>
                <a:ea typeface="Microsoft YaHei"/>
              </a:rPr>
              <a:t>频率：每秒经过一点的波数，单位 Hz</a:t>
            </a:r>
          </a:p>
        </p:txBody>
      </p:sp>
      <p:sp>
        <p:nvSpPr>
          <p:cNvPr id="27" name="Rectangle 26"/>
          <p:cNvSpPr/>
          <p:nvPr/>
        </p:nvSpPr>
        <p:spPr>
          <a:xfrm>
            <a:off x="8988552" y="4754880"/>
            <a:ext cx="2688336" cy="14630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988552" y="4754880"/>
            <a:ext cx="2688336" cy="64008"/>
          </a:xfrm>
          <a:prstGeom prst="rect">
            <a:avLst/>
          </a:prstGeom>
          <a:solidFill>
            <a:srgbClr val="C05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25712" y="4937760"/>
            <a:ext cx="2414016" cy="45720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1400" b="1" i="0">
                <a:solidFill>
                  <a:srgbClr val="C05050"/>
                </a:solidFill>
                <a:latin typeface="Calibri"/>
                <a:ea typeface="Microsoft YaHei"/>
              </a:rPr>
              <a:t>c = λ · ν</a:t>
            </a:r>
          </a:p>
        </p:txBody>
      </p:sp>
      <p:sp>
        <p:nvSpPr>
          <p:cNvPr id="30" name="TextBox 29"/>
          <p:cNvSpPr txBox="1"/>
          <p:nvPr/>
        </p:nvSpPr>
        <p:spPr>
          <a:xfrm>
            <a:off x="9125712" y="5413248"/>
            <a:ext cx="2414016" cy="731520"/>
          </a:xfrm>
          <a:prstGeom prst="rect">
            <a:avLst/>
          </a:prstGeom>
          <a:noFill/>
        </p:spPr>
        <p:txBody>
          <a:bodyPr wrap="square" anchor="t" lIns="25400" rIns="25400" tIns="25400" bIns="25400">
            <a:spAutoFit/>
          </a:bodyPr>
          <a:lstStyle/>
          <a:p>
            <a:pPr algn="ctr">
              <a:lnSpc>
                <a:spcPct val="112000"/>
              </a:lnSpc>
              <a:spcBef>
                <a:spcPts val="0"/>
              </a:spcBef>
              <a:spcAft>
                <a:spcPts val="200"/>
              </a:spcAft>
            </a:pPr>
            <a:r>
              <a:rPr sz="1050" b="0" i="0">
                <a:solidFill>
                  <a:srgbClr val="5A5A5A"/>
                </a:solidFill>
                <a:latin typeface="Calibri"/>
                <a:ea typeface="Microsoft YaHei"/>
              </a:rPr>
              <a:t>光速 = 波长 × 频率</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2 · Spectroscopy</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1 · Fundamentals of Spectroscopy</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5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Garini et al., 2006 · Prasad et al., 2024</a:t>
            </a:r>
          </a:p>
        </p:txBody>
      </p:sp>
      <p:sp>
        <p:nvSpPr>
          <p:cNvPr id="9" name="Rectangle 8"/>
          <p:cNvSpPr/>
          <p:nvPr/>
        </p:nvSpPr>
        <p:spPr>
          <a:xfrm>
            <a:off x="457200" y="1325880"/>
            <a:ext cx="6766560" cy="25146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6766560" cy="6400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444752"/>
            <a:ext cx="6419088" cy="228600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400" b="1" i="0">
                <a:solidFill>
                  <a:srgbClr val="1B2A4A"/>
                </a:solidFill>
                <a:latin typeface="Calibri"/>
                <a:ea typeface="Microsoft YaHei"/>
              </a:rPr>
              <a:t>English</a:t>
            </a:r>
          </a:p>
          <a:p>
            <a:pPr algn="l">
              <a:lnSpc>
                <a:spcPct val="112000"/>
              </a:lnSpc>
              <a:spcBef>
                <a:spcPts val="200"/>
              </a:spcBef>
              <a:spcAft>
                <a:spcPts val="200"/>
              </a:spcAft>
            </a:pPr>
            <a:r>
              <a:rPr sz="1150" b="0" i="0">
                <a:solidFill>
                  <a:srgbClr val="2D2D2D"/>
                </a:solidFill>
                <a:latin typeface="Calibri"/>
                <a:ea typeface="Microsoft YaHei"/>
              </a:rPr>
              <a:t>Spectroscopy is a term that is used to describe different phenomena, and we limit our discussion to optical spectroscopy, mainly in the visible light range. A spectrum is a collection of light intensities at different wavelengths. Spectroscopy, the science of acquiring and explaining the spectral characteristics of matter, is a broad, well established and old science.</a:t>
            </a:r>
          </a:p>
        </p:txBody>
      </p:sp>
      <p:sp>
        <p:nvSpPr>
          <p:cNvPr id="12" name="Rectangle 11"/>
          <p:cNvSpPr/>
          <p:nvPr/>
        </p:nvSpPr>
        <p:spPr>
          <a:xfrm>
            <a:off x="7406640" y="1325880"/>
            <a:ext cx="4325112" cy="25146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06640" y="1325880"/>
            <a:ext cx="4325112" cy="64008"/>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19" y="1444752"/>
            <a:ext cx="3977640" cy="228600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400" b="1" i="0">
                <a:solidFill>
                  <a:srgbClr val="F4A25F"/>
                </a:solidFill>
                <a:latin typeface="Calibri"/>
                <a:ea typeface="Microsoft YaHei"/>
              </a:rPr>
              <a:t>中文</a:t>
            </a:r>
          </a:p>
          <a:p>
            <a:pPr algn="l">
              <a:lnSpc>
                <a:spcPct val="112000"/>
              </a:lnSpc>
              <a:spcBef>
                <a:spcPts val="200"/>
              </a:spcBef>
              <a:spcAft>
                <a:spcPts val="200"/>
              </a:spcAft>
            </a:pPr>
            <a:r>
              <a:rPr sz="1050" b="0" i="0">
                <a:solidFill>
                  <a:srgbClr val="2D2D2D"/>
                </a:solidFill>
                <a:latin typeface="Calibri"/>
                <a:ea typeface="Microsoft YaHei"/>
              </a:rPr>
              <a:t>光谱学是一个用于描述不同现象的术语，我们将讨论限制在光学光谱学上，主要是在可见光范围内。光谱是不同波长的光强度的集合。光谱学是一门获取和解释物质光谱特征的科学，是一门广泛、完善的古老科学。</a:t>
            </a:r>
          </a:p>
        </p:txBody>
      </p:sp>
      <p:sp>
        <p:nvSpPr>
          <p:cNvPr id="15" name="TextBox 14"/>
          <p:cNvSpPr txBox="1"/>
          <p:nvPr/>
        </p:nvSpPr>
        <p:spPr>
          <a:xfrm>
            <a:off x="457200" y="4041648"/>
            <a:ext cx="11247120" cy="3200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300" b="1" i="0">
                <a:solidFill>
                  <a:srgbClr val="0096C7"/>
                </a:solidFill>
                <a:latin typeface="Calibri"/>
                <a:ea typeface="Microsoft YaHei"/>
              </a:rPr>
              <a:t>Historical chain  —  Newton (1666) → Balmer (1885) → Bohr (1913) → Schrödinger (1926)</a:t>
            </a:r>
          </a:p>
        </p:txBody>
      </p:sp>
      <p:sp>
        <p:nvSpPr>
          <p:cNvPr id="16" name="Chevron 15"/>
          <p:cNvSpPr/>
          <p:nvPr/>
        </p:nvSpPr>
        <p:spPr>
          <a:xfrm>
            <a:off x="457200" y="4480560"/>
            <a:ext cx="2212848" cy="1691640"/>
          </a:xfrm>
          <a:prstGeom prst="chevron">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4617720"/>
            <a:ext cx="182880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700" b="1" i="0">
                <a:solidFill>
                  <a:srgbClr val="FFFFFF"/>
                </a:solidFill>
                <a:latin typeface="Calibri"/>
                <a:ea typeface="Microsoft YaHei"/>
              </a:rPr>
              <a:t>1666</a:t>
            </a:r>
          </a:p>
        </p:txBody>
      </p:sp>
      <p:sp>
        <p:nvSpPr>
          <p:cNvPr id="18" name="TextBox 17"/>
          <p:cNvSpPr txBox="1"/>
          <p:nvPr/>
        </p:nvSpPr>
        <p:spPr>
          <a:xfrm>
            <a:off x="658368" y="5029200"/>
            <a:ext cx="1828800" cy="3200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300" b="1" i="0">
                <a:solidFill>
                  <a:srgbClr val="FFFFFF"/>
                </a:solidFill>
                <a:latin typeface="Calibri"/>
                <a:ea typeface="Microsoft YaHei"/>
              </a:rPr>
              <a:t>Newton</a:t>
            </a:r>
          </a:p>
        </p:txBody>
      </p:sp>
      <p:sp>
        <p:nvSpPr>
          <p:cNvPr id="19" name="TextBox 18"/>
          <p:cNvSpPr txBox="1"/>
          <p:nvPr/>
        </p:nvSpPr>
        <p:spPr>
          <a:xfrm>
            <a:off x="658368" y="5376672"/>
            <a:ext cx="1783080" cy="7772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FFFFFF"/>
                </a:solidFill>
                <a:latin typeface="Calibri"/>
                <a:ea typeface="Microsoft YaHei"/>
              </a:rPr>
              <a:t>dispersion of white light into its constituent colours</a:t>
            </a:r>
          </a:p>
        </p:txBody>
      </p:sp>
      <p:sp>
        <p:nvSpPr>
          <p:cNvPr id="20" name="Chevron 19"/>
          <p:cNvSpPr/>
          <p:nvPr/>
        </p:nvSpPr>
        <p:spPr>
          <a:xfrm>
            <a:off x="2752344" y="4480560"/>
            <a:ext cx="2212848" cy="1691640"/>
          </a:xfrm>
          <a:prstGeom prst="chevron">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53512" y="4617720"/>
            <a:ext cx="182880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700" b="1" i="0">
                <a:solidFill>
                  <a:srgbClr val="FFFFFF"/>
                </a:solidFill>
                <a:latin typeface="Calibri"/>
                <a:ea typeface="Microsoft YaHei"/>
              </a:rPr>
              <a:t>1900</a:t>
            </a:r>
          </a:p>
        </p:txBody>
      </p:sp>
      <p:sp>
        <p:nvSpPr>
          <p:cNvPr id="22" name="TextBox 21"/>
          <p:cNvSpPr txBox="1"/>
          <p:nvPr/>
        </p:nvSpPr>
        <p:spPr>
          <a:xfrm>
            <a:off x="2953512" y="5029200"/>
            <a:ext cx="1828800" cy="3200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300" b="1" i="0">
                <a:solidFill>
                  <a:srgbClr val="FFFFFF"/>
                </a:solidFill>
                <a:latin typeface="Calibri"/>
                <a:ea typeface="Microsoft YaHei"/>
              </a:rPr>
              <a:t>Spectrograph</a:t>
            </a:r>
          </a:p>
        </p:txBody>
      </p:sp>
      <p:sp>
        <p:nvSpPr>
          <p:cNvPr id="23" name="TextBox 22"/>
          <p:cNvSpPr txBox="1"/>
          <p:nvPr/>
        </p:nvSpPr>
        <p:spPr>
          <a:xfrm>
            <a:off x="2953512" y="5376672"/>
            <a:ext cx="1783080" cy="7772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FFFFFF"/>
                </a:solidFill>
                <a:latin typeface="Calibri"/>
                <a:ea typeface="Microsoft YaHei"/>
              </a:rPr>
              <a:t>a system for measuring a spectrum, widely used</a:t>
            </a:r>
          </a:p>
        </p:txBody>
      </p:sp>
      <p:sp>
        <p:nvSpPr>
          <p:cNvPr id="24" name="Chevron 23"/>
          <p:cNvSpPr/>
          <p:nvPr/>
        </p:nvSpPr>
        <p:spPr>
          <a:xfrm>
            <a:off x="5047488" y="4480560"/>
            <a:ext cx="2212848" cy="1691640"/>
          </a:xfrm>
          <a:prstGeom prst="chevron">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48655" y="4617720"/>
            <a:ext cx="182880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700" b="1" i="0">
                <a:solidFill>
                  <a:srgbClr val="FFFFFF"/>
                </a:solidFill>
                <a:latin typeface="Calibri"/>
                <a:ea typeface="Microsoft YaHei"/>
              </a:rPr>
              <a:t>1885</a:t>
            </a:r>
          </a:p>
        </p:txBody>
      </p:sp>
      <p:sp>
        <p:nvSpPr>
          <p:cNvPr id="26" name="TextBox 25"/>
          <p:cNvSpPr txBox="1"/>
          <p:nvPr/>
        </p:nvSpPr>
        <p:spPr>
          <a:xfrm>
            <a:off x="5248655" y="5029200"/>
            <a:ext cx="1828800" cy="3200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300" b="1" i="0">
                <a:solidFill>
                  <a:srgbClr val="FFFFFF"/>
                </a:solidFill>
                <a:latin typeface="Calibri"/>
                <a:ea typeface="Microsoft YaHei"/>
              </a:rPr>
              <a:t>Balmer</a:t>
            </a:r>
          </a:p>
        </p:txBody>
      </p:sp>
      <p:sp>
        <p:nvSpPr>
          <p:cNvPr id="27" name="TextBox 26"/>
          <p:cNvSpPr txBox="1"/>
          <p:nvPr/>
        </p:nvSpPr>
        <p:spPr>
          <a:xfrm>
            <a:off x="5248655" y="5376672"/>
            <a:ext cx="1783080" cy="7772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FFFFFF"/>
                </a:solidFill>
                <a:latin typeface="Calibri"/>
                <a:ea typeface="Microsoft YaHei"/>
              </a:rPr>
              <a:t>explained the spectrum of hydrogen</a:t>
            </a:r>
          </a:p>
        </p:txBody>
      </p:sp>
      <p:sp>
        <p:nvSpPr>
          <p:cNvPr id="28" name="Chevron 27"/>
          <p:cNvSpPr/>
          <p:nvPr/>
        </p:nvSpPr>
        <p:spPr>
          <a:xfrm>
            <a:off x="7342631" y="4480560"/>
            <a:ext cx="2212848" cy="1691640"/>
          </a:xfrm>
          <a:prstGeom prst="chevron">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43800" y="4617720"/>
            <a:ext cx="182880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700" b="1" i="0">
                <a:solidFill>
                  <a:srgbClr val="FFFFFF"/>
                </a:solidFill>
                <a:latin typeface="Calibri"/>
                <a:ea typeface="Microsoft YaHei"/>
              </a:rPr>
              <a:t>1913</a:t>
            </a:r>
          </a:p>
        </p:txBody>
      </p:sp>
      <p:sp>
        <p:nvSpPr>
          <p:cNvPr id="30" name="TextBox 29"/>
          <p:cNvSpPr txBox="1"/>
          <p:nvPr/>
        </p:nvSpPr>
        <p:spPr>
          <a:xfrm>
            <a:off x="7543800" y="5029200"/>
            <a:ext cx="1828800" cy="3200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300" b="1" i="0">
                <a:solidFill>
                  <a:srgbClr val="FFFFFF"/>
                </a:solidFill>
                <a:latin typeface="Calibri"/>
                <a:ea typeface="Microsoft YaHei"/>
              </a:rPr>
              <a:t>Bohr</a:t>
            </a:r>
          </a:p>
        </p:txBody>
      </p:sp>
      <p:sp>
        <p:nvSpPr>
          <p:cNvPr id="31" name="TextBox 30"/>
          <p:cNvSpPr txBox="1"/>
          <p:nvPr/>
        </p:nvSpPr>
        <p:spPr>
          <a:xfrm>
            <a:off x="7543800" y="5376672"/>
            <a:ext cx="1783080" cy="7772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FFFFFF"/>
                </a:solidFill>
                <a:latin typeface="Calibri"/>
                <a:ea typeface="Microsoft YaHei"/>
              </a:rPr>
              <a:t>the Bohr model of the atom</a:t>
            </a:r>
          </a:p>
        </p:txBody>
      </p:sp>
      <p:sp>
        <p:nvSpPr>
          <p:cNvPr id="32" name="Chevron 31"/>
          <p:cNvSpPr/>
          <p:nvPr/>
        </p:nvSpPr>
        <p:spPr>
          <a:xfrm>
            <a:off x="9637776" y="4480560"/>
            <a:ext cx="2212848" cy="1691640"/>
          </a:xfrm>
          <a:prstGeom prst="chevron">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38944" y="4617720"/>
            <a:ext cx="182880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700" b="1" i="0">
                <a:solidFill>
                  <a:srgbClr val="FFFFFF"/>
                </a:solidFill>
                <a:latin typeface="Calibri"/>
                <a:ea typeface="Microsoft YaHei"/>
              </a:rPr>
              <a:t>1926</a:t>
            </a:r>
          </a:p>
        </p:txBody>
      </p:sp>
      <p:sp>
        <p:nvSpPr>
          <p:cNvPr id="34" name="TextBox 33"/>
          <p:cNvSpPr txBox="1"/>
          <p:nvPr/>
        </p:nvSpPr>
        <p:spPr>
          <a:xfrm>
            <a:off x="9838944" y="5029200"/>
            <a:ext cx="1828800" cy="3200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300" b="1" i="0">
                <a:solidFill>
                  <a:srgbClr val="FFFFFF"/>
                </a:solidFill>
                <a:latin typeface="Calibri"/>
                <a:ea typeface="Microsoft YaHei"/>
              </a:rPr>
              <a:t>Schrödinger</a:t>
            </a:r>
          </a:p>
        </p:txBody>
      </p:sp>
      <p:sp>
        <p:nvSpPr>
          <p:cNvPr id="35" name="TextBox 34"/>
          <p:cNvSpPr txBox="1"/>
          <p:nvPr/>
        </p:nvSpPr>
        <p:spPr>
          <a:xfrm>
            <a:off x="9838944" y="5376672"/>
            <a:ext cx="1783080" cy="7772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FFFFFF"/>
                </a:solidFill>
                <a:latin typeface="Calibri"/>
                <a:ea typeface="Microsoft YaHei"/>
              </a:rPr>
              <a:t>development of quantum mechanics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3 · The Basic Principle of Spectroscopy</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1 · Fundamentals of Spectroscopy</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6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Garini et al., 2006 · Prasad et al., 2024</a:t>
            </a:r>
          </a:p>
        </p:txBody>
      </p:sp>
      <p:sp>
        <p:nvSpPr>
          <p:cNvPr id="9" name="Rectangle 8"/>
          <p:cNvSpPr/>
          <p:nvPr/>
        </p:nvSpPr>
        <p:spPr>
          <a:xfrm>
            <a:off x="457200" y="1325880"/>
            <a:ext cx="6629400" cy="28803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6629400" cy="6400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444752"/>
            <a:ext cx="6281928" cy="2651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400" b="1" i="0">
                <a:solidFill>
                  <a:srgbClr val="1B2A4A"/>
                </a:solidFill>
                <a:latin typeface="Calibri"/>
                <a:ea typeface="Microsoft YaHei"/>
              </a:rPr>
              <a:t>English</a:t>
            </a:r>
          </a:p>
          <a:p>
            <a:pPr algn="l">
              <a:lnSpc>
                <a:spcPct val="112000"/>
              </a:lnSpc>
              <a:spcBef>
                <a:spcPts val="200"/>
              </a:spcBef>
              <a:spcAft>
                <a:spcPts val="200"/>
              </a:spcAft>
            </a:pPr>
            <a:r>
              <a:rPr sz="1050" b="0" i="0">
                <a:solidFill>
                  <a:srgbClr val="2D2D2D"/>
                </a:solidFill>
                <a:latin typeface="Calibri"/>
                <a:ea typeface="Microsoft YaHei"/>
              </a:rPr>
              <a:t>The structure of atoms and molecules is directly related to spectroscopy. The spectrum is a direct measurement of the energy levels of the detected structure (Fig. 1). Molecules (and atoms) have a specific energy-band structure. In an absorption process (which occurs in both brightfield and fluorescence microscopy), an electron is excited from the ground state to an excited energy band (1 in Fig. 1). In fluorescence, the electron rapidly decays to a meta-stable energy level (2 in Fig. 1). Then, light is emitted when the electron decays back to the ground state (3 in Fig. 1). The energy levels are intrinsic properties of the molecule, and the spectrum, therefore, provides a precise fingerprint of the molecule.</a:t>
            </a:r>
          </a:p>
        </p:txBody>
      </p:sp>
      <p:sp>
        <p:nvSpPr>
          <p:cNvPr id="12" name="Rectangle 11"/>
          <p:cNvSpPr/>
          <p:nvPr/>
        </p:nvSpPr>
        <p:spPr>
          <a:xfrm>
            <a:off x="457200" y="4343400"/>
            <a:ext cx="6629400" cy="19202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4343400"/>
            <a:ext cx="6629400" cy="64008"/>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462272"/>
            <a:ext cx="6281928" cy="16916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300" b="1" i="0">
                <a:solidFill>
                  <a:srgbClr val="F4A25F"/>
                </a:solidFill>
                <a:latin typeface="Calibri"/>
                <a:ea typeface="Microsoft YaHei"/>
              </a:rPr>
              <a:t>中文</a:t>
            </a:r>
          </a:p>
          <a:p>
            <a:pPr algn="l">
              <a:lnSpc>
                <a:spcPct val="112000"/>
              </a:lnSpc>
              <a:spcBef>
                <a:spcPts val="200"/>
              </a:spcBef>
              <a:spcAft>
                <a:spcPts val="200"/>
              </a:spcAft>
            </a:pPr>
            <a:r>
              <a:rPr sz="1000" b="0" i="0">
                <a:solidFill>
                  <a:srgbClr val="2D2D2D"/>
                </a:solidFill>
                <a:latin typeface="Calibri"/>
                <a:ea typeface="Microsoft YaHei"/>
              </a:rPr>
              <a:t>原子和分子的结构与光谱学直接相关。光谱是对所检测结构能级的直接测量（图 1）。分子（和原子）具有特定的能带结构。在吸收过程（明场显微镜和荧光显微镜中都会发生）中，电子从基态激发到激发能带（图 1 中的 1）。在荧光中，电子迅速衰减到亚稳态能级（图 1 中的 2）。然后，当电子衰变回到基态时就会发射光（图 1 中的 3）。能级是分子的固有属性，因此光谱提供了分子的精确指纹。</a:t>
            </a:r>
          </a:p>
        </p:txBody>
      </p:sp>
      <p:sp>
        <p:nvSpPr>
          <p:cNvPr id="15" name="Rectangle 14"/>
          <p:cNvSpPr/>
          <p:nvPr/>
        </p:nvSpPr>
        <p:spPr>
          <a:xfrm>
            <a:off x="7269480" y="1325880"/>
            <a:ext cx="4462272" cy="489204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p1_s4_3.png"/>
          <p:cNvPicPr>
            <a:picLocks noChangeAspect="1"/>
          </p:cNvPicPr>
          <p:nvPr/>
        </p:nvPicPr>
        <p:blipFill>
          <a:blip r:embed="rId2"/>
          <a:stretch>
            <a:fillRect/>
          </a:stretch>
        </p:blipFill>
        <p:spPr>
          <a:xfrm>
            <a:off x="7965633" y="1481328"/>
            <a:ext cx="3069964" cy="2706624"/>
          </a:xfrm>
          <a:prstGeom prst="rect">
            <a:avLst/>
          </a:prstGeom>
        </p:spPr>
      </p:pic>
      <p:sp>
        <p:nvSpPr>
          <p:cNvPr id="17" name="Oval 16"/>
          <p:cNvSpPr/>
          <p:nvPr/>
        </p:nvSpPr>
        <p:spPr>
          <a:xfrm>
            <a:off x="7498079" y="4187952"/>
            <a:ext cx="292608" cy="292608"/>
          </a:xfrm>
          <a:prstGeom prst="ellipse">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Calibri"/>
                <a:ea typeface="Microsoft YaHei"/>
              </a:rPr>
              <a:t>1</a:t>
            </a:r>
          </a:p>
        </p:txBody>
      </p:sp>
      <p:sp>
        <p:nvSpPr>
          <p:cNvPr id="18" name="TextBox 17"/>
          <p:cNvSpPr txBox="1"/>
          <p:nvPr/>
        </p:nvSpPr>
        <p:spPr>
          <a:xfrm>
            <a:off x="7909560" y="4160520"/>
            <a:ext cx="3611880" cy="64008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80" b="0" i="0">
                <a:solidFill>
                  <a:srgbClr val="2D2D2D"/>
                </a:solidFill>
                <a:latin typeface="Calibri"/>
                <a:ea typeface="Microsoft YaHei"/>
              </a:rPr>
              <a:t>Absorption — the electron is excited from the ground state to the excited energy band by absorbing a photon.</a:t>
            </a:r>
          </a:p>
        </p:txBody>
      </p:sp>
      <p:sp>
        <p:nvSpPr>
          <p:cNvPr id="19" name="Oval 18"/>
          <p:cNvSpPr/>
          <p:nvPr/>
        </p:nvSpPr>
        <p:spPr>
          <a:xfrm>
            <a:off x="7498079" y="4846320"/>
            <a:ext cx="292608" cy="292608"/>
          </a:xfrm>
          <a:prstGeom prst="ellipse">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Calibri"/>
                <a:ea typeface="Microsoft YaHei"/>
              </a:rPr>
              <a:t>2</a:t>
            </a:r>
          </a:p>
        </p:txBody>
      </p:sp>
      <p:sp>
        <p:nvSpPr>
          <p:cNvPr id="20" name="TextBox 19"/>
          <p:cNvSpPr txBox="1"/>
          <p:nvPr/>
        </p:nvSpPr>
        <p:spPr>
          <a:xfrm>
            <a:off x="7909560" y="4818888"/>
            <a:ext cx="3611880" cy="64008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80" b="0" i="0">
                <a:solidFill>
                  <a:srgbClr val="2D2D2D"/>
                </a:solidFill>
                <a:latin typeface="Calibri"/>
                <a:ea typeface="Microsoft YaHei"/>
              </a:rPr>
              <a:t>The electron decays rapidly to a meta-stable energy level.</a:t>
            </a:r>
          </a:p>
        </p:txBody>
      </p:sp>
      <p:sp>
        <p:nvSpPr>
          <p:cNvPr id="21" name="Oval 20"/>
          <p:cNvSpPr/>
          <p:nvPr/>
        </p:nvSpPr>
        <p:spPr>
          <a:xfrm>
            <a:off x="7498079" y="5504688"/>
            <a:ext cx="292608" cy="292608"/>
          </a:xfrm>
          <a:prstGeom prst="ellipse">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Calibri"/>
                <a:ea typeface="Microsoft YaHei"/>
              </a:rPr>
              <a:t>3</a:t>
            </a:r>
          </a:p>
        </p:txBody>
      </p:sp>
      <p:sp>
        <p:nvSpPr>
          <p:cNvPr id="22" name="TextBox 21"/>
          <p:cNvSpPr txBox="1"/>
          <p:nvPr/>
        </p:nvSpPr>
        <p:spPr>
          <a:xfrm>
            <a:off x="7909560" y="5477255"/>
            <a:ext cx="3611880" cy="64008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80" b="0" i="0">
                <a:solidFill>
                  <a:srgbClr val="2D2D2D"/>
                </a:solidFill>
                <a:latin typeface="Calibri"/>
                <a:ea typeface="Microsoft YaHei"/>
              </a:rPr>
              <a:t>The electron falls back to the ground state, emitting a photon of lower energy (fluorescence).</a:t>
            </a:r>
          </a:p>
        </p:txBody>
      </p:sp>
      <p:sp>
        <p:nvSpPr>
          <p:cNvPr id="23" name="TextBox 22"/>
          <p:cNvSpPr txBox="1"/>
          <p:nvPr/>
        </p:nvSpPr>
        <p:spPr>
          <a:xfrm>
            <a:off x="7498079" y="5961888"/>
            <a:ext cx="4023360" cy="22860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850" b="0" i="0">
                <a:solidFill>
                  <a:srgbClr val="5A5A5A"/>
                </a:solidFill>
                <a:latin typeface="Calibri"/>
                <a:ea typeface="Microsoft YaHei"/>
              </a:rPr>
              <a:t>FIG. 1. Energy-level diagram of a fluorescent molecule (Garini et al., 2006)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4 · Main Parameters of a Spectrum</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1 · Fundamentals of Spectroscopy</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7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Garini et al., 2006 · Prasad et al., 2024</a:t>
            </a:r>
          </a:p>
        </p:txBody>
      </p:sp>
      <p:sp>
        <p:nvSpPr>
          <p:cNvPr id="9" name="Rectangle 8"/>
          <p:cNvSpPr/>
          <p:nvPr/>
        </p:nvSpPr>
        <p:spPr>
          <a:xfrm>
            <a:off x="457200" y="1325880"/>
            <a:ext cx="6080760" cy="48920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6080760" cy="6400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444752"/>
            <a:ext cx="5733288" cy="46634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400" b="1" i="0">
                <a:solidFill>
                  <a:srgbClr val="1B2A4A"/>
                </a:solidFill>
                <a:latin typeface="Calibri"/>
                <a:ea typeface="Microsoft YaHei"/>
              </a:rPr>
              <a:t>English</a:t>
            </a:r>
          </a:p>
          <a:p>
            <a:pPr algn="l">
              <a:lnSpc>
                <a:spcPct val="105000"/>
              </a:lnSpc>
              <a:spcBef>
                <a:spcPts val="0"/>
              </a:spcBef>
              <a:spcAft>
                <a:spcPts val="600"/>
              </a:spcAft>
            </a:pPr>
            <a:r>
              <a:rPr sz="1200" b="1" i="0">
                <a:solidFill>
                  <a:srgbClr val="1B2A4A"/>
                </a:solidFill>
                <a:latin typeface="Calibri"/>
                <a:ea typeface="Microsoft YaHei"/>
              </a:rPr>
              <a:t>Some of the important characteristics of a spectrum include:</a:t>
            </a:r>
          </a:p>
          <a:p>
            <a:pPr algn="l">
              <a:lnSpc>
                <a:spcPct val="115000"/>
              </a:lnSpc>
              <a:spcBef>
                <a:spcPts val="0"/>
              </a:spcBef>
              <a:spcAft>
                <a:spcPts val="600"/>
              </a:spcAft>
            </a:pPr>
            <a:r>
              <a:rPr sz="1100" b="0" i="0">
                <a:solidFill>
                  <a:srgbClr val="2D2D2D"/>
                </a:solidFill>
                <a:latin typeface="Calibri"/>
                <a:ea typeface="Microsoft YaHei"/>
              </a:rPr>
              <a:t>1.  The spectral resolution determines the closest wavelengths that can be distinguished.</a:t>
            </a:r>
          </a:p>
          <a:p>
            <a:pPr algn="l">
              <a:lnSpc>
                <a:spcPct val="115000"/>
              </a:lnSpc>
              <a:spcBef>
                <a:spcPts val="0"/>
              </a:spcBef>
              <a:spcAft>
                <a:spcPts val="600"/>
              </a:spcAft>
            </a:pPr>
            <a:r>
              <a:rPr sz="1100" b="0" i="0">
                <a:solidFill>
                  <a:srgbClr val="2D2D2D"/>
                </a:solidFill>
                <a:latin typeface="Calibri"/>
                <a:ea typeface="Microsoft YaHei"/>
              </a:rPr>
              <a:t>2.  The spectral range in which spectra can be measured.</a:t>
            </a:r>
          </a:p>
          <a:p>
            <a:pPr algn="l">
              <a:lnSpc>
                <a:spcPct val="115000"/>
              </a:lnSpc>
              <a:spcBef>
                <a:spcPts val="0"/>
              </a:spcBef>
              <a:spcAft>
                <a:spcPts val="200"/>
              </a:spcAft>
            </a:pPr>
            <a:r>
              <a:rPr sz="1100" b="0" i="0">
                <a:solidFill>
                  <a:srgbClr val="2D2D2D"/>
                </a:solidFill>
                <a:latin typeface="Calibri"/>
                <a:ea typeface="Microsoft YaHei"/>
              </a:rPr>
              <a:t>3.  The lowest detectable signal and dynamic range, which defines the smallest measurable signal and the number of distinguishable levels in a given measurement. These parameters also depend on the shape of the measured spectrum. A sharp laser line has a better detectable signal because the energy is concentrated at a single wavelength when compared to a broad spectrum with equal energy which is distributed over a large spectral range.</a:t>
            </a:r>
          </a:p>
        </p:txBody>
      </p:sp>
      <p:sp>
        <p:nvSpPr>
          <p:cNvPr id="12" name="Rectangle 11"/>
          <p:cNvSpPr/>
          <p:nvPr/>
        </p:nvSpPr>
        <p:spPr>
          <a:xfrm>
            <a:off x="6720840" y="1325880"/>
            <a:ext cx="5010912" cy="27432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720840" y="1325880"/>
            <a:ext cx="5010912" cy="64008"/>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03720" y="1444752"/>
            <a:ext cx="4663440" cy="251460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300" b="1" i="0">
                <a:solidFill>
                  <a:srgbClr val="F4A25F"/>
                </a:solidFill>
                <a:latin typeface="Calibri"/>
                <a:ea typeface="Microsoft YaHei"/>
              </a:rPr>
              <a:t>中文</a:t>
            </a:r>
          </a:p>
          <a:p>
            <a:pPr algn="l">
              <a:lnSpc>
                <a:spcPct val="105000"/>
              </a:lnSpc>
              <a:spcBef>
                <a:spcPts val="0"/>
              </a:spcBef>
              <a:spcAft>
                <a:spcPts val="400"/>
              </a:spcAft>
            </a:pPr>
            <a:r>
              <a:rPr sz="1100" b="1" i="0">
                <a:solidFill>
                  <a:srgbClr val="F4A25F"/>
                </a:solidFill>
                <a:latin typeface="Calibri"/>
                <a:ea typeface="Microsoft YaHei"/>
              </a:rPr>
              <a:t>光谱的一些重要特征包括：</a:t>
            </a:r>
          </a:p>
          <a:p>
            <a:pPr algn="l">
              <a:lnSpc>
                <a:spcPct val="115000"/>
              </a:lnSpc>
              <a:spcBef>
                <a:spcPts val="0"/>
              </a:spcBef>
              <a:spcAft>
                <a:spcPts val="300"/>
              </a:spcAft>
            </a:pPr>
            <a:r>
              <a:rPr sz="1050" b="0" i="0">
                <a:solidFill>
                  <a:srgbClr val="2D2D2D"/>
                </a:solidFill>
                <a:latin typeface="Calibri"/>
                <a:ea typeface="Microsoft YaHei"/>
              </a:rPr>
              <a:t>1. 光谱分辨率决定了可以区分的最接近的波长。</a:t>
            </a:r>
          </a:p>
          <a:p>
            <a:pPr algn="l">
              <a:lnSpc>
                <a:spcPct val="115000"/>
              </a:lnSpc>
              <a:spcBef>
                <a:spcPts val="0"/>
              </a:spcBef>
              <a:spcAft>
                <a:spcPts val="300"/>
              </a:spcAft>
            </a:pPr>
            <a:r>
              <a:rPr sz="1050" b="0" i="0">
                <a:solidFill>
                  <a:srgbClr val="2D2D2D"/>
                </a:solidFill>
                <a:latin typeface="Calibri"/>
                <a:ea typeface="Microsoft YaHei"/>
              </a:rPr>
              <a:t>2. 可测量光谱的光谱范围。</a:t>
            </a:r>
          </a:p>
          <a:p>
            <a:pPr algn="l">
              <a:lnSpc>
                <a:spcPct val="115000"/>
              </a:lnSpc>
              <a:spcBef>
                <a:spcPts val="0"/>
              </a:spcBef>
              <a:spcAft>
                <a:spcPts val="200"/>
              </a:spcAft>
            </a:pPr>
            <a:r>
              <a:rPr sz="1050" b="0" i="0">
                <a:solidFill>
                  <a:srgbClr val="2D2D2D"/>
                </a:solidFill>
                <a:latin typeface="Calibri"/>
                <a:ea typeface="Microsoft YaHei"/>
              </a:rPr>
              <a:t>3. 最低可检测信号和动态范围，定义了给定测量中的最小可测量信号和可区分级别的数量。这些参数还取决于测量光谱的形状——尖锐的激光线能量集中在单个波长处，比等能量宽光谱具有更好的可检测信号。</a:t>
            </a:r>
          </a:p>
        </p:txBody>
      </p:sp>
      <p:sp>
        <p:nvSpPr>
          <p:cNvPr id="15" name="Rectangle 14"/>
          <p:cNvSpPr/>
          <p:nvPr/>
        </p:nvSpPr>
        <p:spPr>
          <a:xfrm>
            <a:off x="6720840" y="4251960"/>
            <a:ext cx="5010912" cy="5943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720840" y="4251960"/>
            <a:ext cx="91440" cy="59436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03720" y="4306824"/>
            <a:ext cx="475488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150" b="1" i="0">
                <a:solidFill>
                  <a:srgbClr val="0096C7"/>
                </a:solidFill>
                <a:latin typeface="Calibri"/>
                <a:ea typeface="Microsoft YaHei"/>
              </a:rPr>
              <a:t>Spectral Resolution</a:t>
            </a:r>
          </a:p>
        </p:txBody>
      </p:sp>
      <p:sp>
        <p:nvSpPr>
          <p:cNvPr id="18" name="TextBox 17"/>
          <p:cNvSpPr txBox="1"/>
          <p:nvPr/>
        </p:nvSpPr>
        <p:spPr>
          <a:xfrm>
            <a:off x="6903720" y="4562856"/>
            <a:ext cx="475488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50" b="0" i="0">
                <a:solidFill>
                  <a:srgbClr val="5A5A5A"/>
                </a:solidFill>
                <a:latin typeface="Calibri"/>
                <a:ea typeface="Microsoft YaHei"/>
              </a:rPr>
              <a:t>closest distinguishable wavelengths</a:t>
            </a:r>
          </a:p>
        </p:txBody>
      </p:sp>
      <p:sp>
        <p:nvSpPr>
          <p:cNvPr id="19" name="Rectangle 18"/>
          <p:cNvSpPr/>
          <p:nvPr/>
        </p:nvSpPr>
        <p:spPr>
          <a:xfrm>
            <a:off x="6720840" y="4937760"/>
            <a:ext cx="5010912" cy="5943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720840" y="4937760"/>
            <a:ext cx="91440" cy="5943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03720" y="4992624"/>
            <a:ext cx="475488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150" b="1" i="0">
                <a:solidFill>
                  <a:srgbClr val="1B2A4A"/>
                </a:solidFill>
                <a:latin typeface="Calibri"/>
                <a:ea typeface="Microsoft YaHei"/>
              </a:rPr>
              <a:t>Spectral Range</a:t>
            </a:r>
          </a:p>
        </p:txBody>
      </p:sp>
      <p:sp>
        <p:nvSpPr>
          <p:cNvPr id="22" name="TextBox 21"/>
          <p:cNvSpPr txBox="1"/>
          <p:nvPr/>
        </p:nvSpPr>
        <p:spPr>
          <a:xfrm>
            <a:off x="6903720" y="5248656"/>
            <a:ext cx="475488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50" b="0" i="0">
                <a:solidFill>
                  <a:srgbClr val="5A5A5A"/>
                </a:solidFill>
                <a:latin typeface="Calibri"/>
                <a:ea typeface="Microsoft YaHei"/>
              </a:rPr>
              <a:t>wavelength interval that can be measured</a:t>
            </a:r>
          </a:p>
        </p:txBody>
      </p:sp>
      <p:sp>
        <p:nvSpPr>
          <p:cNvPr id="23" name="Rectangle 22"/>
          <p:cNvSpPr/>
          <p:nvPr/>
        </p:nvSpPr>
        <p:spPr>
          <a:xfrm>
            <a:off x="6720840" y="5623560"/>
            <a:ext cx="5010912" cy="5943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720840" y="5623560"/>
            <a:ext cx="91440" cy="594360"/>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03720" y="5678424"/>
            <a:ext cx="475488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150" b="1" i="0">
                <a:solidFill>
                  <a:srgbClr val="F4A25F"/>
                </a:solidFill>
                <a:latin typeface="Calibri"/>
                <a:ea typeface="Microsoft YaHei"/>
              </a:rPr>
              <a:t>Detectable Signal &amp; Dynamic Range</a:t>
            </a:r>
          </a:p>
        </p:txBody>
      </p:sp>
      <p:sp>
        <p:nvSpPr>
          <p:cNvPr id="26" name="TextBox 25"/>
          <p:cNvSpPr txBox="1"/>
          <p:nvPr/>
        </p:nvSpPr>
        <p:spPr>
          <a:xfrm>
            <a:off x="6903720" y="5934456"/>
            <a:ext cx="475488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50" b="0" i="0">
                <a:solidFill>
                  <a:srgbClr val="5A5A5A"/>
                </a:solidFill>
                <a:latin typeface="Calibri"/>
                <a:ea typeface="Microsoft YaHei"/>
              </a:rPr>
              <a:t>smallest signal · number of distinguishable levels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5 · Historical Developments (17th–19th Century)</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1 · Fundamentals of Spectroscopy</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8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Garini et al., 2006 · Prasad et al., 2024</a:t>
            </a:r>
          </a:p>
        </p:txBody>
      </p:sp>
      <p:sp>
        <p:nvSpPr>
          <p:cNvPr id="9" name="Rectangle 8"/>
          <p:cNvSpPr/>
          <p:nvPr/>
        </p:nvSpPr>
        <p:spPr>
          <a:xfrm>
            <a:off x="457200" y="1325880"/>
            <a:ext cx="11274552" cy="17830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11274552" cy="6400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444752"/>
            <a:ext cx="10927080" cy="155448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400" b="1" i="0">
                <a:solidFill>
                  <a:srgbClr val="1B2A4A"/>
                </a:solidFill>
                <a:latin typeface="Calibri"/>
                <a:ea typeface="Microsoft YaHei"/>
              </a:rPr>
              <a:t>Prism spectroscopy  (17–18th century)</a:t>
            </a:r>
          </a:p>
          <a:p>
            <a:pPr algn="l">
              <a:lnSpc>
                <a:spcPct val="112000"/>
              </a:lnSpc>
              <a:spcBef>
                <a:spcPts val="200"/>
              </a:spcBef>
              <a:spcAft>
                <a:spcPts val="200"/>
              </a:spcAft>
            </a:pPr>
            <a:r>
              <a:rPr sz="1150" b="0" i="0">
                <a:solidFill>
                  <a:srgbClr val="2D2D2D"/>
                </a:solidFill>
                <a:latin typeface="Calibri"/>
                <a:ea typeface="Microsoft YaHei"/>
              </a:rPr>
              <a:t>The earliest observations of spectroscopic phenomena can be traced back to experiments conducted by Isaac Newton in the late 17th century. He demonstrated that white light could be separated into its component colors using a prism, revealing the spectrum of visible light.</a:t>
            </a:r>
          </a:p>
        </p:txBody>
      </p:sp>
      <p:sp>
        <p:nvSpPr>
          <p:cNvPr id="12" name="Rectangle 11"/>
          <p:cNvSpPr/>
          <p:nvPr/>
        </p:nvSpPr>
        <p:spPr>
          <a:xfrm>
            <a:off x="457200" y="4846320"/>
            <a:ext cx="3886200" cy="141732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p1_s6_5.png"/>
          <p:cNvPicPr>
            <a:picLocks noChangeAspect="1"/>
          </p:cNvPicPr>
          <p:nvPr/>
        </p:nvPicPr>
        <p:blipFill>
          <a:blip r:embed="rId2"/>
          <a:stretch>
            <a:fillRect/>
          </a:stretch>
        </p:blipFill>
        <p:spPr>
          <a:xfrm>
            <a:off x="1405010" y="4937759"/>
            <a:ext cx="1990578" cy="1234440"/>
          </a:xfrm>
          <a:prstGeom prst="rect">
            <a:avLst/>
          </a:prstGeom>
        </p:spPr>
      </p:pic>
      <p:sp>
        <p:nvSpPr>
          <p:cNvPr id="14" name="Rectangle 13"/>
          <p:cNvSpPr/>
          <p:nvPr/>
        </p:nvSpPr>
        <p:spPr>
          <a:xfrm>
            <a:off x="4572000" y="4956048"/>
            <a:ext cx="7159752" cy="12801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p1_s6_8.png"/>
          <p:cNvPicPr>
            <a:picLocks noChangeAspect="1"/>
          </p:cNvPicPr>
          <p:nvPr/>
        </p:nvPicPr>
        <p:blipFill>
          <a:blip r:embed="rId3"/>
          <a:stretch>
            <a:fillRect/>
          </a:stretch>
        </p:blipFill>
        <p:spPr>
          <a:xfrm>
            <a:off x="6162007" y="5047488"/>
            <a:ext cx="3979737" cy="1097280"/>
          </a:xfrm>
          <a:prstGeom prst="rect">
            <a:avLst/>
          </a:prstGeom>
        </p:spPr>
      </p:pic>
      <p:sp>
        <p:nvSpPr>
          <p:cNvPr id="16" name="Rectangle 15"/>
          <p:cNvSpPr/>
          <p:nvPr/>
        </p:nvSpPr>
        <p:spPr>
          <a:xfrm>
            <a:off x="457200" y="3310128"/>
            <a:ext cx="11274552" cy="13716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310128"/>
            <a:ext cx="109728" cy="1371600"/>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401568"/>
            <a:ext cx="10881360" cy="12344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400" b="1" i="0">
                <a:solidFill>
                  <a:srgbClr val="F4A25F"/>
                </a:solidFill>
                <a:latin typeface="Calibri"/>
                <a:ea typeface="Microsoft YaHei"/>
              </a:rPr>
              <a:t>Spectral analysis  (19th century)</a:t>
            </a:r>
          </a:p>
          <a:p>
            <a:pPr algn="l">
              <a:lnSpc>
                <a:spcPct val="112000"/>
              </a:lnSpc>
              <a:spcBef>
                <a:spcPts val="200"/>
              </a:spcBef>
              <a:spcAft>
                <a:spcPts val="200"/>
              </a:spcAft>
            </a:pPr>
            <a:r>
              <a:rPr sz="1050" b="0" i="0">
                <a:solidFill>
                  <a:srgbClr val="2D2D2D"/>
                </a:solidFill>
                <a:latin typeface="Calibri"/>
                <a:ea typeface="Microsoft YaHei"/>
              </a:rPr>
              <a:t>In the early 19th century, Joseph von Fraunhofer systematically studied the absorption lines in the solar spectrum; he discovered hundreds of dark lines — Fraunhofer lines — caused by absorption of specific wavelengths by elements in the Sun's atmosphere. Gustav Kirchhoff and Robert Bunsen further advanced the field in the mid-19th century, developing flame emission spectroscopy and laying the foundation for quantitative analysis of chemical elements based on their spectral signatures.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5 · Historical Developments (20th–21st Century)</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1 · Fundamentals of Spectroscopy</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9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Garini et al., 2006 · Prasad et al., 2024</a:t>
            </a:r>
          </a:p>
        </p:txBody>
      </p:sp>
      <p:sp>
        <p:nvSpPr>
          <p:cNvPr id="9" name="Rectangle 8"/>
          <p:cNvSpPr/>
          <p:nvPr/>
        </p:nvSpPr>
        <p:spPr>
          <a:xfrm>
            <a:off x="457200" y="1325880"/>
            <a:ext cx="5532120" cy="3749039"/>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532120" cy="6400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444752"/>
            <a:ext cx="5184648" cy="3520439"/>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350" b="1" i="0">
                <a:solidFill>
                  <a:srgbClr val="1B2A4A"/>
                </a:solidFill>
                <a:latin typeface="Calibri"/>
                <a:ea typeface="Microsoft YaHei"/>
              </a:rPr>
              <a:t>Quantum mechanics and atomic spectra  (Early 20th century)</a:t>
            </a:r>
          </a:p>
          <a:p>
            <a:pPr algn="l">
              <a:lnSpc>
                <a:spcPct val="112000"/>
              </a:lnSpc>
              <a:spcBef>
                <a:spcPts val="200"/>
              </a:spcBef>
              <a:spcAft>
                <a:spcPts val="200"/>
              </a:spcAft>
            </a:pPr>
            <a:r>
              <a:rPr sz="1050" b="0" i="0">
                <a:solidFill>
                  <a:srgbClr val="2D2D2D"/>
                </a:solidFill>
                <a:latin typeface="Calibri"/>
                <a:ea typeface="Microsoft YaHei"/>
              </a:rPr>
              <a:t>The development of quantum mechanics in the early 20th century revolutionized our understanding of atomic structure and spectral lines. Scientists such as Niels Bohr, Max Planck, and Werner Heisenberg formulated theories to explain the discrete energy levels of atoms and the quantized nature of electromagnetic radiation. The Bohr model of the atom, proposed by Niels Bohr in 1913, provided a theoretical framework for understanding atomic spectra and the transitions of electrons between energy levels.</a:t>
            </a:r>
          </a:p>
        </p:txBody>
      </p:sp>
      <p:sp>
        <p:nvSpPr>
          <p:cNvPr id="12" name="Rectangle 11"/>
          <p:cNvSpPr/>
          <p:nvPr/>
        </p:nvSpPr>
        <p:spPr>
          <a:xfrm>
            <a:off x="6199632" y="1325880"/>
            <a:ext cx="5532120" cy="3749039"/>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1325880"/>
            <a:ext cx="5532120" cy="64008"/>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1444752"/>
            <a:ext cx="5184648" cy="3520439"/>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350" b="1" i="0">
                <a:solidFill>
                  <a:srgbClr val="F4A25F"/>
                </a:solidFill>
                <a:latin typeface="Calibri"/>
                <a:ea typeface="Microsoft YaHei"/>
              </a:rPr>
              <a:t>Modern spectroscopic techniques  (20th–21st century)</a:t>
            </a:r>
          </a:p>
          <a:p>
            <a:pPr algn="l">
              <a:lnSpc>
                <a:spcPct val="112000"/>
              </a:lnSpc>
              <a:spcBef>
                <a:spcPts val="200"/>
              </a:spcBef>
              <a:spcAft>
                <a:spcPts val="200"/>
              </a:spcAft>
            </a:pPr>
            <a:r>
              <a:rPr sz="1050" b="0" i="0">
                <a:solidFill>
                  <a:srgbClr val="2D2D2D"/>
                </a:solidFill>
                <a:latin typeface="Calibri"/>
                <a:ea typeface="Microsoft YaHei"/>
              </a:rPr>
              <a:t>Throughout the 20th and 21st centuries, spectroscopic techniques have continued to evolve with technological advancements and instrumentation. Developing techniques such as infrared (IR) spectroscopy, Raman spectroscopy, nuclear magnetic resonance spectroscopy, and X-ray spectroscopy has expanded the range of applications in fields such as chemistry, physics, biology, materials science, and medicine. Innovations in detectors, lasers, optics, and computational methods have enabled higher sensitivity, resolution, and versatility.</a:t>
            </a:r>
          </a:p>
        </p:txBody>
      </p:sp>
      <p:sp>
        <p:nvSpPr>
          <p:cNvPr id="15" name="Rectangle 14"/>
          <p:cNvSpPr/>
          <p:nvPr/>
        </p:nvSpPr>
        <p:spPr>
          <a:xfrm>
            <a:off x="457200" y="5257800"/>
            <a:ext cx="5532120" cy="9601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5257800"/>
            <a:ext cx="5532120" cy="6400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5376672"/>
            <a:ext cx="5184648" cy="7315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1B2A4A"/>
                </a:solidFill>
                <a:latin typeface="Calibri"/>
                <a:ea typeface="Microsoft YaHei"/>
              </a:rPr>
              <a:t>Key People</a:t>
            </a:r>
          </a:p>
          <a:p>
            <a:pPr algn="l">
              <a:lnSpc>
                <a:spcPct val="112000"/>
              </a:lnSpc>
              <a:spcBef>
                <a:spcPts val="200"/>
              </a:spcBef>
              <a:spcAft>
                <a:spcPts val="200"/>
              </a:spcAft>
            </a:pPr>
            <a:r>
              <a:rPr sz="1050" b="0" i="0">
                <a:solidFill>
                  <a:srgbClr val="2D2D2D"/>
                </a:solidFill>
                <a:latin typeface="Calibri"/>
                <a:ea typeface="Microsoft YaHei"/>
              </a:rPr>
              <a:t>Niels Bohr · Max Planck · Werner Heisenberg  —  discrete energy levels &amp; quantized radiation</a:t>
            </a:r>
          </a:p>
        </p:txBody>
      </p:sp>
      <p:sp>
        <p:nvSpPr>
          <p:cNvPr id="18" name="Rectangle 17"/>
          <p:cNvSpPr/>
          <p:nvPr/>
        </p:nvSpPr>
        <p:spPr>
          <a:xfrm>
            <a:off x="6199632" y="5257800"/>
            <a:ext cx="5532120" cy="9601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9632" y="5257800"/>
            <a:ext cx="5532120" cy="64008"/>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2512" y="5376672"/>
            <a:ext cx="5184648" cy="7315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F4A25F"/>
                </a:solidFill>
                <a:latin typeface="Calibri"/>
                <a:ea typeface="Microsoft YaHei"/>
              </a:rPr>
              <a:t>Key Techniques</a:t>
            </a:r>
          </a:p>
          <a:p>
            <a:pPr algn="l">
              <a:lnSpc>
                <a:spcPct val="112000"/>
              </a:lnSpc>
              <a:spcBef>
                <a:spcPts val="200"/>
              </a:spcBef>
              <a:spcAft>
                <a:spcPts val="200"/>
              </a:spcAft>
            </a:pPr>
            <a:r>
              <a:rPr sz="1050" b="0" i="0">
                <a:solidFill>
                  <a:srgbClr val="2D2D2D"/>
                </a:solidFill>
                <a:latin typeface="Calibri"/>
                <a:ea typeface="Microsoft YaHei"/>
              </a:rPr>
              <a:t>IR · Raman · NMR · X-ray spectroscopy  —  higher sensitivity, resolution and versatility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6 · Classification and Types of Major Spectroscopic Techniques</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1 · Absorption &amp; Emission Instrumentation</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10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Garini et al., 2006 · Prasad et al., 2024</a:t>
            </a:r>
          </a:p>
        </p:txBody>
      </p:sp>
      <p:sp>
        <p:nvSpPr>
          <p:cNvPr id="9" name="Rectangle 8"/>
          <p:cNvSpPr/>
          <p:nvPr/>
        </p:nvSpPr>
        <p:spPr>
          <a:xfrm>
            <a:off x="457200" y="1325880"/>
            <a:ext cx="5532120" cy="18288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532120" cy="6400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444752"/>
            <a:ext cx="5184648" cy="160020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300" b="1" i="0">
                <a:solidFill>
                  <a:srgbClr val="1B2A4A"/>
                </a:solidFill>
                <a:latin typeface="Calibri"/>
                <a:ea typeface="Microsoft YaHei"/>
              </a:rPr>
              <a:t>a)  Absorption instrumentation</a:t>
            </a:r>
          </a:p>
          <a:p>
            <a:pPr algn="l">
              <a:lnSpc>
                <a:spcPct val="112000"/>
              </a:lnSpc>
              <a:spcBef>
                <a:spcPts val="200"/>
              </a:spcBef>
              <a:spcAft>
                <a:spcPts val="200"/>
              </a:spcAft>
            </a:pPr>
            <a:r>
              <a:rPr sz="980" b="0" i="0">
                <a:solidFill>
                  <a:srgbClr val="2D2D2D"/>
                </a:solidFill>
                <a:latin typeface="Calibri"/>
                <a:ea typeface="Microsoft YaHei"/>
              </a:rPr>
              <a:t>The radiation from a white source is directed by some guiding device onto the sample, from which it passes through an analyzer, which selects the frequency that reaches the detector at any given time. The signal from the analyzer passes to a recorder synchronized with the analyzer to produce a trace of absorbance as the frequency varies. A modulator is often placed between the sample and the analyzer to manipulate the properties of light and extract specific information from a sample.</a:t>
            </a:r>
          </a:p>
        </p:txBody>
      </p:sp>
      <p:sp>
        <p:nvSpPr>
          <p:cNvPr id="12" name="Rectangle 11"/>
          <p:cNvSpPr/>
          <p:nvPr/>
        </p:nvSpPr>
        <p:spPr>
          <a:xfrm>
            <a:off x="457200" y="3310128"/>
            <a:ext cx="5532120" cy="2907792"/>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p1_s8_5.png"/>
          <p:cNvPicPr>
            <a:picLocks noChangeAspect="1"/>
          </p:cNvPicPr>
          <p:nvPr/>
        </p:nvPicPr>
        <p:blipFill>
          <a:blip r:embed="rId2"/>
          <a:stretch>
            <a:fillRect/>
          </a:stretch>
        </p:blipFill>
        <p:spPr>
          <a:xfrm>
            <a:off x="548640" y="3567175"/>
            <a:ext cx="5349240" cy="2393697"/>
          </a:xfrm>
          <a:prstGeom prst="rect">
            <a:avLst/>
          </a:prstGeom>
        </p:spPr>
      </p:pic>
      <p:sp>
        <p:nvSpPr>
          <p:cNvPr id="14" name="Rectangle 13"/>
          <p:cNvSpPr/>
          <p:nvPr/>
        </p:nvSpPr>
        <p:spPr>
          <a:xfrm>
            <a:off x="6199632" y="1325880"/>
            <a:ext cx="5532120" cy="18288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99632" y="1325880"/>
            <a:ext cx="5532120" cy="64008"/>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1444752"/>
            <a:ext cx="5184648" cy="160020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300" b="1" i="0">
                <a:solidFill>
                  <a:srgbClr val="F4A25F"/>
                </a:solidFill>
                <a:latin typeface="Calibri"/>
                <a:ea typeface="Microsoft YaHei"/>
              </a:rPr>
              <a:t>b)  Emission instrument</a:t>
            </a:r>
          </a:p>
          <a:p>
            <a:pPr algn="l">
              <a:lnSpc>
                <a:spcPct val="112000"/>
              </a:lnSpc>
              <a:spcBef>
                <a:spcPts val="200"/>
              </a:spcBef>
              <a:spcAft>
                <a:spcPts val="200"/>
              </a:spcAft>
            </a:pPr>
            <a:r>
              <a:rPr sz="980" b="0" i="0">
                <a:solidFill>
                  <a:srgbClr val="2D2D2D"/>
                </a:solidFill>
                <a:latin typeface="Calibri"/>
                <a:ea typeface="Microsoft YaHei"/>
              </a:rPr>
              <a:t>Emission instrumentation refers to the devices and systems used to measure the emission spectra of atoms, molecules, or ions. Many instruments are developed based on the emission mechanism, such as atomic emission spectroscopy, optical emission spectroscopy, inductively coupled plasma emission spectroscopy, laser-induced breakdown spectroscopy, and fluorescence spectroscopy.</a:t>
            </a:r>
          </a:p>
        </p:txBody>
      </p:sp>
      <p:sp>
        <p:nvSpPr>
          <p:cNvPr id="17" name="Rectangle 16"/>
          <p:cNvSpPr/>
          <p:nvPr/>
        </p:nvSpPr>
        <p:spPr>
          <a:xfrm>
            <a:off x="6199632" y="3310128"/>
            <a:ext cx="5532120" cy="2907792"/>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p1_s8_8.png"/>
          <p:cNvPicPr>
            <a:picLocks noChangeAspect="1"/>
          </p:cNvPicPr>
          <p:nvPr/>
        </p:nvPicPr>
        <p:blipFill>
          <a:blip r:embed="rId3"/>
          <a:stretch>
            <a:fillRect/>
          </a:stretch>
        </p:blipFill>
        <p:spPr>
          <a:xfrm>
            <a:off x="6291072" y="3609162"/>
            <a:ext cx="5349240" cy="230972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Figures from the Literature · Inside a UV-Vis Spectrometer</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1 · Absorption Spectroscopy Instrumentation</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11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Prasad et al., 2024</a:t>
            </a:r>
          </a:p>
        </p:txBody>
      </p:sp>
      <p:sp>
        <p:nvSpPr>
          <p:cNvPr id="9" name="Rectangle 8"/>
          <p:cNvSpPr/>
          <p:nvPr/>
        </p:nvSpPr>
        <p:spPr>
          <a:xfrm>
            <a:off x="1005840" y="1371600"/>
            <a:ext cx="10177272" cy="406908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_uvvis_schematic.png"/>
          <p:cNvPicPr>
            <a:picLocks noChangeAspect="1"/>
          </p:cNvPicPr>
          <p:nvPr/>
        </p:nvPicPr>
        <p:blipFill>
          <a:blip r:embed="rId2"/>
          <a:stretch>
            <a:fillRect/>
          </a:stretch>
        </p:blipFill>
        <p:spPr>
          <a:xfrm>
            <a:off x="1441701" y="1463040"/>
            <a:ext cx="9305549" cy="3886200"/>
          </a:xfrm>
          <a:prstGeom prst="rect">
            <a:avLst/>
          </a:prstGeom>
        </p:spPr>
      </p:pic>
      <p:sp>
        <p:nvSpPr>
          <p:cNvPr id="11" name="TextBox 10"/>
          <p:cNvSpPr txBox="1"/>
          <p:nvPr/>
        </p:nvSpPr>
        <p:spPr>
          <a:xfrm>
            <a:off x="1005840" y="5486400"/>
            <a:ext cx="10177272" cy="777240"/>
          </a:xfrm>
          <a:prstGeom prst="rect">
            <a:avLst/>
          </a:prstGeom>
          <a:noFill/>
        </p:spPr>
        <p:txBody>
          <a:bodyPr wrap="square" anchor="t" lIns="25400" rIns="25400" tIns="25400" bIns="25400">
            <a:spAutoFit/>
          </a:bodyPr>
          <a:lstStyle/>
          <a:p>
            <a:pPr algn="ctr">
              <a:lnSpc>
                <a:spcPct val="108000"/>
              </a:lnSpc>
              <a:spcBef>
                <a:spcPts val="0"/>
              </a:spcBef>
              <a:spcAft>
                <a:spcPts val="200"/>
              </a:spcAft>
            </a:pPr>
            <a:r>
              <a:rPr sz="930" b="0" i="1">
                <a:solidFill>
                  <a:srgbClr val="5A5A5A"/>
                </a:solidFill>
                <a:latin typeface="Calibri"/>
                <a:ea typeface="Microsoft YaHei"/>
              </a:rPr>
              <a:t>Fig. 1. A pictorial representation of UV-Vis spectroscopy: the measured sample absorbs selected wavelengths from the selector, and the detector converts transmitted light into an electric signal. (Prasad et al., 2024)</a:t>
            </a:r>
          </a:p>
        </p:txBody>
      </p:sp>
      <p:sp>
        <p:nvSpPr>
          <p:cNvPr id="12" name="Rectangle 11"/>
          <p:cNvSpPr/>
          <p:nvPr/>
        </p:nvSpPr>
        <p:spPr>
          <a:xfrm>
            <a:off x="1005840" y="6053328"/>
            <a:ext cx="10177272" cy="329184"/>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8720" y="6089904"/>
            <a:ext cx="9784080" cy="274320"/>
          </a:xfrm>
          <a:prstGeom prst="rect">
            <a:avLst/>
          </a:prstGeom>
          <a:noFill/>
        </p:spPr>
        <p:txBody>
          <a:bodyPr wrap="square" anchor="ctr" lIns="25400" rIns="25400" tIns="25400" bIns="25400">
            <a:spAutoFit/>
          </a:bodyPr>
          <a:lstStyle/>
          <a:p>
            <a:pPr algn="ctr">
              <a:lnSpc>
                <a:spcPct val="105000"/>
              </a:lnSpc>
              <a:spcBef>
                <a:spcPts val="0"/>
              </a:spcBef>
              <a:spcAft>
                <a:spcPts val="200"/>
              </a:spcAft>
            </a:pPr>
            <a:r>
              <a:rPr sz="1050" b="1" i="0">
                <a:solidFill>
                  <a:srgbClr val="1B2A4A"/>
                </a:solidFill>
                <a:latin typeface="Calibri"/>
                <a:ea typeface="Microsoft YaHei"/>
              </a:rPr>
              <a:t>Common chain of every absorption instrument:  light source  →  wavelength selector  →  sample  →  detector  →  readout / computer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7 · Measurement Principles of Absorption and Emission Spectra</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1 · Fundamentals of Spectroscopy</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12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Garini et al., 2006 · Prasad et al., 2024</a:t>
            </a:r>
          </a:p>
        </p:txBody>
      </p:sp>
      <p:sp>
        <p:nvSpPr>
          <p:cNvPr id="9" name="Rectangle 8"/>
          <p:cNvSpPr/>
          <p:nvPr/>
        </p:nvSpPr>
        <p:spPr>
          <a:xfrm>
            <a:off x="457200" y="1325880"/>
            <a:ext cx="6309360" cy="26974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109728" cy="269748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1463040"/>
            <a:ext cx="5943600" cy="251460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350" b="1" i="0">
                <a:solidFill>
                  <a:srgbClr val="1B2A4A"/>
                </a:solidFill>
                <a:latin typeface="Calibri"/>
                <a:ea typeface="Microsoft YaHei"/>
              </a:rPr>
              <a:t>Absorption spectra — Beer–Lambert's law</a:t>
            </a:r>
          </a:p>
          <a:p>
            <a:pPr algn="l">
              <a:lnSpc>
                <a:spcPct val="112000"/>
              </a:lnSpc>
              <a:spcBef>
                <a:spcPts val="300"/>
              </a:spcBef>
              <a:spcAft>
                <a:spcPts val="200"/>
              </a:spcAft>
            </a:pPr>
            <a:r>
              <a:rPr sz="1030" b="0" i="0">
                <a:solidFill>
                  <a:srgbClr val="2D2D2D"/>
                </a:solidFill>
                <a:latin typeface="Calibri"/>
                <a:ea typeface="Microsoft YaHei"/>
              </a:rPr>
              <a:t>In optical spectroscopy, the absorption of light by a sample is typically described by Beer-Lambert's law: the absorbance of light is proportional to the concentration of the absorbing species, the path length of the light through the sample, and the molar absorptivity of the species at a given wavelength. By measuring absorbance at different wavelengths, one obtains an absorption spectrum revealing the characteristic absorption bands or peaks associated with specific molecular or electronic transitions.</a:t>
            </a:r>
          </a:p>
          <a:p>
            <a:pPr algn="ctr">
              <a:lnSpc>
                <a:spcPct val="105000"/>
              </a:lnSpc>
              <a:spcBef>
                <a:spcPts val="500"/>
              </a:spcBef>
              <a:spcAft>
                <a:spcPts val="200"/>
              </a:spcAft>
            </a:pPr>
            <a:r>
              <a:rPr sz="1600" b="1" i="0">
                <a:solidFill>
                  <a:srgbClr val="0096C7"/>
                </a:solidFill>
                <a:latin typeface="Calibri"/>
                <a:ea typeface="Microsoft YaHei"/>
              </a:rPr>
              <a:t>A = ε · c · l</a:t>
            </a:r>
          </a:p>
        </p:txBody>
      </p:sp>
      <p:sp>
        <p:nvSpPr>
          <p:cNvPr id="12" name="Rectangle 11"/>
          <p:cNvSpPr/>
          <p:nvPr/>
        </p:nvSpPr>
        <p:spPr>
          <a:xfrm>
            <a:off x="457200" y="4206240"/>
            <a:ext cx="6309360" cy="20116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4206240"/>
            <a:ext cx="109728" cy="2011680"/>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4334256"/>
            <a:ext cx="5943600" cy="182880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350" b="1" i="0">
                <a:solidFill>
                  <a:srgbClr val="F4A25F"/>
                </a:solidFill>
                <a:latin typeface="Calibri"/>
                <a:ea typeface="Microsoft YaHei"/>
              </a:rPr>
              <a:t>Emission spectra — fluorescence &amp; phosphorescence</a:t>
            </a:r>
          </a:p>
          <a:p>
            <a:pPr algn="l">
              <a:lnSpc>
                <a:spcPct val="112000"/>
              </a:lnSpc>
              <a:spcBef>
                <a:spcPts val="300"/>
              </a:spcBef>
              <a:spcAft>
                <a:spcPts val="200"/>
              </a:spcAft>
            </a:pPr>
            <a:r>
              <a:rPr sz="1030" b="0" i="0">
                <a:solidFill>
                  <a:srgbClr val="2D2D2D"/>
                </a:solidFill>
                <a:latin typeface="Calibri"/>
                <a:ea typeface="Microsoft YaHei"/>
              </a:rPr>
              <a:t>In emission spectroscopy, the intensity of light emitted is measured. This light, which may occur instantaneously or with a delay, contains information about the energy levels, electronic states, and chemical environment of the emitting species. The two main types are fluorescence and phosphorescence spectroscopy, distinguished by their respective mechanisms of excited-state relaxation and lifetime.</a:t>
            </a:r>
          </a:p>
        </p:txBody>
      </p:sp>
      <p:sp>
        <p:nvSpPr>
          <p:cNvPr id="15" name="Rectangle 14"/>
          <p:cNvSpPr/>
          <p:nvPr/>
        </p:nvSpPr>
        <p:spPr>
          <a:xfrm>
            <a:off x="6967728" y="1325880"/>
            <a:ext cx="4764024" cy="342900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p1_s9_1026.png"/>
          <p:cNvPicPr>
            <a:picLocks noChangeAspect="1"/>
          </p:cNvPicPr>
          <p:nvPr/>
        </p:nvPicPr>
        <p:blipFill>
          <a:blip r:embed="rId2"/>
          <a:stretch>
            <a:fillRect/>
          </a:stretch>
        </p:blipFill>
        <p:spPr>
          <a:xfrm>
            <a:off x="7183920" y="1417320"/>
            <a:ext cx="4331639" cy="3246120"/>
          </a:xfrm>
          <a:prstGeom prst="rect">
            <a:avLst/>
          </a:prstGeom>
        </p:spPr>
      </p:pic>
      <p:sp>
        <p:nvSpPr>
          <p:cNvPr id="17" name="TextBox 16"/>
          <p:cNvSpPr txBox="1"/>
          <p:nvPr/>
        </p:nvSpPr>
        <p:spPr>
          <a:xfrm>
            <a:off x="6967728" y="4800600"/>
            <a:ext cx="4764024" cy="22860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950" b="0" i="0">
                <a:solidFill>
                  <a:srgbClr val="5A5A5A"/>
                </a:solidFill>
                <a:latin typeface="Calibri"/>
                <a:ea typeface="Microsoft YaHei"/>
              </a:rPr>
              <a:t>Absorbance and fluorescence vs. wavelength</a:t>
            </a:r>
          </a:p>
        </p:txBody>
      </p:sp>
      <p:sp>
        <p:nvSpPr>
          <p:cNvPr id="18" name="Rectangle 17"/>
          <p:cNvSpPr/>
          <p:nvPr/>
        </p:nvSpPr>
        <p:spPr>
          <a:xfrm>
            <a:off x="6967728" y="5120640"/>
            <a:ext cx="4764024" cy="10972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67728" y="5120640"/>
            <a:ext cx="109728" cy="109728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60" y="5230368"/>
            <a:ext cx="4434840" cy="91440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150" b="1" i="0">
                <a:solidFill>
                  <a:srgbClr val="0096C7"/>
                </a:solidFill>
                <a:latin typeface="Calibri"/>
                <a:ea typeface="Microsoft YaHei"/>
              </a:rPr>
              <a:t>Emission may be instantaneous or delayed</a:t>
            </a:r>
          </a:p>
          <a:p>
            <a:pPr algn="l">
              <a:lnSpc>
                <a:spcPct val="110000"/>
              </a:lnSpc>
              <a:spcBef>
                <a:spcPts val="200"/>
              </a:spcBef>
              <a:spcAft>
                <a:spcPts val="200"/>
              </a:spcAft>
            </a:pPr>
            <a:r>
              <a:rPr sz="1050" b="0" i="0">
                <a:solidFill>
                  <a:srgbClr val="2D2D2D"/>
                </a:solidFill>
                <a:latin typeface="Calibri"/>
                <a:ea typeface="Microsoft YaHei"/>
              </a:rPr>
              <a:t>fluorescence (fast relaxation) vs. phosphorescence (longer lifetime)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8 · Major Spectroscopic Techniques</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1 · Eight Families of Modern Spectroscopic Methods</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13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Garini et al., 2006 · Prasad et al., 2024</a:t>
            </a:r>
          </a:p>
        </p:txBody>
      </p:sp>
      <p:sp>
        <p:nvSpPr>
          <p:cNvPr id="9" name="Rectangle 8"/>
          <p:cNvSpPr/>
          <p:nvPr/>
        </p:nvSpPr>
        <p:spPr>
          <a:xfrm>
            <a:off x="457200" y="1325880"/>
            <a:ext cx="5532120" cy="10972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91440" cy="109728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21792" y="1627632"/>
            <a:ext cx="475488" cy="475488"/>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i="0">
                <a:solidFill>
                  <a:srgbClr val="FFFFFF"/>
                </a:solidFill>
                <a:latin typeface="Calibri"/>
                <a:ea typeface="Microsoft YaHei"/>
              </a:rPr>
              <a:t>1</a:t>
            </a:r>
          </a:p>
        </p:txBody>
      </p:sp>
      <p:sp>
        <p:nvSpPr>
          <p:cNvPr id="12" name="TextBox 11"/>
          <p:cNvSpPr txBox="1"/>
          <p:nvPr/>
        </p:nvSpPr>
        <p:spPr>
          <a:xfrm>
            <a:off x="1261872" y="1463039"/>
            <a:ext cx="457200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1B2A4A"/>
                </a:solidFill>
                <a:latin typeface="Calibri"/>
                <a:ea typeface="Microsoft YaHei"/>
              </a:rPr>
              <a:t>光学光谱  Optical Spectroscopy</a:t>
            </a:r>
          </a:p>
        </p:txBody>
      </p:sp>
      <p:sp>
        <p:nvSpPr>
          <p:cNvPr id="13" name="TextBox 12"/>
          <p:cNvSpPr txBox="1"/>
          <p:nvPr/>
        </p:nvSpPr>
        <p:spPr>
          <a:xfrm>
            <a:off x="1261872" y="1828800"/>
            <a:ext cx="4617720" cy="548640"/>
          </a:xfrm>
          <a:prstGeom prst="rect">
            <a:avLst/>
          </a:prstGeom>
          <a:noFill/>
        </p:spPr>
        <p:txBody>
          <a:bodyPr wrap="square" anchor="t" lIns="25400" rIns="25400" tIns="25400" bIns="25400">
            <a:spAutoFit/>
          </a:bodyPr>
          <a:lstStyle/>
          <a:p>
            <a:pPr algn="l">
              <a:lnSpc>
                <a:spcPct val="108000"/>
              </a:lnSpc>
              <a:spcBef>
                <a:spcPts val="0"/>
              </a:spcBef>
              <a:spcAft>
                <a:spcPts val="200"/>
              </a:spcAft>
            </a:pPr>
            <a:r>
              <a:rPr sz="1030" b="0" i="0">
                <a:solidFill>
                  <a:srgbClr val="2D2D2D"/>
                </a:solidFill>
                <a:latin typeface="Calibri"/>
                <a:ea typeface="Microsoft YaHei"/>
              </a:rPr>
              <a:t>UV-Vis 紫外-可见 ｜ UPS 紫外光电子能谱 ｜ 荧光光谱 Fluorescence</a:t>
            </a:r>
          </a:p>
        </p:txBody>
      </p:sp>
      <p:sp>
        <p:nvSpPr>
          <p:cNvPr id="14" name="Rectangle 13"/>
          <p:cNvSpPr/>
          <p:nvPr/>
        </p:nvSpPr>
        <p:spPr>
          <a:xfrm>
            <a:off x="6199632" y="1325880"/>
            <a:ext cx="5532120" cy="10972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99632" y="1325880"/>
            <a:ext cx="91440" cy="109728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64224" y="1627632"/>
            <a:ext cx="475488" cy="475488"/>
          </a:xfrm>
          <a:prstGeom prst="ellipse">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i="0">
                <a:solidFill>
                  <a:srgbClr val="FFFFFF"/>
                </a:solidFill>
                <a:latin typeface="Calibri"/>
                <a:ea typeface="Microsoft YaHei"/>
              </a:rPr>
              <a:t>2</a:t>
            </a:r>
          </a:p>
        </p:txBody>
      </p:sp>
      <p:sp>
        <p:nvSpPr>
          <p:cNvPr id="17" name="TextBox 16"/>
          <p:cNvSpPr txBox="1"/>
          <p:nvPr/>
        </p:nvSpPr>
        <p:spPr>
          <a:xfrm>
            <a:off x="7004304" y="1463039"/>
            <a:ext cx="457200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1B2A4A"/>
                </a:solidFill>
                <a:latin typeface="Calibri"/>
                <a:ea typeface="Microsoft YaHei"/>
              </a:rPr>
              <a:t>振动光谱  Vibrational Spectroscopy</a:t>
            </a:r>
          </a:p>
        </p:txBody>
      </p:sp>
      <p:sp>
        <p:nvSpPr>
          <p:cNvPr id="18" name="TextBox 17"/>
          <p:cNvSpPr txBox="1"/>
          <p:nvPr/>
        </p:nvSpPr>
        <p:spPr>
          <a:xfrm>
            <a:off x="7004304" y="1828800"/>
            <a:ext cx="4617720" cy="548640"/>
          </a:xfrm>
          <a:prstGeom prst="rect">
            <a:avLst/>
          </a:prstGeom>
          <a:noFill/>
        </p:spPr>
        <p:txBody>
          <a:bodyPr wrap="square" anchor="t" lIns="25400" rIns="25400" tIns="25400" bIns="25400">
            <a:spAutoFit/>
          </a:bodyPr>
          <a:lstStyle/>
          <a:p>
            <a:pPr algn="l">
              <a:lnSpc>
                <a:spcPct val="108000"/>
              </a:lnSpc>
              <a:spcBef>
                <a:spcPts val="0"/>
              </a:spcBef>
              <a:spcAft>
                <a:spcPts val="200"/>
              </a:spcAft>
            </a:pPr>
            <a:r>
              <a:rPr sz="1030" b="0" i="0">
                <a:solidFill>
                  <a:srgbClr val="2D2D2D"/>
                </a:solidFill>
                <a:latin typeface="Calibri"/>
                <a:ea typeface="Microsoft YaHei"/>
              </a:rPr>
              <a:t>FT-IR 傅里叶变换红外 ｜ Raman 拉曼 ｜ SERS 表面增强拉曼</a:t>
            </a:r>
          </a:p>
        </p:txBody>
      </p:sp>
      <p:sp>
        <p:nvSpPr>
          <p:cNvPr id="19" name="Rectangle 18"/>
          <p:cNvSpPr/>
          <p:nvPr/>
        </p:nvSpPr>
        <p:spPr>
          <a:xfrm>
            <a:off x="457200" y="2542032"/>
            <a:ext cx="5532120" cy="10972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2542032"/>
            <a:ext cx="91440" cy="1097280"/>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21792" y="2843784"/>
            <a:ext cx="475488" cy="475488"/>
          </a:xfrm>
          <a:prstGeom prst="ellipse">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i="0">
                <a:solidFill>
                  <a:srgbClr val="FFFFFF"/>
                </a:solidFill>
                <a:latin typeface="Calibri"/>
                <a:ea typeface="Microsoft YaHei"/>
              </a:rPr>
              <a:t>3</a:t>
            </a:r>
          </a:p>
        </p:txBody>
      </p:sp>
      <p:sp>
        <p:nvSpPr>
          <p:cNvPr id="22" name="TextBox 21"/>
          <p:cNvSpPr txBox="1"/>
          <p:nvPr/>
        </p:nvSpPr>
        <p:spPr>
          <a:xfrm>
            <a:off x="1261872" y="2679192"/>
            <a:ext cx="457200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1B2A4A"/>
                </a:solidFill>
                <a:latin typeface="Calibri"/>
                <a:ea typeface="Microsoft YaHei"/>
              </a:rPr>
              <a:t>电子光谱  Electron Spectroscopy</a:t>
            </a:r>
          </a:p>
        </p:txBody>
      </p:sp>
      <p:sp>
        <p:nvSpPr>
          <p:cNvPr id="23" name="TextBox 22"/>
          <p:cNvSpPr txBox="1"/>
          <p:nvPr/>
        </p:nvSpPr>
        <p:spPr>
          <a:xfrm>
            <a:off x="1261872" y="3044952"/>
            <a:ext cx="4617720" cy="548640"/>
          </a:xfrm>
          <a:prstGeom prst="rect">
            <a:avLst/>
          </a:prstGeom>
          <a:noFill/>
        </p:spPr>
        <p:txBody>
          <a:bodyPr wrap="square" anchor="t" lIns="25400" rIns="25400" tIns="25400" bIns="25400">
            <a:spAutoFit/>
          </a:bodyPr>
          <a:lstStyle/>
          <a:p>
            <a:pPr algn="l">
              <a:lnSpc>
                <a:spcPct val="108000"/>
              </a:lnSpc>
              <a:spcBef>
                <a:spcPts val="0"/>
              </a:spcBef>
              <a:spcAft>
                <a:spcPts val="200"/>
              </a:spcAft>
            </a:pPr>
            <a:r>
              <a:rPr sz="1030" b="0" i="0">
                <a:solidFill>
                  <a:srgbClr val="2D2D2D"/>
                </a:solidFill>
                <a:latin typeface="Calibri"/>
                <a:ea typeface="Microsoft YaHei"/>
              </a:rPr>
              <a:t>XPS X射线光电子能谱 ｜ AES 俄歇电子能谱 ｜ EELS 电子能量损失谱</a:t>
            </a:r>
          </a:p>
        </p:txBody>
      </p:sp>
      <p:sp>
        <p:nvSpPr>
          <p:cNvPr id="24" name="Rectangle 23"/>
          <p:cNvSpPr/>
          <p:nvPr/>
        </p:nvSpPr>
        <p:spPr>
          <a:xfrm>
            <a:off x="6199632" y="2542032"/>
            <a:ext cx="5532120" cy="10972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9632" y="2542032"/>
            <a:ext cx="91440" cy="109728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64224" y="2843784"/>
            <a:ext cx="475488" cy="475488"/>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i="0">
                <a:solidFill>
                  <a:srgbClr val="FFFFFF"/>
                </a:solidFill>
                <a:latin typeface="Calibri"/>
                <a:ea typeface="Microsoft YaHei"/>
              </a:rPr>
              <a:t>4</a:t>
            </a:r>
          </a:p>
        </p:txBody>
      </p:sp>
      <p:sp>
        <p:nvSpPr>
          <p:cNvPr id="27" name="TextBox 26"/>
          <p:cNvSpPr txBox="1"/>
          <p:nvPr/>
        </p:nvSpPr>
        <p:spPr>
          <a:xfrm>
            <a:off x="7004304" y="2679192"/>
            <a:ext cx="457200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1B2A4A"/>
                </a:solidFill>
                <a:latin typeface="Calibri"/>
                <a:ea typeface="Microsoft YaHei"/>
              </a:rPr>
              <a:t>磁共振光谱  Magnetic Resonance</a:t>
            </a:r>
          </a:p>
        </p:txBody>
      </p:sp>
      <p:sp>
        <p:nvSpPr>
          <p:cNvPr id="28" name="TextBox 27"/>
          <p:cNvSpPr txBox="1"/>
          <p:nvPr/>
        </p:nvSpPr>
        <p:spPr>
          <a:xfrm>
            <a:off x="7004304" y="3044952"/>
            <a:ext cx="4617720" cy="548640"/>
          </a:xfrm>
          <a:prstGeom prst="rect">
            <a:avLst/>
          </a:prstGeom>
          <a:noFill/>
        </p:spPr>
        <p:txBody>
          <a:bodyPr wrap="square" anchor="t" lIns="25400" rIns="25400" tIns="25400" bIns="25400">
            <a:spAutoFit/>
          </a:bodyPr>
          <a:lstStyle/>
          <a:p>
            <a:pPr algn="l">
              <a:lnSpc>
                <a:spcPct val="108000"/>
              </a:lnSpc>
              <a:spcBef>
                <a:spcPts val="0"/>
              </a:spcBef>
              <a:spcAft>
                <a:spcPts val="200"/>
              </a:spcAft>
            </a:pPr>
            <a:r>
              <a:rPr sz="1030" b="0" i="0">
                <a:solidFill>
                  <a:srgbClr val="2D2D2D"/>
                </a:solidFill>
                <a:latin typeface="Calibri"/>
                <a:ea typeface="Microsoft YaHei"/>
              </a:rPr>
              <a:t>NMR 核磁共振 ｜ FMR 铁磁共振</a:t>
            </a:r>
          </a:p>
        </p:txBody>
      </p:sp>
      <p:sp>
        <p:nvSpPr>
          <p:cNvPr id="29" name="Rectangle 28"/>
          <p:cNvSpPr/>
          <p:nvPr/>
        </p:nvSpPr>
        <p:spPr>
          <a:xfrm>
            <a:off x="457200" y="3758184"/>
            <a:ext cx="5532120" cy="10972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3758184"/>
            <a:ext cx="91440" cy="109728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21792" y="4059936"/>
            <a:ext cx="475488" cy="475488"/>
          </a:xfrm>
          <a:prstGeom prst="ellipse">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i="0">
                <a:solidFill>
                  <a:srgbClr val="FFFFFF"/>
                </a:solidFill>
                <a:latin typeface="Calibri"/>
                <a:ea typeface="Microsoft YaHei"/>
              </a:rPr>
              <a:t>5</a:t>
            </a:r>
          </a:p>
        </p:txBody>
      </p:sp>
      <p:sp>
        <p:nvSpPr>
          <p:cNvPr id="32" name="TextBox 31"/>
          <p:cNvSpPr txBox="1"/>
          <p:nvPr/>
        </p:nvSpPr>
        <p:spPr>
          <a:xfrm>
            <a:off x="1261872" y="3895344"/>
            <a:ext cx="457200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1B2A4A"/>
                </a:solidFill>
                <a:latin typeface="Calibri"/>
                <a:ea typeface="Microsoft YaHei"/>
              </a:rPr>
              <a:t>质谱  Mass Spectrometry</a:t>
            </a:r>
          </a:p>
        </p:txBody>
      </p:sp>
      <p:sp>
        <p:nvSpPr>
          <p:cNvPr id="33" name="TextBox 32"/>
          <p:cNvSpPr txBox="1"/>
          <p:nvPr/>
        </p:nvSpPr>
        <p:spPr>
          <a:xfrm>
            <a:off x="1261872" y="4261104"/>
            <a:ext cx="4617720" cy="548640"/>
          </a:xfrm>
          <a:prstGeom prst="rect">
            <a:avLst/>
          </a:prstGeom>
          <a:noFill/>
        </p:spPr>
        <p:txBody>
          <a:bodyPr wrap="square" anchor="t" lIns="25400" rIns="25400" tIns="25400" bIns="25400">
            <a:spAutoFit/>
          </a:bodyPr>
          <a:lstStyle/>
          <a:p>
            <a:pPr algn="l">
              <a:lnSpc>
                <a:spcPct val="108000"/>
              </a:lnSpc>
              <a:spcBef>
                <a:spcPts val="0"/>
              </a:spcBef>
              <a:spcAft>
                <a:spcPts val="200"/>
              </a:spcAft>
            </a:pPr>
            <a:r>
              <a:rPr sz="1030" b="0" i="0">
                <a:solidFill>
                  <a:srgbClr val="2D2D2D"/>
                </a:solidFill>
                <a:latin typeface="Calibri"/>
                <a:ea typeface="Microsoft YaHei"/>
              </a:rPr>
              <a:t>TOF-MS 飞行时间质谱 ｜ MALDI-MS 基质辅助激光解吸电离质谱</a:t>
            </a:r>
          </a:p>
        </p:txBody>
      </p:sp>
      <p:sp>
        <p:nvSpPr>
          <p:cNvPr id="34" name="Rectangle 33"/>
          <p:cNvSpPr/>
          <p:nvPr/>
        </p:nvSpPr>
        <p:spPr>
          <a:xfrm>
            <a:off x="6199632" y="3758184"/>
            <a:ext cx="5532120" cy="10972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99632" y="3758184"/>
            <a:ext cx="91440" cy="1097280"/>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364224" y="4059936"/>
            <a:ext cx="475488" cy="475488"/>
          </a:xfrm>
          <a:prstGeom prst="ellipse">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i="0">
                <a:solidFill>
                  <a:srgbClr val="FFFFFF"/>
                </a:solidFill>
                <a:latin typeface="Calibri"/>
                <a:ea typeface="Microsoft YaHei"/>
              </a:rPr>
              <a:t>6</a:t>
            </a:r>
          </a:p>
        </p:txBody>
      </p:sp>
      <p:sp>
        <p:nvSpPr>
          <p:cNvPr id="37" name="TextBox 36"/>
          <p:cNvSpPr txBox="1"/>
          <p:nvPr/>
        </p:nvSpPr>
        <p:spPr>
          <a:xfrm>
            <a:off x="7004304" y="3895344"/>
            <a:ext cx="457200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1B2A4A"/>
                </a:solidFill>
                <a:latin typeface="Calibri"/>
                <a:ea typeface="Microsoft YaHei"/>
              </a:rPr>
              <a:t>热光谱  Thermal Analysis</a:t>
            </a:r>
          </a:p>
        </p:txBody>
      </p:sp>
      <p:sp>
        <p:nvSpPr>
          <p:cNvPr id="38" name="TextBox 37"/>
          <p:cNvSpPr txBox="1"/>
          <p:nvPr/>
        </p:nvSpPr>
        <p:spPr>
          <a:xfrm>
            <a:off x="7004304" y="4261104"/>
            <a:ext cx="4617720" cy="548640"/>
          </a:xfrm>
          <a:prstGeom prst="rect">
            <a:avLst/>
          </a:prstGeom>
          <a:noFill/>
        </p:spPr>
        <p:txBody>
          <a:bodyPr wrap="square" anchor="t" lIns="25400" rIns="25400" tIns="25400" bIns="25400">
            <a:spAutoFit/>
          </a:bodyPr>
          <a:lstStyle/>
          <a:p>
            <a:pPr algn="l">
              <a:lnSpc>
                <a:spcPct val="108000"/>
              </a:lnSpc>
              <a:spcBef>
                <a:spcPts val="0"/>
              </a:spcBef>
              <a:spcAft>
                <a:spcPts val="200"/>
              </a:spcAft>
            </a:pPr>
            <a:r>
              <a:rPr sz="1030" b="0" i="0">
                <a:solidFill>
                  <a:srgbClr val="2D2D2D"/>
                </a:solidFill>
                <a:latin typeface="Calibri"/>
                <a:ea typeface="Microsoft YaHei"/>
              </a:rPr>
              <a:t>TGA 热重分析</a:t>
            </a:r>
          </a:p>
        </p:txBody>
      </p:sp>
      <p:sp>
        <p:nvSpPr>
          <p:cNvPr id="39" name="Rectangle 38"/>
          <p:cNvSpPr/>
          <p:nvPr/>
        </p:nvSpPr>
        <p:spPr>
          <a:xfrm>
            <a:off x="457200" y="4974336"/>
            <a:ext cx="5532120" cy="10972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57200" y="4974336"/>
            <a:ext cx="91440" cy="109728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21792" y="5276088"/>
            <a:ext cx="475488" cy="475488"/>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i="0">
                <a:solidFill>
                  <a:srgbClr val="FFFFFF"/>
                </a:solidFill>
                <a:latin typeface="Calibri"/>
                <a:ea typeface="Microsoft YaHei"/>
              </a:rPr>
              <a:t>7</a:t>
            </a:r>
          </a:p>
        </p:txBody>
      </p:sp>
      <p:sp>
        <p:nvSpPr>
          <p:cNvPr id="42" name="TextBox 41"/>
          <p:cNvSpPr txBox="1"/>
          <p:nvPr/>
        </p:nvSpPr>
        <p:spPr>
          <a:xfrm>
            <a:off x="1261872" y="5111496"/>
            <a:ext cx="457200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1B2A4A"/>
                </a:solidFill>
                <a:latin typeface="Calibri"/>
                <a:ea typeface="Microsoft YaHei"/>
              </a:rPr>
              <a:t>光发射光谱  Optical Emission</a:t>
            </a:r>
          </a:p>
        </p:txBody>
      </p:sp>
      <p:sp>
        <p:nvSpPr>
          <p:cNvPr id="43" name="TextBox 42"/>
          <p:cNvSpPr txBox="1"/>
          <p:nvPr/>
        </p:nvSpPr>
        <p:spPr>
          <a:xfrm>
            <a:off x="1261872" y="5477256"/>
            <a:ext cx="4617720" cy="548640"/>
          </a:xfrm>
          <a:prstGeom prst="rect">
            <a:avLst/>
          </a:prstGeom>
          <a:noFill/>
        </p:spPr>
        <p:txBody>
          <a:bodyPr wrap="square" anchor="t" lIns="25400" rIns="25400" tIns="25400" bIns="25400">
            <a:spAutoFit/>
          </a:bodyPr>
          <a:lstStyle/>
          <a:p>
            <a:pPr algn="l">
              <a:lnSpc>
                <a:spcPct val="108000"/>
              </a:lnSpc>
              <a:spcBef>
                <a:spcPts val="0"/>
              </a:spcBef>
              <a:spcAft>
                <a:spcPts val="200"/>
              </a:spcAft>
            </a:pPr>
            <a:r>
              <a:rPr sz="1030" b="0" i="0">
                <a:solidFill>
                  <a:srgbClr val="2D2D2D"/>
                </a:solidFill>
                <a:latin typeface="Calibri"/>
                <a:ea typeface="Microsoft YaHei"/>
              </a:rPr>
              <a:t>OES 光发射光谱 ｜ ICP-OES 电感耦合等离子体光发射光谱</a:t>
            </a:r>
          </a:p>
        </p:txBody>
      </p:sp>
      <p:sp>
        <p:nvSpPr>
          <p:cNvPr id="44" name="Rectangle 43"/>
          <p:cNvSpPr/>
          <p:nvPr/>
        </p:nvSpPr>
        <p:spPr>
          <a:xfrm>
            <a:off x="6199632" y="4974336"/>
            <a:ext cx="5532120" cy="10972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199632" y="4974336"/>
            <a:ext cx="91440" cy="109728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364224" y="5276088"/>
            <a:ext cx="475488" cy="475488"/>
          </a:xfrm>
          <a:prstGeom prst="ellipse">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i="0">
                <a:solidFill>
                  <a:srgbClr val="FFFFFF"/>
                </a:solidFill>
                <a:latin typeface="Calibri"/>
                <a:ea typeface="Microsoft YaHei"/>
              </a:rPr>
              <a:t>8</a:t>
            </a:r>
          </a:p>
        </p:txBody>
      </p:sp>
      <p:sp>
        <p:nvSpPr>
          <p:cNvPr id="47" name="TextBox 46"/>
          <p:cNvSpPr txBox="1"/>
          <p:nvPr/>
        </p:nvSpPr>
        <p:spPr>
          <a:xfrm>
            <a:off x="7004304" y="5111496"/>
            <a:ext cx="457200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1B2A4A"/>
                </a:solidFill>
                <a:latin typeface="Calibri"/>
                <a:ea typeface="Microsoft YaHei"/>
              </a:rPr>
              <a:t>其它  Miscellaneous</a:t>
            </a:r>
          </a:p>
        </p:txBody>
      </p:sp>
      <p:sp>
        <p:nvSpPr>
          <p:cNvPr id="48" name="TextBox 47"/>
          <p:cNvSpPr txBox="1"/>
          <p:nvPr/>
        </p:nvSpPr>
        <p:spPr>
          <a:xfrm>
            <a:off x="7004304" y="5477256"/>
            <a:ext cx="4617720" cy="548640"/>
          </a:xfrm>
          <a:prstGeom prst="rect">
            <a:avLst/>
          </a:prstGeom>
          <a:noFill/>
        </p:spPr>
        <p:txBody>
          <a:bodyPr wrap="square" anchor="t" lIns="25400" rIns="25400" tIns="25400" bIns="25400">
            <a:spAutoFit/>
          </a:bodyPr>
          <a:lstStyle/>
          <a:p>
            <a:pPr algn="l">
              <a:lnSpc>
                <a:spcPct val="108000"/>
              </a:lnSpc>
              <a:spcBef>
                <a:spcPts val="0"/>
              </a:spcBef>
              <a:spcAft>
                <a:spcPts val="200"/>
              </a:spcAft>
            </a:pPr>
            <a:r>
              <a:rPr sz="1030" b="0" i="0">
                <a:solidFill>
                  <a:srgbClr val="2D2D2D"/>
                </a:solidFill>
                <a:latin typeface="Calibri"/>
                <a:ea typeface="Microsoft YaHei"/>
              </a:rPr>
              <a:t>XAS X 射线吸收光谱（含 XANES / EXAFS）｜ AAS 原子吸收光谱</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Figures from the Literature · Spectral Unmixing of Tissue</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1 · Spectral Imaging in the Life Sciences</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14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Garini et al., 2006</a:t>
            </a:r>
          </a:p>
        </p:txBody>
      </p:sp>
      <p:sp>
        <p:nvSpPr>
          <p:cNvPr id="9" name="Rectangle 8"/>
          <p:cNvSpPr/>
          <p:nvPr/>
        </p:nvSpPr>
        <p:spPr>
          <a:xfrm>
            <a:off x="457200" y="1371600"/>
            <a:ext cx="6903720" cy="484632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_garini_unmixing.png"/>
          <p:cNvPicPr>
            <a:picLocks noChangeAspect="1"/>
          </p:cNvPicPr>
          <p:nvPr/>
        </p:nvPicPr>
        <p:blipFill>
          <a:blip r:embed="rId2"/>
          <a:stretch>
            <a:fillRect/>
          </a:stretch>
        </p:blipFill>
        <p:spPr>
          <a:xfrm>
            <a:off x="548640" y="1802836"/>
            <a:ext cx="6720840" cy="3983846"/>
          </a:xfrm>
          <a:prstGeom prst="rect">
            <a:avLst/>
          </a:prstGeom>
        </p:spPr>
      </p:pic>
      <p:sp>
        <p:nvSpPr>
          <p:cNvPr id="11" name="TextBox 10"/>
          <p:cNvSpPr txBox="1"/>
          <p:nvPr/>
        </p:nvSpPr>
        <p:spPr>
          <a:xfrm>
            <a:off x="457200" y="5870448"/>
            <a:ext cx="6903720" cy="777240"/>
          </a:xfrm>
          <a:prstGeom prst="rect">
            <a:avLst/>
          </a:prstGeom>
          <a:noFill/>
        </p:spPr>
        <p:txBody>
          <a:bodyPr wrap="square" anchor="t" lIns="25400" rIns="25400" tIns="25400" bIns="25400">
            <a:spAutoFit/>
          </a:bodyPr>
          <a:lstStyle/>
          <a:p>
            <a:pPr algn="ctr">
              <a:lnSpc>
                <a:spcPct val="108000"/>
              </a:lnSpc>
              <a:spcBef>
                <a:spcPts val="0"/>
              </a:spcBef>
              <a:spcAft>
                <a:spcPts val="200"/>
              </a:spcAft>
            </a:pPr>
            <a:r>
              <a:rPr sz="930" b="0" i="1">
                <a:solidFill>
                  <a:srgbClr val="5A5A5A"/>
                </a:solidFill>
                <a:latin typeface="Calibri"/>
                <a:ea typeface="Microsoft YaHei"/>
              </a:rPr>
              <a:t>Fig. 9. Spectral unmixing applied to a pathological prostate tissue section stained with hematoxylin and eosin. (Garini et al., 2006)</a:t>
            </a:r>
          </a:p>
        </p:txBody>
      </p:sp>
      <p:sp>
        <p:nvSpPr>
          <p:cNvPr id="12" name="Rectangle 11"/>
          <p:cNvSpPr/>
          <p:nvPr/>
        </p:nvSpPr>
        <p:spPr>
          <a:xfrm>
            <a:off x="7589520" y="1371600"/>
            <a:ext cx="4142232" cy="48463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89520" y="1371600"/>
            <a:ext cx="4142232" cy="6400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18120" y="1554480"/>
            <a:ext cx="3703320" cy="457200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1B2A4A"/>
                </a:solidFill>
                <a:latin typeface="Calibri"/>
                <a:ea typeface="Microsoft YaHei"/>
              </a:rPr>
              <a:t>How to read this figure</a:t>
            </a:r>
          </a:p>
          <a:p>
            <a:pPr algn="l">
              <a:lnSpc>
                <a:spcPct val="113000"/>
              </a:lnSpc>
              <a:spcBef>
                <a:spcPts val="400"/>
              </a:spcBef>
              <a:spcAft>
                <a:spcPts val="200"/>
              </a:spcAft>
            </a:pPr>
            <a:r>
              <a:rPr sz="980" b="0" i="0">
                <a:solidFill>
                  <a:srgbClr val="2D2D2D"/>
                </a:solidFill>
                <a:latin typeface="Calibri"/>
                <a:ea typeface="Microsoft YaHei"/>
              </a:rPr>
              <a:t>(A)  Colour image created from the spectral image — similar to the visual image seen through the microscope.</a:t>
            </a:r>
          </a:p>
          <a:p>
            <a:pPr algn="l">
              <a:lnSpc>
                <a:spcPct val="113000"/>
              </a:lnSpc>
              <a:spcBef>
                <a:spcPts val="400"/>
              </a:spcBef>
              <a:spcAft>
                <a:spcPts val="200"/>
              </a:spcAft>
            </a:pPr>
            <a:r>
              <a:rPr sz="980" b="0" i="0">
                <a:solidFill>
                  <a:srgbClr val="2D2D2D"/>
                </a:solidFill>
                <a:latin typeface="Calibri"/>
                <a:ea typeface="Microsoft YaHei"/>
              </a:rPr>
              <a:t>(B)  Optical-density spectra of two reference stains: eosin and hematoxylin, measured on reference slides.</a:t>
            </a:r>
          </a:p>
          <a:p>
            <a:pPr algn="l">
              <a:lnSpc>
                <a:spcPct val="113000"/>
              </a:lnSpc>
              <a:spcBef>
                <a:spcPts val="400"/>
              </a:spcBef>
              <a:spcAft>
                <a:spcPts val="200"/>
              </a:spcAft>
            </a:pPr>
            <a:r>
              <a:rPr sz="980" b="0" i="0">
                <a:solidFill>
                  <a:srgbClr val="2D2D2D"/>
                </a:solidFill>
                <a:latin typeface="Calibri"/>
                <a:ea typeface="Microsoft YaHei"/>
              </a:rPr>
              <a:t>(C, D)  Unmixing results: how the tissue would look if stained with only hematoxylin (C) or only eosin (D).</a:t>
            </a:r>
          </a:p>
          <a:p>
            <a:pPr algn="l">
              <a:lnSpc>
                <a:spcPct val="115000"/>
              </a:lnSpc>
              <a:spcBef>
                <a:spcPts val="800"/>
              </a:spcBef>
              <a:spcAft>
                <a:spcPts val="200"/>
              </a:spcAft>
            </a:pPr>
            <a:r>
              <a:rPr sz="1000" b="1" i="0">
                <a:solidFill>
                  <a:srgbClr val="0096C7"/>
                </a:solidFill>
                <a:latin typeface="Calibri"/>
                <a:ea typeface="Microsoft YaHei"/>
              </a:rPr>
              <a:t>Linear unmixing: the measured spectrum at each pixel is decomposed into a weighted sum of pure reference spectra.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31720"/>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069080"/>
            <a:ext cx="12191695" cy="27432"/>
          </a:xfrm>
          <a:prstGeom prst="rect">
            <a:avLst/>
          </a:prstGeom>
          <a:solidFill>
            <a:srgbClr val="48C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98448"/>
            <a:ext cx="10725912" cy="45720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2000" b="1" i="0">
                <a:solidFill>
                  <a:srgbClr val="48CAE4"/>
                </a:solidFill>
                <a:latin typeface="Calibri"/>
                <a:ea typeface="Microsoft YaHei"/>
              </a:rPr>
              <a:t>PART 02</a:t>
            </a:r>
          </a:p>
        </p:txBody>
      </p:sp>
      <p:sp>
        <p:nvSpPr>
          <p:cNvPr id="6" name="TextBox 5"/>
          <p:cNvSpPr txBox="1"/>
          <p:nvPr/>
        </p:nvSpPr>
        <p:spPr>
          <a:xfrm>
            <a:off x="731520" y="2487168"/>
            <a:ext cx="10725912" cy="82296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3600" b="1" i="0">
                <a:solidFill>
                  <a:srgbClr val="FFFFFF"/>
                </a:solidFill>
                <a:latin typeface="Calibri"/>
                <a:ea typeface="Microsoft YaHei"/>
              </a:rPr>
              <a:t>Principles of Spectral Imaging</a:t>
            </a:r>
          </a:p>
        </p:txBody>
      </p:sp>
      <p:sp>
        <p:nvSpPr>
          <p:cNvPr id="7" name="TextBox 6"/>
          <p:cNvSpPr txBox="1"/>
          <p:nvPr/>
        </p:nvSpPr>
        <p:spPr>
          <a:xfrm>
            <a:off x="731520" y="3291840"/>
            <a:ext cx="10725912" cy="45720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2100" b="1" i="0">
                <a:solidFill>
                  <a:srgbClr val="F4A25F"/>
                </a:solidFill>
                <a:latin typeface="Calibri"/>
                <a:ea typeface="Microsoft YaHei"/>
              </a:rPr>
              <a:t>光谱成像原理</a:t>
            </a:r>
          </a:p>
        </p:txBody>
      </p:sp>
      <p:sp>
        <p:nvSpPr>
          <p:cNvPr id="8" name="TextBox 7"/>
          <p:cNvSpPr txBox="1"/>
          <p:nvPr/>
        </p:nvSpPr>
        <p:spPr>
          <a:xfrm>
            <a:off x="1188720" y="4251960"/>
            <a:ext cx="9811512" cy="1463040"/>
          </a:xfrm>
          <a:prstGeom prst="rect">
            <a:avLst/>
          </a:prstGeom>
          <a:noFill/>
        </p:spPr>
        <p:txBody>
          <a:bodyPr wrap="square" anchor="t" lIns="25400" rIns="25400" tIns="25400" bIns="25400">
            <a:spAutoFit/>
          </a:bodyPr>
          <a:lstStyle/>
          <a:p>
            <a:pPr algn="ctr">
              <a:lnSpc>
                <a:spcPct val="145000"/>
              </a:lnSpc>
              <a:spcBef>
                <a:spcPts val="0"/>
              </a:spcBef>
              <a:spcAft>
                <a:spcPts val="200"/>
              </a:spcAft>
            </a:pPr>
            <a:r>
              <a:rPr sz="1400" b="0" i="0">
                <a:solidFill>
                  <a:srgbClr val="BBCCDD"/>
                </a:solidFill>
                <a:latin typeface="Calibri"/>
                <a:ea typeface="Microsoft YaHei"/>
              </a:rPr>
              <a:t>From single-point spectroscopy to the spectral data cube I(x, y, λ)
Whiskbroom · Pushbroom · Staring acquisition modes
Spatial–spectral resolution trade-off · Multispectral vs. hyperspectral</a:t>
            </a:r>
          </a:p>
        </p:txBody>
      </p:sp>
      <p:sp>
        <p:nvSpPr>
          <p:cNvPr id="9" name="TextBox 8"/>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15 / 63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Overview · Three Topics of Spectral Imaging</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2 · Principles of Spectral Imaging</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16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[1] Mukhtar et al., 2025 · [2] Lu &amp; Fei, 2014</a:t>
            </a:r>
          </a:p>
        </p:txBody>
      </p:sp>
      <p:sp>
        <p:nvSpPr>
          <p:cNvPr id="9" name="Rectangle 8"/>
          <p:cNvSpPr/>
          <p:nvPr/>
        </p:nvSpPr>
        <p:spPr>
          <a:xfrm>
            <a:off x="914400" y="1463040"/>
            <a:ext cx="10360152" cy="1024128"/>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1463040"/>
            <a:ext cx="109728"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234440" y="1682496"/>
            <a:ext cx="566928" cy="566928"/>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i="0">
                <a:solidFill>
                  <a:srgbClr val="FFFFFF"/>
                </a:solidFill>
                <a:latin typeface="Calibri"/>
                <a:ea typeface="Microsoft YaHei"/>
              </a:rPr>
              <a:t>1</a:t>
            </a:r>
          </a:p>
        </p:txBody>
      </p:sp>
      <p:sp>
        <p:nvSpPr>
          <p:cNvPr id="12" name="TextBox 11"/>
          <p:cNvSpPr txBox="1"/>
          <p:nvPr/>
        </p:nvSpPr>
        <p:spPr>
          <a:xfrm>
            <a:off x="2057400" y="1618488"/>
            <a:ext cx="8961120" cy="41148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800" b="1" i="0">
                <a:solidFill>
                  <a:srgbClr val="1B2A4A"/>
                </a:solidFill>
                <a:latin typeface="Calibri"/>
                <a:ea typeface="Microsoft YaHei"/>
              </a:rPr>
              <a:t>单点光谱扩展到光谱成像</a:t>
            </a:r>
          </a:p>
        </p:txBody>
      </p:sp>
      <p:sp>
        <p:nvSpPr>
          <p:cNvPr id="13" name="TextBox 12"/>
          <p:cNvSpPr txBox="1"/>
          <p:nvPr/>
        </p:nvSpPr>
        <p:spPr>
          <a:xfrm>
            <a:off x="2057400" y="2029968"/>
            <a:ext cx="896112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1">
                <a:solidFill>
                  <a:srgbClr val="5A5A5A"/>
                </a:solidFill>
                <a:latin typeface="Calibri"/>
                <a:ea typeface="Microsoft YaHei"/>
              </a:rPr>
              <a:t>From Single-Point Spectroscopy to Spectral Imaging</a:t>
            </a:r>
          </a:p>
        </p:txBody>
      </p:sp>
      <p:sp>
        <p:nvSpPr>
          <p:cNvPr id="14" name="Rectangle 13"/>
          <p:cNvSpPr/>
          <p:nvPr/>
        </p:nvSpPr>
        <p:spPr>
          <a:xfrm>
            <a:off x="914400" y="2670048"/>
            <a:ext cx="10360152" cy="1024128"/>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14400" y="2670048"/>
            <a:ext cx="109728" cy="102412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234440" y="2889504"/>
            <a:ext cx="566928" cy="566928"/>
          </a:xfrm>
          <a:prstGeom prst="ellipse">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i="0">
                <a:solidFill>
                  <a:srgbClr val="FFFFFF"/>
                </a:solidFill>
                <a:latin typeface="Calibri"/>
                <a:ea typeface="Microsoft YaHei"/>
              </a:rPr>
              <a:t>2</a:t>
            </a:r>
          </a:p>
        </p:txBody>
      </p:sp>
      <p:sp>
        <p:nvSpPr>
          <p:cNvPr id="17" name="TextBox 16"/>
          <p:cNvSpPr txBox="1"/>
          <p:nvPr/>
        </p:nvSpPr>
        <p:spPr>
          <a:xfrm>
            <a:off x="2057400" y="2825496"/>
            <a:ext cx="8961120" cy="41148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800" b="1" i="0">
                <a:solidFill>
                  <a:srgbClr val="1B2A4A"/>
                </a:solidFill>
                <a:latin typeface="Calibri"/>
                <a:ea typeface="Microsoft YaHei"/>
              </a:rPr>
              <a:t>光谱成像的主要模式</a:t>
            </a:r>
          </a:p>
        </p:txBody>
      </p:sp>
      <p:sp>
        <p:nvSpPr>
          <p:cNvPr id="18" name="TextBox 17"/>
          <p:cNvSpPr txBox="1"/>
          <p:nvPr/>
        </p:nvSpPr>
        <p:spPr>
          <a:xfrm>
            <a:off x="2057400" y="3236976"/>
            <a:ext cx="896112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1">
                <a:solidFill>
                  <a:srgbClr val="5A5A5A"/>
                </a:solidFill>
                <a:latin typeface="Calibri"/>
                <a:ea typeface="Microsoft YaHei"/>
              </a:rPr>
              <a:t>Three Primary Spectral-Imaging Acquisition Modes</a:t>
            </a:r>
          </a:p>
        </p:txBody>
      </p:sp>
      <p:sp>
        <p:nvSpPr>
          <p:cNvPr id="19" name="Rectangle 18"/>
          <p:cNvSpPr/>
          <p:nvPr/>
        </p:nvSpPr>
        <p:spPr>
          <a:xfrm>
            <a:off x="914400" y="3877056"/>
            <a:ext cx="10360152" cy="1024128"/>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4400" y="3877056"/>
            <a:ext cx="109728" cy="1024128"/>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234440" y="4096512"/>
            <a:ext cx="566928" cy="566928"/>
          </a:xfrm>
          <a:prstGeom prst="ellipse">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i="0">
                <a:solidFill>
                  <a:srgbClr val="FFFFFF"/>
                </a:solidFill>
                <a:latin typeface="Calibri"/>
                <a:ea typeface="Microsoft YaHei"/>
              </a:rPr>
              <a:t>3</a:t>
            </a:r>
          </a:p>
        </p:txBody>
      </p:sp>
      <p:sp>
        <p:nvSpPr>
          <p:cNvPr id="22" name="TextBox 21"/>
          <p:cNvSpPr txBox="1"/>
          <p:nvPr/>
        </p:nvSpPr>
        <p:spPr>
          <a:xfrm>
            <a:off x="2057400" y="4032504"/>
            <a:ext cx="8961120" cy="41148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800" b="1" i="0">
                <a:solidFill>
                  <a:srgbClr val="1B2A4A"/>
                </a:solidFill>
                <a:latin typeface="Calibri"/>
                <a:ea typeface="Microsoft YaHei"/>
              </a:rPr>
              <a:t>光谱分辨率与空间分辨率及其权衡</a:t>
            </a:r>
          </a:p>
        </p:txBody>
      </p:sp>
      <p:sp>
        <p:nvSpPr>
          <p:cNvPr id="23" name="TextBox 22"/>
          <p:cNvSpPr txBox="1"/>
          <p:nvPr/>
        </p:nvSpPr>
        <p:spPr>
          <a:xfrm>
            <a:off x="2057400" y="4443984"/>
            <a:ext cx="896112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1">
                <a:solidFill>
                  <a:srgbClr val="5A5A5A"/>
                </a:solidFill>
                <a:latin typeface="Calibri"/>
                <a:ea typeface="Microsoft YaHei"/>
              </a:rPr>
              <a:t>Trade-off Between Spatial Resolution and Spectral Resolution</a:t>
            </a:r>
          </a:p>
        </p:txBody>
      </p:sp>
      <p:sp>
        <p:nvSpPr>
          <p:cNvPr id="24" name="Rectangle 23"/>
          <p:cNvSpPr/>
          <p:nvPr/>
        </p:nvSpPr>
        <p:spPr>
          <a:xfrm>
            <a:off x="914400" y="5084064"/>
            <a:ext cx="10360152" cy="1024128"/>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4400" y="5084064"/>
            <a:ext cx="109728" cy="1024128"/>
          </a:xfrm>
          <a:prstGeom prst="rect">
            <a:avLst/>
          </a:prstGeom>
          <a:solidFill>
            <a:srgbClr val="C05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234440" y="5303520"/>
            <a:ext cx="566928" cy="566928"/>
          </a:xfrm>
          <a:prstGeom prst="ellipse">
            <a:avLst/>
          </a:prstGeom>
          <a:solidFill>
            <a:srgbClr val="C05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i="0">
                <a:solidFill>
                  <a:srgbClr val="FFFFFF"/>
                </a:solidFill>
                <a:latin typeface="Calibri"/>
                <a:ea typeface="Microsoft YaHei"/>
              </a:rPr>
              <a:t>4</a:t>
            </a:r>
          </a:p>
        </p:txBody>
      </p:sp>
      <p:sp>
        <p:nvSpPr>
          <p:cNvPr id="27" name="TextBox 26"/>
          <p:cNvSpPr txBox="1"/>
          <p:nvPr/>
        </p:nvSpPr>
        <p:spPr>
          <a:xfrm>
            <a:off x="2057400" y="5239512"/>
            <a:ext cx="8961120" cy="41148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800" b="1" i="0">
                <a:solidFill>
                  <a:srgbClr val="1B2A4A"/>
                </a:solidFill>
                <a:latin typeface="Calibri"/>
                <a:ea typeface="Microsoft YaHei"/>
              </a:rPr>
              <a:t>多光谱与高光谱</a:t>
            </a:r>
          </a:p>
        </p:txBody>
      </p:sp>
      <p:sp>
        <p:nvSpPr>
          <p:cNvPr id="28" name="TextBox 27"/>
          <p:cNvSpPr txBox="1"/>
          <p:nvPr/>
        </p:nvSpPr>
        <p:spPr>
          <a:xfrm>
            <a:off x="2057400" y="5650992"/>
            <a:ext cx="896112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1">
                <a:solidFill>
                  <a:srgbClr val="5A5A5A"/>
                </a:solidFill>
                <a:latin typeface="Calibri"/>
                <a:ea typeface="Microsoft YaHei"/>
              </a:rPr>
              <a:t>Multispectral and Hyperspectral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From Single-Point Spectroscopy to Spectral Imaging</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2 · Principles of Spectral Imaging</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17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[1] Mukhtar et al., 2025 · [2] Lu &amp; Fei, 2014</a:t>
            </a:r>
          </a:p>
        </p:txBody>
      </p:sp>
      <p:sp>
        <p:nvSpPr>
          <p:cNvPr id="9" name="Rectangle 8"/>
          <p:cNvSpPr/>
          <p:nvPr/>
        </p:nvSpPr>
        <p:spPr>
          <a:xfrm>
            <a:off x="457200" y="1325880"/>
            <a:ext cx="6583680" cy="48920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109728" cy="489204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1520" y="1591056"/>
            <a:ext cx="310896" cy="310896"/>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Calibri"/>
                <a:ea typeface="Microsoft YaHei"/>
              </a:rPr>
              <a:t>1</a:t>
            </a:r>
          </a:p>
        </p:txBody>
      </p:sp>
      <p:sp>
        <p:nvSpPr>
          <p:cNvPr id="12" name="TextBox 11"/>
          <p:cNvSpPr txBox="1"/>
          <p:nvPr/>
        </p:nvSpPr>
        <p:spPr>
          <a:xfrm>
            <a:off x="1188720" y="1572768"/>
            <a:ext cx="5669280" cy="1097280"/>
          </a:xfrm>
          <a:prstGeom prst="rect">
            <a:avLst/>
          </a:prstGeom>
          <a:noFill/>
        </p:spPr>
        <p:txBody>
          <a:bodyPr wrap="square" anchor="t" lIns="25400" rIns="25400" tIns="25400" bIns="25400">
            <a:spAutoFit/>
          </a:bodyPr>
          <a:lstStyle/>
          <a:p>
            <a:pPr algn="l">
              <a:lnSpc>
                <a:spcPct val="118000"/>
              </a:lnSpc>
              <a:spcBef>
                <a:spcPts val="0"/>
              </a:spcBef>
              <a:spcAft>
                <a:spcPts val="200"/>
              </a:spcAft>
            </a:pPr>
            <a:r>
              <a:rPr sz="1250" b="0" i="0">
                <a:solidFill>
                  <a:srgbClr val="2D2D2D"/>
                </a:solidFill>
                <a:latin typeface="Calibri"/>
                <a:ea typeface="Microsoft YaHei"/>
              </a:rPr>
              <a:t>Conventional single-point spectroscopy only obtains spectral information at one fixed spatial location: it answers “what” material the target is.</a:t>
            </a:r>
          </a:p>
        </p:txBody>
      </p:sp>
      <p:sp>
        <p:nvSpPr>
          <p:cNvPr id="13" name="Oval 12"/>
          <p:cNvSpPr/>
          <p:nvPr/>
        </p:nvSpPr>
        <p:spPr>
          <a:xfrm>
            <a:off x="731520" y="2734056"/>
            <a:ext cx="310896" cy="310896"/>
          </a:xfrm>
          <a:prstGeom prst="ellipse">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Calibri"/>
                <a:ea typeface="Microsoft YaHei"/>
              </a:rPr>
              <a:t>2</a:t>
            </a:r>
          </a:p>
        </p:txBody>
      </p:sp>
      <p:sp>
        <p:nvSpPr>
          <p:cNvPr id="14" name="TextBox 13"/>
          <p:cNvSpPr txBox="1"/>
          <p:nvPr/>
        </p:nvSpPr>
        <p:spPr>
          <a:xfrm>
            <a:off x="1188720" y="2715768"/>
            <a:ext cx="5669280" cy="1097280"/>
          </a:xfrm>
          <a:prstGeom prst="rect">
            <a:avLst/>
          </a:prstGeom>
          <a:noFill/>
        </p:spPr>
        <p:txBody>
          <a:bodyPr wrap="square" anchor="t" lIns="25400" rIns="25400" tIns="25400" bIns="25400">
            <a:spAutoFit/>
          </a:bodyPr>
          <a:lstStyle/>
          <a:p>
            <a:pPr algn="l">
              <a:lnSpc>
                <a:spcPct val="118000"/>
              </a:lnSpc>
              <a:spcBef>
                <a:spcPts val="0"/>
              </a:spcBef>
              <a:spcAft>
                <a:spcPts val="200"/>
              </a:spcAft>
            </a:pPr>
            <a:r>
              <a:rPr sz="1250" b="0" i="0">
                <a:solidFill>
                  <a:srgbClr val="2D2D2D"/>
                </a:solidFill>
                <a:latin typeface="Calibri"/>
                <a:ea typeface="Microsoft YaHei"/>
              </a:rPr>
              <a:t>Traditional 2-D imaging only records spatial information: it answers “where” the object is located.</a:t>
            </a:r>
          </a:p>
        </p:txBody>
      </p:sp>
      <p:sp>
        <p:nvSpPr>
          <p:cNvPr id="15" name="Oval 14"/>
          <p:cNvSpPr/>
          <p:nvPr/>
        </p:nvSpPr>
        <p:spPr>
          <a:xfrm>
            <a:off x="731520" y="3877055"/>
            <a:ext cx="310896" cy="310896"/>
          </a:xfrm>
          <a:prstGeom prst="ellipse">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Calibri"/>
                <a:ea typeface="Microsoft YaHei"/>
              </a:rPr>
              <a:t>3</a:t>
            </a:r>
          </a:p>
        </p:txBody>
      </p:sp>
      <p:sp>
        <p:nvSpPr>
          <p:cNvPr id="16" name="TextBox 15"/>
          <p:cNvSpPr txBox="1"/>
          <p:nvPr/>
        </p:nvSpPr>
        <p:spPr>
          <a:xfrm>
            <a:off x="1188720" y="3858768"/>
            <a:ext cx="5669280" cy="1097280"/>
          </a:xfrm>
          <a:prstGeom prst="rect">
            <a:avLst/>
          </a:prstGeom>
          <a:noFill/>
        </p:spPr>
        <p:txBody>
          <a:bodyPr wrap="square" anchor="t" lIns="25400" rIns="25400" tIns="25400" bIns="25400">
            <a:spAutoFit/>
          </a:bodyPr>
          <a:lstStyle/>
          <a:p>
            <a:pPr algn="l">
              <a:lnSpc>
                <a:spcPct val="118000"/>
              </a:lnSpc>
              <a:spcBef>
                <a:spcPts val="0"/>
              </a:spcBef>
              <a:spcAft>
                <a:spcPts val="200"/>
              </a:spcAft>
            </a:pPr>
            <a:r>
              <a:rPr sz="1300" b="0" i="0">
                <a:solidFill>
                  <a:srgbClr val="2D2D2D"/>
                </a:solidFill>
                <a:latin typeface="Calibri"/>
                <a:ea typeface="Microsoft YaHei"/>
              </a:rPr>
              <a:t>Spectral imaging combines spectroscopy and imaging, generating a 3-D spectral data cube I(x,y,λ). It answers: where is what.</a:t>
            </a:r>
          </a:p>
        </p:txBody>
      </p:sp>
      <p:sp>
        <p:nvSpPr>
          <p:cNvPr id="17" name="Oval 16"/>
          <p:cNvSpPr/>
          <p:nvPr/>
        </p:nvSpPr>
        <p:spPr>
          <a:xfrm>
            <a:off x="731520" y="5020055"/>
            <a:ext cx="310896" cy="310896"/>
          </a:xfrm>
          <a:prstGeom prst="ellipse">
            <a:avLst/>
          </a:prstGeom>
          <a:solidFill>
            <a:srgbClr val="C05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Calibri"/>
                <a:ea typeface="Microsoft YaHei"/>
              </a:rPr>
              <a:t>4</a:t>
            </a:r>
          </a:p>
        </p:txBody>
      </p:sp>
      <p:sp>
        <p:nvSpPr>
          <p:cNvPr id="18" name="TextBox 17"/>
          <p:cNvSpPr txBox="1"/>
          <p:nvPr/>
        </p:nvSpPr>
        <p:spPr>
          <a:xfrm>
            <a:off x="1188720" y="5001768"/>
            <a:ext cx="5669280" cy="1097280"/>
          </a:xfrm>
          <a:prstGeom prst="rect">
            <a:avLst/>
          </a:prstGeom>
          <a:noFill/>
        </p:spPr>
        <p:txBody>
          <a:bodyPr wrap="square" anchor="t" lIns="25400" rIns="25400" tIns="25400" bIns="25400">
            <a:spAutoFit/>
          </a:bodyPr>
          <a:lstStyle/>
          <a:p>
            <a:pPr algn="l">
              <a:lnSpc>
                <a:spcPct val="118000"/>
              </a:lnSpc>
              <a:spcBef>
                <a:spcPts val="0"/>
              </a:spcBef>
              <a:spcAft>
                <a:spcPts val="200"/>
              </a:spcAft>
            </a:pPr>
            <a:r>
              <a:rPr sz="1300" b="0" i="0">
                <a:solidFill>
                  <a:srgbClr val="2D2D2D"/>
                </a:solidFill>
                <a:latin typeface="Calibri"/>
                <a:ea typeface="Microsoft YaHei"/>
              </a:rPr>
              <a:t>The data cube contains two spatial dimensions (x,y) and one spectral dimension (λ).</a:t>
            </a:r>
          </a:p>
        </p:txBody>
      </p:sp>
      <p:sp>
        <p:nvSpPr>
          <p:cNvPr id="19" name="Rectangle 18"/>
          <p:cNvSpPr/>
          <p:nvPr/>
        </p:nvSpPr>
        <p:spPr>
          <a:xfrm>
            <a:off x="7223760" y="1325880"/>
            <a:ext cx="4507992" cy="489204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p2_s3_5.png"/>
          <p:cNvPicPr>
            <a:picLocks noChangeAspect="1"/>
          </p:cNvPicPr>
          <p:nvPr/>
        </p:nvPicPr>
        <p:blipFill>
          <a:blip r:embed="rId2"/>
          <a:stretch>
            <a:fillRect/>
          </a:stretch>
        </p:blipFill>
        <p:spPr>
          <a:xfrm>
            <a:off x="7804972" y="1645920"/>
            <a:ext cx="3345566" cy="3063239"/>
          </a:xfrm>
          <a:prstGeom prst="rect">
            <a:avLst/>
          </a:prstGeom>
        </p:spPr>
      </p:pic>
      <p:sp>
        <p:nvSpPr>
          <p:cNvPr id="21" name="TextBox 20"/>
          <p:cNvSpPr txBox="1"/>
          <p:nvPr/>
        </p:nvSpPr>
        <p:spPr>
          <a:xfrm>
            <a:off x="7406640" y="4892040"/>
            <a:ext cx="4142232" cy="548640"/>
          </a:xfrm>
          <a:prstGeom prst="rect">
            <a:avLst/>
          </a:prstGeom>
          <a:noFill/>
        </p:spPr>
        <p:txBody>
          <a:bodyPr wrap="square" anchor="t" lIns="25400" rIns="25400" tIns="25400" bIns="25400">
            <a:spAutoFit/>
          </a:bodyPr>
          <a:lstStyle/>
          <a:p>
            <a:pPr algn="ctr">
              <a:lnSpc>
                <a:spcPct val="110000"/>
              </a:lnSpc>
              <a:spcBef>
                <a:spcPts val="0"/>
              </a:spcBef>
              <a:spcAft>
                <a:spcPts val="200"/>
              </a:spcAft>
            </a:pPr>
            <a:r>
              <a:rPr sz="1100" b="1" i="0">
                <a:solidFill>
                  <a:srgbClr val="1B2A4A"/>
                </a:solidFill>
                <a:latin typeface="Calibri"/>
                <a:ea typeface="Microsoft YaHei"/>
              </a:rPr>
              <a:t>FIGURE 1. 3-D data cube [1]</a:t>
            </a:r>
          </a:p>
          <a:p>
            <a:pPr algn="ctr">
              <a:lnSpc>
                <a:spcPct val="105000"/>
              </a:lnSpc>
              <a:spcBef>
                <a:spcPts val="0"/>
              </a:spcBef>
              <a:spcAft>
                <a:spcPts val="200"/>
              </a:spcAft>
            </a:pPr>
            <a:r>
              <a:rPr sz="950" b="0" i="0">
                <a:solidFill>
                  <a:srgbClr val="5A5A5A"/>
                </a:solidFill>
                <a:latin typeface="Calibri"/>
                <a:ea typeface="Microsoft YaHei"/>
              </a:rPr>
              <a:t>two spatial dimensions (x, y) + one spectral dimension (λ)</a:t>
            </a:r>
          </a:p>
        </p:txBody>
      </p:sp>
      <p:sp>
        <p:nvSpPr>
          <p:cNvPr id="22" name="TextBox 21"/>
          <p:cNvSpPr txBox="1"/>
          <p:nvPr/>
        </p:nvSpPr>
        <p:spPr>
          <a:xfrm>
            <a:off x="7406640" y="5715000"/>
            <a:ext cx="4142232" cy="36576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1050" b="1" i="0">
                <a:solidFill>
                  <a:srgbClr val="0096C7"/>
                </a:solidFill>
                <a:latin typeface="Calibri"/>
                <a:ea typeface="Microsoft YaHei"/>
              </a:rPr>
              <a:t>where is what  —  WHAT + WHERE together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Figures from the Literature · Anatomy of a Hyperspectral Cube</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2 · Principles of Spectral Imaging</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18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Shaw &amp; Burke, 2003</a:t>
            </a:r>
          </a:p>
        </p:txBody>
      </p:sp>
      <p:sp>
        <p:nvSpPr>
          <p:cNvPr id="9" name="Rectangle 8"/>
          <p:cNvSpPr/>
          <p:nvPr/>
        </p:nvSpPr>
        <p:spPr>
          <a:xfrm>
            <a:off x="457200" y="1325880"/>
            <a:ext cx="5212080" cy="49377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_hsi_cube.png"/>
          <p:cNvPicPr>
            <a:picLocks noChangeAspect="1"/>
          </p:cNvPicPr>
          <p:nvPr/>
        </p:nvPicPr>
        <p:blipFill>
          <a:blip r:embed="rId2"/>
          <a:stretch>
            <a:fillRect/>
          </a:stretch>
        </p:blipFill>
        <p:spPr>
          <a:xfrm>
            <a:off x="940360" y="1417320"/>
            <a:ext cx="4245759" cy="4754880"/>
          </a:xfrm>
          <a:prstGeom prst="rect">
            <a:avLst/>
          </a:prstGeom>
        </p:spPr>
      </p:pic>
      <p:sp>
        <p:nvSpPr>
          <p:cNvPr id="11" name="TextBox 10"/>
          <p:cNvSpPr txBox="1"/>
          <p:nvPr/>
        </p:nvSpPr>
        <p:spPr>
          <a:xfrm>
            <a:off x="457200" y="5989320"/>
            <a:ext cx="5212080" cy="777240"/>
          </a:xfrm>
          <a:prstGeom prst="rect">
            <a:avLst/>
          </a:prstGeom>
          <a:noFill/>
        </p:spPr>
        <p:txBody>
          <a:bodyPr wrap="square" anchor="t" lIns="25400" rIns="25400" tIns="25400" bIns="25400">
            <a:spAutoFit/>
          </a:bodyPr>
          <a:lstStyle/>
          <a:p>
            <a:pPr algn="ctr">
              <a:lnSpc>
                <a:spcPct val="108000"/>
              </a:lnSpc>
              <a:spcBef>
                <a:spcPts val="0"/>
              </a:spcBef>
              <a:spcAft>
                <a:spcPts val="200"/>
              </a:spcAft>
            </a:pPr>
            <a:r>
              <a:rPr sz="930" b="0" i="1">
                <a:solidFill>
                  <a:srgbClr val="5A5A5A"/>
                </a:solidFill>
                <a:latin typeface="Calibri"/>
                <a:ea typeface="Microsoft YaHei"/>
              </a:rPr>
              <a:t>FIGURE 4. Concept of the hyperspectral data cube: spatial scanning builds a stack of co-registered wavelength bands. (Shaw &amp; Burke, 2003)</a:t>
            </a:r>
          </a:p>
        </p:txBody>
      </p:sp>
      <p:sp>
        <p:nvSpPr>
          <p:cNvPr id="12" name="Rectangle 11"/>
          <p:cNvSpPr/>
          <p:nvPr/>
        </p:nvSpPr>
        <p:spPr>
          <a:xfrm>
            <a:off x="5852160" y="1325880"/>
            <a:ext cx="5879592" cy="49377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852160" y="1325880"/>
            <a:ext cx="5879592" cy="6400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80760" y="1481328"/>
            <a:ext cx="5440680" cy="47091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0096C7"/>
                </a:solidFill>
                <a:latin typeface="Calibri"/>
                <a:ea typeface="Microsoft YaHei"/>
              </a:rPr>
              <a:t>How to read the cube</a:t>
            </a:r>
          </a:p>
          <a:p>
            <a:pPr algn="l">
              <a:lnSpc>
                <a:spcPct val="113000"/>
              </a:lnSpc>
              <a:spcBef>
                <a:spcPts val="400"/>
              </a:spcBef>
              <a:spcAft>
                <a:spcPts val="200"/>
              </a:spcAft>
            </a:pPr>
            <a:r>
              <a:rPr sz="980" b="0" i="0">
                <a:solidFill>
                  <a:srgbClr val="2D2D2D"/>
                </a:solidFill>
                <a:latin typeface="Calibri"/>
                <a:ea typeface="Microsoft YaHei"/>
              </a:rPr>
              <a:t>(a)  A push-broom platform collects one scan line at a time as the platform moves.</a:t>
            </a:r>
          </a:p>
          <a:p>
            <a:pPr algn="l">
              <a:lnSpc>
                <a:spcPct val="113000"/>
              </a:lnSpc>
              <a:spcBef>
                <a:spcPts val="400"/>
              </a:spcBef>
              <a:spcAft>
                <a:spcPts val="200"/>
              </a:spcAft>
            </a:pPr>
            <a:r>
              <a:rPr sz="980" b="0" i="0">
                <a:solidFill>
                  <a:srgbClr val="2D2D2D"/>
                </a:solidFill>
                <a:latin typeface="Calibri"/>
                <a:ea typeface="Microsoft YaHei"/>
              </a:rPr>
              <a:t>(b)  Each line carries all wavelengths; successive lines are stacked into the 3-D cube I(x, y, λ).</a:t>
            </a:r>
          </a:p>
          <a:p>
            <a:pPr algn="l">
              <a:lnSpc>
                <a:spcPct val="113000"/>
              </a:lnSpc>
              <a:spcBef>
                <a:spcPts val="400"/>
              </a:spcBef>
              <a:spcAft>
                <a:spcPts val="200"/>
              </a:spcAft>
            </a:pPr>
            <a:r>
              <a:rPr sz="980" b="0" i="0">
                <a:solidFill>
                  <a:srgbClr val="2D2D2D"/>
                </a:solidFill>
                <a:latin typeface="Calibri"/>
                <a:ea typeface="Microsoft YaHei"/>
              </a:rPr>
              <a:t>(c)  Cutting across wavelengths gives a stack of monochrome band images — one image per λ.</a:t>
            </a:r>
          </a:p>
          <a:p>
            <a:pPr algn="l">
              <a:lnSpc>
                <a:spcPct val="113000"/>
              </a:lnSpc>
              <a:spcBef>
                <a:spcPts val="400"/>
              </a:spcBef>
              <a:spcAft>
                <a:spcPts val="200"/>
              </a:spcAft>
            </a:pPr>
            <a:r>
              <a:rPr sz="980" b="0" i="0">
                <a:solidFill>
                  <a:srgbClr val="2D2D2D"/>
                </a:solidFill>
                <a:latin typeface="Calibri"/>
                <a:ea typeface="Microsoft YaHei"/>
              </a:rPr>
              <a:t>(d)  Cutting across space at one pixel gives a continuous spectrum; tree, fabric, paint and grass each show a distinct, diagnostic spectral curve.</a:t>
            </a:r>
          </a:p>
          <a:p>
            <a:pPr algn="l">
              <a:lnSpc>
                <a:spcPct val="115000"/>
              </a:lnSpc>
              <a:spcBef>
                <a:spcPts val="800"/>
              </a:spcBef>
              <a:spcAft>
                <a:spcPts val="200"/>
              </a:spcAft>
            </a:pPr>
            <a:r>
              <a:rPr sz="1000" b="1" i="0">
                <a:solidFill>
                  <a:srgbClr val="1B2A4A"/>
                </a:solidFill>
                <a:latin typeface="Calibri"/>
                <a:ea typeface="Microsoft YaHei"/>
              </a:rPr>
              <a:t>Material identification = matching measured curves against known spectral signatures.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Acquisition Modes: Whiskbroom &amp; Pushbroom</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2 · Scanning Imagers</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19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[1] Mukhtar et al., 2025 · [2] Lu &amp; Fei, 2014</a:t>
            </a:r>
          </a:p>
        </p:txBody>
      </p:sp>
      <p:sp>
        <p:nvSpPr>
          <p:cNvPr id="9" name="Rectangle 8"/>
          <p:cNvSpPr/>
          <p:nvPr/>
        </p:nvSpPr>
        <p:spPr>
          <a:xfrm>
            <a:off x="457200" y="1325880"/>
            <a:ext cx="6355080" cy="23317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6355080" cy="6400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444752"/>
            <a:ext cx="6007608" cy="21031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1B2A4A"/>
                </a:solidFill>
                <a:latin typeface="Calibri"/>
                <a:ea typeface="Microsoft YaHei"/>
              </a:rPr>
              <a:t>Whiskbroom Mode  (Point-Scanning，扫帚式 / 点扫描)</a:t>
            </a:r>
          </a:p>
          <a:p>
            <a:pPr algn="l">
              <a:lnSpc>
                <a:spcPct val="115000"/>
              </a:lnSpc>
              <a:spcBef>
                <a:spcPts val="0"/>
              </a:spcBef>
              <a:spcAft>
                <a:spcPts val="200"/>
              </a:spcAft>
            </a:pPr>
            <a:r>
              <a:rPr sz="1080" b="0" i="0">
                <a:solidFill>
                  <a:srgbClr val="2D2D2D"/>
                </a:solidFill>
                <a:latin typeface="Calibri"/>
                <a:ea typeface="Microsoft YaHei"/>
              </a:rPr>
              <a:t>Optical path: a scanning mirror moves across the scene, one spatial point at a time. Each single point acquires its complete full spectrum; the cube is built by scanning every pixel point-by-point.</a:t>
            </a:r>
          </a:p>
          <a:p>
            <a:pPr algn="l">
              <a:lnSpc>
                <a:spcPct val="105000"/>
              </a:lnSpc>
              <a:spcBef>
                <a:spcPts val="500"/>
              </a:spcBef>
              <a:spcAft>
                <a:spcPts val="200"/>
              </a:spcAft>
            </a:pPr>
            <a:r>
              <a:rPr sz="1080" b="1" i="0">
                <a:solidFill>
                  <a:srgbClr val="2E7D5B"/>
                </a:solidFill>
                <a:latin typeface="Calibri"/>
                <a:ea typeface="Microsoft YaHei"/>
              </a:rPr>
              <a:t>✅  Pros: high spectral quality for each sampled point; good SNR.</a:t>
            </a:r>
          </a:p>
          <a:p>
            <a:pPr algn="l">
              <a:lnSpc>
                <a:spcPct val="105000"/>
              </a:lnSpc>
              <a:spcBef>
                <a:spcPts val="200"/>
              </a:spcBef>
              <a:spcAft>
                <a:spcPts val="200"/>
              </a:spcAft>
            </a:pPr>
            <a:r>
              <a:rPr sz="1080" b="1" i="0">
                <a:solidFill>
                  <a:srgbClr val="C05050"/>
                </a:solidFill>
                <a:latin typeface="Calibri"/>
                <a:ea typeface="Microsoft YaHei"/>
              </a:rPr>
              <a:t>❌  Cons: two-axis mechanical scanning; long acquisition time; moving-part artifacts.</a:t>
            </a:r>
          </a:p>
        </p:txBody>
      </p:sp>
      <p:sp>
        <p:nvSpPr>
          <p:cNvPr id="12" name="Rectangle 11"/>
          <p:cNvSpPr/>
          <p:nvPr/>
        </p:nvSpPr>
        <p:spPr>
          <a:xfrm>
            <a:off x="457200" y="3822191"/>
            <a:ext cx="6355080" cy="2395728"/>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822191"/>
            <a:ext cx="6355080" cy="64008"/>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941063"/>
            <a:ext cx="6007608" cy="21671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F4A25F"/>
                </a:solidFill>
                <a:latin typeface="Calibri"/>
                <a:ea typeface="Microsoft YaHei"/>
              </a:rPr>
              <a:t>Pushbroom Mode  (Line-Scanning，推扫式 / 线扫描)</a:t>
            </a:r>
          </a:p>
          <a:p>
            <a:pPr algn="l">
              <a:lnSpc>
                <a:spcPct val="115000"/>
              </a:lnSpc>
              <a:spcBef>
                <a:spcPts val="0"/>
              </a:spcBef>
              <a:spcAft>
                <a:spcPts val="200"/>
              </a:spcAft>
            </a:pPr>
            <a:r>
              <a:rPr sz="1080" b="0" i="0">
                <a:solidFill>
                  <a:srgbClr val="2D2D2D"/>
                </a:solidFill>
                <a:latin typeface="Calibri"/>
                <a:ea typeface="Microsoft YaHei"/>
              </a:rPr>
              <a:t>Optical path: simultaneously captures an entire line of spatial information plus the full spectrum for each pixel on that line. The complete 2-D area is obtained via relative platform motion (aircraft / satellite / translation stage).</a:t>
            </a:r>
          </a:p>
          <a:p>
            <a:pPr algn="l">
              <a:lnSpc>
                <a:spcPct val="105000"/>
              </a:lnSpc>
              <a:spcBef>
                <a:spcPts val="500"/>
              </a:spcBef>
              <a:spcAft>
                <a:spcPts val="200"/>
              </a:spcAft>
            </a:pPr>
            <a:r>
              <a:rPr sz="1080" b="1" i="0">
                <a:solidFill>
                  <a:srgbClr val="2E7D5B"/>
                </a:solidFill>
                <a:latin typeface="Calibri"/>
                <a:ea typeface="Microsoft YaHei"/>
              </a:rPr>
              <a:t>✅  Pros: much faster than whiskbroom; widely used in remote sensing.</a:t>
            </a:r>
          </a:p>
          <a:p>
            <a:pPr algn="l">
              <a:lnSpc>
                <a:spcPct val="105000"/>
              </a:lnSpc>
              <a:spcBef>
                <a:spcPts val="200"/>
              </a:spcBef>
              <a:spcAft>
                <a:spcPts val="200"/>
              </a:spcAft>
            </a:pPr>
            <a:r>
              <a:rPr sz="1080" b="1" i="0">
                <a:solidFill>
                  <a:srgbClr val="C05050"/>
                </a:solidFill>
                <a:latin typeface="Calibri"/>
                <a:ea typeface="Microsoft YaHei"/>
              </a:rPr>
              <a:t>❌  Cons: depends on steady relative movement between sensor and target.</a:t>
            </a:r>
          </a:p>
        </p:txBody>
      </p:sp>
      <p:sp>
        <p:nvSpPr>
          <p:cNvPr id="15" name="Rectangle 14"/>
          <p:cNvSpPr/>
          <p:nvPr/>
        </p:nvSpPr>
        <p:spPr>
          <a:xfrm>
            <a:off x="6995160" y="1325880"/>
            <a:ext cx="4736592" cy="489204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p2_s4_5.png"/>
          <p:cNvPicPr>
            <a:picLocks noChangeAspect="1"/>
          </p:cNvPicPr>
          <p:nvPr/>
        </p:nvPicPr>
        <p:blipFill>
          <a:blip r:embed="rId2"/>
          <a:srcRect r="50000" b="9000"/>
          <a:stretch>
            <a:fillRect/>
          </a:stretch>
        </p:blipFill>
        <p:spPr>
          <a:xfrm>
            <a:off x="7838345" y="1554480"/>
            <a:ext cx="3050220" cy="3977639"/>
          </a:xfrm>
          <a:prstGeom prst="rect">
            <a:avLst/>
          </a:prstGeom>
        </p:spPr>
      </p:pic>
      <p:sp>
        <p:nvSpPr>
          <p:cNvPr id="17" name="TextBox 16"/>
          <p:cNvSpPr txBox="1"/>
          <p:nvPr/>
        </p:nvSpPr>
        <p:spPr>
          <a:xfrm>
            <a:off x="7178040" y="5687568"/>
            <a:ext cx="4370832" cy="45720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950" b="1" i="0">
                <a:solidFill>
                  <a:srgbClr val="1B2A4A"/>
                </a:solidFill>
                <a:latin typeface="Calibri"/>
                <a:ea typeface="Microsoft YaHei"/>
              </a:rPr>
              <a:t>FIGURE 2. (a) Point scanning or whiskbroom, (b) Line scanning or pushbroom [1]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Acquisition Mode: Staring</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2 · Spectral Scanning (SC)</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20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[1] Mukhtar et al., 2025 · [2] Lu &amp; Fei, 2014</a:t>
            </a:r>
          </a:p>
        </p:txBody>
      </p:sp>
      <p:sp>
        <p:nvSpPr>
          <p:cNvPr id="9" name="Rectangle 8"/>
          <p:cNvSpPr/>
          <p:nvPr/>
        </p:nvSpPr>
        <p:spPr>
          <a:xfrm>
            <a:off x="457200" y="1325880"/>
            <a:ext cx="6903720" cy="48920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6903720" cy="6400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444752"/>
            <a:ext cx="6556248" cy="46634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400" b="1" i="0">
                <a:solidFill>
                  <a:srgbClr val="1B2A4A"/>
                </a:solidFill>
                <a:latin typeface="Calibri"/>
                <a:ea typeface="Microsoft YaHei"/>
              </a:rPr>
              <a:t>Staring Mode  (Spectral Scanning，凝视式 / 光谱扫描)</a:t>
            </a:r>
          </a:p>
          <a:p>
            <a:pPr algn="l">
              <a:lnSpc>
                <a:spcPct val="120000"/>
              </a:lnSpc>
              <a:spcBef>
                <a:spcPts val="0"/>
              </a:spcBef>
              <a:spcAft>
                <a:spcPts val="1000"/>
              </a:spcAft>
            </a:pPr>
            <a:r>
              <a:rPr sz="1250" b="0" i="0">
                <a:solidFill>
                  <a:srgbClr val="2D2D2D"/>
                </a:solidFill>
                <a:latin typeface="Calibri"/>
                <a:ea typeface="Microsoft YaHei"/>
              </a:rPr>
              <a:t>Optical path: keep the whole scene stationary on the detector; use tunable optical filters (AOTF, LCTF, FPI, LVF) to sequentially select one wavelength band. Stack a series of 2-D images to reconstruct the full 3-D data cube.</a:t>
            </a:r>
          </a:p>
          <a:p>
            <a:pPr algn="l">
              <a:lnSpc>
                <a:spcPct val="105000"/>
              </a:lnSpc>
              <a:spcBef>
                <a:spcPts val="0"/>
              </a:spcBef>
              <a:spcAft>
                <a:spcPts val="200"/>
              </a:spcAft>
            </a:pPr>
            <a:r>
              <a:rPr sz="1300" b="1" i="0">
                <a:solidFill>
                  <a:srgbClr val="2E7D5B"/>
                </a:solidFill>
                <a:latin typeface="Calibri"/>
                <a:ea typeface="Microsoft YaHei"/>
              </a:rPr>
              <a:t>✅  Pros</a:t>
            </a:r>
          </a:p>
          <a:p>
            <a:pPr algn="l">
              <a:lnSpc>
                <a:spcPct val="118000"/>
              </a:lnSpc>
              <a:spcBef>
                <a:spcPts val="0"/>
              </a:spcBef>
              <a:spcAft>
                <a:spcPts val="1000"/>
              </a:spcAft>
            </a:pPr>
            <a:r>
              <a:rPr sz="1250" b="0" i="0">
                <a:solidFill>
                  <a:srgbClr val="2D2D2D"/>
                </a:solidFill>
                <a:latin typeface="Calibri"/>
                <a:ea typeface="Microsoft YaHei"/>
              </a:rPr>
              <a:t>Captures the full-field scene for each wavelength; no spatial mechanical scanning.</a:t>
            </a:r>
          </a:p>
          <a:p>
            <a:pPr algn="l">
              <a:lnSpc>
                <a:spcPct val="105000"/>
              </a:lnSpc>
              <a:spcBef>
                <a:spcPts val="0"/>
              </a:spcBef>
              <a:spcAft>
                <a:spcPts val="200"/>
              </a:spcAft>
            </a:pPr>
            <a:r>
              <a:rPr sz="1300" b="1" i="0">
                <a:solidFill>
                  <a:srgbClr val="C05050"/>
                </a:solidFill>
                <a:latin typeface="Calibri"/>
                <a:ea typeface="Microsoft YaHei"/>
              </a:rPr>
              <a:t>❌  Cons</a:t>
            </a:r>
          </a:p>
          <a:p>
            <a:pPr algn="l">
              <a:lnSpc>
                <a:spcPct val="118000"/>
              </a:lnSpc>
              <a:spcBef>
                <a:spcPts val="0"/>
              </a:spcBef>
              <a:spcAft>
                <a:spcPts val="200"/>
              </a:spcAft>
            </a:pPr>
            <a:r>
              <a:rPr sz="1250" b="0" i="0">
                <a:solidFill>
                  <a:srgbClr val="2D2D2D"/>
                </a:solidFill>
                <a:latin typeface="Calibri"/>
                <a:ea typeface="Microsoft YaHei"/>
              </a:rPr>
              <a:t>Wavelength scanning takes time; poor performance for dynamic moving scenes.</a:t>
            </a:r>
          </a:p>
        </p:txBody>
      </p:sp>
      <p:sp>
        <p:nvSpPr>
          <p:cNvPr id="12" name="Rectangle 11"/>
          <p:cNvSpPr/>
          <p:nvPr/>
        </p:nvSpPr>
        <p:spPr>
          <a:xfrm>
            <a:off x="7543800" y="1325880"/>
            <a:ext cx="4187952" cy="489204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p2_s4_5.png"/>
          <p:cNvPicPr>
            <a:picLocks noChangeAspect="1"/>
          </p:cNvPicPr>
          <p:nvPr/>
        </p:nvPicPr>
        <p:blipFill>
          <a:blip r:embed="rId2"/>
          <a:srcRect l="28000" r="27000" b="9000"/>
          <a:stretch>
            <a:fillRect/>
          </a:stretch>
        </p:blipFill>
        <p:spPr>
          <a:xfrm>
            <a:off x="8265176" y="1554480"/>
            <a:ext cx="2745198" cy="3977639"/>
          </a:xfrm>
          <a:prstGeom prst="rect">
            <a:avLst/>
          </a:prstGeom>
        </p:spPr>
      </p:pic>
      <p:sp>
        <p:nvSpPr>
          <p:cNvPr id="14" name="TextBox 13"/>
          <p:cNvSpPr txBox="1"/>
          <p:nvPr/>
        </p:nvSpPr>
        <p:spPr>
          <a:xfrm>
            <a:off x="7680960" y="5687568"/>
            <a:ext cx="3931920" cy="45720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1000" b="1" i="0">
                <a:solidFill>
                  <a:srgbClr val="1B2A4A"/>
                </a:solidFill>
                <a:latin typeface="Calibri"/>
                <a:ea typeface="Microsoft YaHei"/>
              </a:rPr>
              <a:t>FIGURE 3. (c) Spectral scanning (SC) or staring [1]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Trade-off Between Spatial Resolution and Spectral Resolution</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2 · Principles of Spectral Imaging</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21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[1] Mukhtar et al., 2025 · [2] Lu &amp; Fei, 2014</a:t>
            </a:r>
          </a:p>
        </p:txBody>
      </p:sp>
      <p:sp>
        <p:nvSpPr>
          <p:cNvPr id="9" name="Rectangle 8"/>
          <p:cNvSpPr/>
          <p:nvPr/>
        </p:nvSpPr>
        <p:spPr>
          <a:xfrm>
            <a:off x="457200" y="1554480"/>
            <a:ext cx="5532120" cy="21031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554480"/>
            <a:ext cx="109728" cy="2103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1755648"/>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FFFFFF"/>
                </a:solidFill>
                <a:latin typeface="Calibri"/>
                <a:ea typeface="Microsoft YaHei"/>
              </a:rPr>
              <a:t>1</a:t>
            </a:r>
          </a:p>
        </p:txBody>
      </p:sp>
      <p:sp>
        <p:nvSpPr>
          <p:cNvPr id="12" name="TextBox 11"/>
          <p:cNvSpPr txBox="1"/>
          <p:nvPr/>
        </p:nvSpPr>
        <p:spPr>
          <a:xfrm>
            <a:off x="1280160" y="1773936"/>
            <a:ext cx="457200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450" b="1" i="0">
                <a:solidFill>
                  <a:srgbClr val="1B2A4A"/>
                </a:solidFill>
                <a:latin typeface="Calibri"/>
                <a:ea typeface="Microsoft YaHei"/>
              </a:rPr>
              <a:t>Intrinsic trade-off</a:t>
            </a:r>
          </a:p>
        </p:txBody>
      </p:sp>
      <p:sp>
        <p:nvSpPr>
          <p:cNvPr id="13" name="TextBox 12"/>
          <p:cNvSpPr txBox="1"/>
          <p:nvPr/>
        </p:nvSpPr>
        <p:spPr>
          <a:xfrm>
            <a:off x="685800" y="2331720"/>
            <a:ext cx="5120640" cy="1188720"/>
          </a:xfrm>
          <a:prstGeom prst="rect">
            <a:avLst/>
          </a:prstGeom>
          <a:noFill/>
        </p:spPr>
        <p:txBody>
          <a:bodyPr wrap="square" anchor="t" lIns="25400" rIns="25400" tIns="25400" bIns="25400">
            <a:spAutoFit/>
          </a:bodyPr>
          <a:lstStyle/>
          <a:p>
            <a:pPr algn="l">
              <a:lnSpc>
                <a:spcPct val="122000"/>
              </a:lnSpc>
              <a:spcBef>
                <a:spcPts val="0"/>
              </a:spcBef>
              <a:spcAft>
                <a:spcPts val="200"/>
              </a:spcAft>
            </a:pPr>
            <a:r>
              <a:rPr sz="1180" b="0" i="0">
                <a:solidFill>
                  <a:srgbClr val="2D2D2D"/>
                </a:solidFill>
                <a:latin typeface="Calibri"/>
                <a:ea typeface="Microsoft YaHei"/>
              </a:rPr>
              <a:t>In conventional spectral-imaging optical systems, there exists an intrinsic trade-off between spatial resolution and spectral resolution [1].</a:t>
            </a:r>
          </a:p>
        </p:txBody>
      </p:sp>
      <p:sp>
        <p:nvSpPr>
          <p:cNvPr id="14" name="Rectangle 13"/>
          <p:cNvSpPr/>
          <p:nvPr/>
        </p:nvSpPr>
        <p:spPr>
          <a:xfrm>
            <a:off x="6199632" y="1554480"/>
            <a:ext cx="5532120" cy="21031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99632" y="1554480"/>
            <a:ext cx="109728" cy="210312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00800" y="1755648"/>
            <a:ext cx="457200" cy="457200"/>
          </a:xfrm>
          <a:prstGeom prst="ellipse">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FFFFFF"/>
                </a:solidFill>
                <a:latin typeface="Calibri"/>
                <a:ea typeface="Microsoft YaHei"/>
              </a:rPr>
              <a:t>2</a:t>
            </a:r>
          </a:p>
        </p:txBody>
      </p:sp>
      <p:sp>
        <p:nvSpPr>
          <p:cNvPr id="17" name="TextBox 16"/>
          <p:cNvSpPr txBox="1"/>
          <p:nvPr/>
        </p:nvSpPr>
        <p:spPr>
          <a:xfrm>
            <a:off x="7022592" y="1773936"/>
            <a:ext cx="457200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450" b="1" i="0">
                <a:solidFill>
                  <a:srgbClr val="0096C7"/>
                </a:solidFill>
                <a:latin typeface="Calibri"/>
                <a:ea typeface="Microsoft YaHei"/>
              </a:rPr>
              <a:t>Higher spectral resolution</a:t>
            </a:r>
          </a:p>
        </p:txBody>
      </p:sp>
      <p:sp>
        <p:nvSpPr>
          <p:cNvPr id="18" name="TextBox 17"/>
          <p:cNvSpPr txBox="1"/>
          <p:nvPr/>
        </p:nvSpPr>
        <p:spPr>
          <a:xfrm>
            <a:off x="6428232" y="2331720"/>
            <a:ext cx="5120640" cy="1188720"/>
          </a:xfrm>
          <a:prstGeom prst="rect">
            <a:avLst/>
          </a:prstGeom>
          <a:noFill/>
        </p:spPr>
        <p:txBody>
          <a:bodyPr wrap="square" anchor="t" lIns="25400" rIns="25400" tIns="25400" bIns="25400">
            <a:spAutoFit/>
          </a:bodyPr>
          <a:lstStyle/>
          <a:p>
            <a:pPr algn="l">
              <a:lnSpc>
                <a:spcPct val="122000"/>
              </a:lnSpc>
              <a:spcBef>
                <a:spcPts val="0"/>
              </a:spcBef>
              <a:spcAft>
                <a:spcPts val="200"/>
              </a:spcAft>
            </a:pPr>
            <a:r>
              <a:rPr sz="1180" b="0" i="0">
                <a:solidFill>
                  <a:srgbClr val="2D2D2D"/>
                </a:solidFill>
                <a:latin typeface="Calibri"/>
                <a:ea typeface="Microsoft YaHei"/>
              </a:rPr>
              <a:t>Requires more, narrower spectral bands. Under limited photon budget and detector constraints, this often sacrifices spatial sampling performance.</a:t>
            </a:r>
          </a:p>
        </p:txBody>
      </p:sp>
      <p:sp>
        <p:nvSpPr>
          <p:cNvPr id="19" name="Rectangle 18"/>
          <p:cNvSpPr/>
          <p:nvPr/>
        </p:nvSpPr>
        <p:spPr>
          <a:xfrm>
            <a:off x="457200" y="3840480"/>
            <a:ext cx="5532120" cy="21031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3840480"/>
            <a:ext cx="109728" cy="2103120"/>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4041648"/>
            <a:ext cx="457200" cy="457200"/>
          </a:xfrm>
          <a:prstGeom prst="ellipse">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FFFFFF"/>
                </a:solidFill>
                <a:latin typeface="Calibri"/>
                <a:ea typeface="Microsoft YaHei"/>
              </a:rPr>
              <a:t>3</a:t>
            </a:r>
          </a:p>
        </p:txBody>
      </p:sp>
      <p:sp>
        <p:nvSpPr>
          <p:cNvPr id="22" name="TextBox 21"/>
          <p:cNvSpPr txBox="1"/>
          <p:nvPr/>
        </p:nvSpPr>
        <p:spPr>
          <a:xfrm>
            <a:off x="1280160" y="4059936"/>
            <a:ext cx="457200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450" b="1" i="0">
                <a:solidFill>
                  <a:srgbClr val="F4A25F"/>
                </a:solidFill>
                <a:latin typeface="Calibri"/>
                <a:ea typeface="Microsoft YaHei"/>
              </a:rPr>
              <a:t>Higher spatial resolution</a:t>
            </a:r>
          </a:p>
        </p:txBody>
      </p:sp>
      <p:sp>
        <p:nvSpPr>
          <p:cNvPr id="23" name="TextBox 22"/>
          <p:cNvSpPr txBox="1"/>
          <p:nvPr/>
        </p:nvSpPr>
        <p:spPr>
          <a:xfrm>
            <a:off x="685800" y="4617720"/>
            <a:ext cx="5120640" cy="1188720"/>
          </a:xfrm>
          <a:prstGeom prst="rect">
            <a:avLst/>
          </a:prstGeom>
          <a:noFill/>
        </p:spPr>
        <p:txBody>
          <a:bodyPr wrap="square" anchor="t" lIns="25400" rIns="25400" tIns="25400" bIns="25400">
            <a:spAutoFit/>
          </a:bodyPr>
          <a:lstStyle/>
          <a:p>
            <a:pPr algn="l">
              <a:lnSpc>
                <a:spcPct val="122000"/>
              </a:lnSpc>
              <a:spcBef>
                <a:spcPts val="0"/>
              </a:spcBef>
              <a:spcAft>
                <a:spcPts val="200"/>
              </a:spcAft>
            </a:pPr>
            <a:r>
              <a:rPr sz="1180" b="0" i="0">
                <a:solidFill>
                  <a:srgbClr val="2D2D2D"/>
                </a:solidFill>
                <a:latin typeface="Calibri"/>
                <a:ea typeface="Microsoft YaHei"/>
              </a:rPr>
              <a:t>If you pursue fine spatial details, the number of available spectral channels will be limited.</a:t>
            </a:r>
          </a:p>
        </p:txBody>
      </p:sp>
      <p:sp>
        <p:nvSpPr>
          <p:cNvPr id="24" name="Rectangle 23"/>
          <p:cNvSpPr/>
          <p:nvPr/>
        </p:nvSpPr>
        <p:spPr>
          <a:xfrm>
            <a:off x="6199632" y="3840480"/>
            <a:ext cx="5532120" cy="21031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9632" y="3840480"/>
            <a:ext cx="109728" cy="2103120"/>
          </a:xfrm>
          <a:prstGeom prst="rect">
            <a:avLst/>
          </a:prstGeom>
          <a:solidFill>
            <a:srgbClr val="C05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0800" y="4041648"/>
            <a:ext cx="457200" cy="457200"/>
          </a:xfrm>
          <a:prstGeom prst="ellipse">
            <a:avLst/>
          </a:prstGeom>
          <a:solidFill>
            <a:srgbClr val="C05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FFFFFF"/>
                </a:solidFill>
                <a:latin typeface="Calibri"/>
                <a:ea typeface="Microsoft YaHei"/>
              </a:rPr>
              <a:t>4</a:t>
            </a:r>
          </a:p>
        </p:txBody>
      </p:sp>
      <p:sp>
        <p:nvSpPr>
          <p:cNvPr id="27" name="TextBox 26"/>
          <p:cNvSpPr txBox="1"/>
          <p:nvPr/>
        </p:nvSpPr>
        <p:spPr>
          <a:xfrm>
            <a:off x="7022592" y="4059936"/>
            <a:ext cx="457200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450" b="1" i="0">
                <a:solidFill>
                  <a:srgbClr val="C05050"/>
                </a:solidFill>
                <a:latin typeface="Calibri"/>
                <a:ea typeface="Microsoft YaHei"/>
              </a:rPr>
              <a:t>Advanced approaches</a:t>
            </a:r>
          </a:p>
        </p:txBody>
      </p:sp>
      <p:sp>
        <p:nvSpPr>
          <p:cNvPr id="28" name="TextBox 27"/>
          <p:cNvSpPr txBox="1"/>
          <p:nvPr/>
        </p:nvSpPr>
        <p:spPr>
          <a:xfrm>
            <a:off x="6428232" y="4617720"/>
            <a:ext cx="5120640" cy="1188720"/>
          </a:xfrm>
          <a:prstGeom prst="rect">
            <a:avLst/>
          </a:prstGeom>
          <a:noFill/>
        </p:spPr>
        <p:txBody>
          <a:bodyPr wrap="square" anchor="t" lIns="25400" rIns="25400" tIns="25400" bIns="25400">
            <a:spAutoFit/>
          </a:bodyPr>
          <a:lstStyle/>
          <a:p>
            <a:pPr algn="l">
              <a:lnSpc>
                <a:spcPct val="122000"/>
              </a:lnSpc>
              <a:spcBef>
                <a:spcPts val="0"/>
              </a:spcBef>
              <a:spcAft>
                <a:spcPts val="200"/>
              </a:spcAft>
            </a:pPr>
            <a:r>
              <a:rPr sz="1180" b="0" i="0">
                <a:solidFill>
                  <a:srgbClr val="2D2D2D"/>
                </a:solidFill>
                <a:latin typeface="Calibri"/>
                <a:ea typeface="Microsoft YaHei"/>
              </a:rPr>
              <a:t>Snapshot imaging and compressive computational imaging can mitigate this conflict, but cannot completely eliminate the fundamental physical limits from photon availability.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MULTISPECTRAL IMAGING  多光谱成像</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2 · Multispectral Imaging (MSI)</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22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[1] Mukhtar et al., 2025 · [2] Lu &amp; Fei, 2014</a:t>
            </a:r>
          </a:p>
        </p:txBody>
      </p:sp>
      <p:sp>
        <p:nvSpPr>
          <p:cNvPr id="9" name="Rectangle 8"/>
          <p:cNvSpPr/>
          <p:nvPr/>
        </p:nvSpPr>
        <p:spPr>
          <a:xfrm>
            <a:off x="731520" y="1600200"/>
            <a:ext cx="10725912" cy="2286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600200"/>
            <a:ext cx="109728" cy="2286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1783080"/>
            <a:ext cx="10149840" cy="201168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100" b="1" i="0">
                <a:solidFill>
                  <a:srgbClr val="5A5A5A"/>
                </a:solidFill>
                <a:latin typeface="Calibri"/>
                <a:ea typeface="Microsoft YaHei"/>
              </a:rPr>
              <a:t>English  [1]</a:t>
            </a:r>
          </a:p>
          <a:p>
            <a:pPr algn="l">
              <a:lnSpc>
                <a:spcPct val="130000"/>
              </a:lnSpc>
              <a:spcBef>
                <a:spcPts val="400"/>
              </a:spcBef>
              <a:spcAft>
                <a:spcPts val="200"/>
              </a:spcAft>
            </a:pPr>
            <a:r>
              <a:rPr sz="1500" b="0" i="0">
                <a:solidFill>
                  <a:srgbClr val="2D2D2D"/>
                </a:solidFill>
                <a:latin typeface="Calibri"/>
                <a:ea typeface="Microsoft YaHei"/>
              </a:rPr>
              <a:t>By capturing and analyzing how objects reflect, absorb, or emit light across different spectral bands, MSI uncovers information about the composition, structure, and properties of a scene or object. [1]</a:t>
            </a:r>
          </a:p>
        </p:txBody>
      </p:sp>
      <p:sp>
        <p:nvSpPr>
          <p:cNvPr id="12" name="Rectangle 11"/>
          <p:cNvSpPr/>
          <p:nvPr/>
        </p:nvSpPr>
        <p:spPr>
          <a:xfrm>
            <a:off x="731520" y="4114800"/>
            <a:ext cx="10725912" cy="19202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4114800"/>
            <a:ext cx="109728" cy="1920240"/>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4297680"/>
            <a:ext cx="10149840" cy="16459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100" b="1" i="0">
                <a:solidFill>
                  <a:srgbClr val="5A5A5A"/>
                </a:solidFill>
                <a:latin typeface="Calibri"/>
                <a:ea typeface="Microsoft YaHei"/>
              </a:rPr>
              <a:t>中文</a:t>
            </a:r>
          </a:p>
          <a:p>
            <a:pPr algn="l">
              <a:lnSpc>
                <a:spcPct val="130000"/>
              </a:lnSpc>
              <a:spcBef>
                <a:spcPts val="400"/>
              </a:spcBef>
              <a:spcAft>
                <a:spcPts val="200"/>
              </a:spcAft>
            </a:pPr>
            <a:r>
              <a:rPr sz="1500" b="0" i="0">
                <a:solidFill>
                  <a:srgbClr val="2D2D2D"/>
                </a:solidFill>
                <a:latin typeface="Calibri"/>
                <a:ea typeface="Microsoft YaHei"/>
              </a:rPr>
              <a:t>通过捕捉和分析物体在不同光谱带中反射、吸收或发射光的方式，多光谱成像（MSI）能够揭示场景或物体的组成、结构和特性信息。</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Figures from the Literature · Real Multispectral Imaging Platforms</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2 · Multispectral Imaging (MSI)</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23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Mukhtar et al., 2025 (IEEE Access)</a:t>
            </a:r>
          </a:p>
        </p:txBody>
      </p:sp>
      <p:sp>
        <p:nvSpPr>
          <p:cNvPr id="9" name="Rectangle 8"/>
          <p:cNvSpPr/>
          <p:nvPr/>
        </p:nvSpPr>
        <p:spPr>
          <a:xfrm>
            <a:off x="914400" y="1280160"/>
            <a:ext cx="10360152" cy="329184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_msi_platforms.png"/>
          <p:cNvPicPr>
            <a:picLocks noChangeAspect="1"/>
          </p:cNvPicPr>
          <p:nvPr/>
        </p:nvPicPr>
        <p:blipFill>
          <a:blip r:embed="rId2"/>
          <a:stretch>
            <a:fillRect/>
          </a:stretch>
        </p:blipFill>
        <p:spPr>
          <a:xfrm>
            <a:off x="3006490" y="1371600"/>
            <a:ext cx="6175970" cy="3108960"/>
          </a:xfrm>
          <a:prstGeom prst="rect">
            <a:avLst/>
          </a:prstGeom>
        </p:spPr>
      </p:pic>
      <p:sp>
        <p:nvSpPr>
          <p:cNvPr id="11" name="TextBox 10"/>
          <p:cNvSpPr txBox="1"/>
          <p:nvPr/>
        </p:nvSpPr>
        <p:spPr>
          <a:xfrm>
            <a:off x="914400" y="4590288"/>
            <a:ext cx="10360152" cy="777240"/>
          </a:xfrm>
          <a:prstGeom prst="rect">
            <a:avLst/>
          </a:prstGeom>
          <a:noFill/>
        </p:spPr>
        <p:txBody>
          <a:bodyPr wrap="square" anchor="t" lIns="25400" rIns="25400" tIns="25400" bIns="25400">
            <a:spAutoFit/>
          </a:bodyPr>
          <a:lstStyle/>
          <a:p>
            <a:pPr algn="ctr">
              <a:lnSpc>
                <a:spcPct val="108000"/>
              </a:lnSpc>
              <a:spcBef>
                <a:spcPts val="0"/>
              </a:spcBef>
              <a:spcAft>
                <a:spcPts val="200"/>
              </a:spcAft>
            </a:pPr>
            <a:r>
              <a:rPr sz="930" b="0" i="1">
                <a:solidFill>
                  <a:srgbClr val="5A5A5A"/>
                </a:solidFill>
                <a:latin typeface="Calibri"/>
                <a:ea typeface="Microsoft YaHei"/>
              </a:rPr>
              <a:t>FIGURE 8. Representative MSI systems: tunable-LED underwater imager, portable LED-based field imager, and a snapshot pixel-wise polarization camera. (Mukhtar et al., 2025, IEEE Access)</a:t>
            </a:r>
          </a:p>
        </p:txBody>
      </p:sp>
      <p:sp>
        <p:nvSpPr>
          <p:cNvPr id="12" name="Rectangle 11"/>
          <p:cNvSpPr/>
          <p:nvPr/>
        </p:nvSpPr>
        <p:spPr>
          <a:xfrm>
            <a:off x="457200" y="5074920"/>
            <a:ext cx="3639312" cy="1207008"/>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074920"/>
            <a:ext cx="3639312" cy="6400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5175504"/>
            <a:ext cx="3310128"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080" b="1" i="0">
                <a:solidFill>
                  <a:srgbClr val="1B2A4A"/>
                </a:solidFill>
                <a:latin typeface="Calibri"/>
                <a:ea typeface="Microsoft YaHei"/>
              </a:rPr>
              <a:t>(a)  TuLUMIS — underwater MSI</a:t>
            </a:r>
          </a:p>
        </p:txBody>
      </p:sp>
      <p:sp>
        <p:nvSpPr>
          <p:cNvPr id="15" name="TextBox 14"/>
          <p:cNvSpPr txBox="1"/>
          <p:nvPr/>
        </p:nvSpPr>
        <p:spPr>
          <a:xfrm>
            <a:off x="621792" y="5458968"/>
            <a:ext cx="3310128" cy="777240"/>
          </a:xfrm>
          <a:prstGeom prst="rect">
            <a:avLst/>
          </a:prstGeom>
          <a:noFill/>
        </p:spPr>
        <p:txBody>
          <a:bodyPr wrap="square" anchor="t" lIns="25400" rIns="25400" tIns="25400" bIns="25400">
            <a:spAutoFit/>
          </a:bodyPr>
          <a:lstStyle/>
          <a:p>
            <a:pPr algn="l">
              <a:lnSpc>
                <a:spcPct val="110000"/>
              </a:lnSpc>
              <a:spcBef>
                <a:spcPts val="0"/>
              </a:spcBef>
              <a:spcAft>
                <a:spcPts val="200"/>
              </a:spcAft>
            </a:pPr>
            <a:r>
              <a:rPr sz="919" b="0" i="0">
                <a:solidFill>
                  <a:srgbClr val="2D2D2D"/>
                </a:solidFill>
                <a:latin typeface="Calibri"/>
                <a:ea typeface="Microsoft YaHei"/>
              </a:rPr>
              <a:t>Tunable LED-based underwater multispectral system: LEDs, camera and control electronics, here mounted on the PELAGIOS frame during a deployment cruise.</a:t>
            </a:r>
          </a:p>
        </p:txBody>
      </p:sp>
      <p:sp>
        <p:nvSpPr>
          <p:cNvPr id="16" name="Rectangle 15"/>
          <p:cNvSpPr/>
          <p:nvPr/>
        </p:nvSpPr>
        <p:spPr>
          <a:xfrm>
            <a:off x="4261104" y="5074920"/>
            <a:ext cx="3639312" cy="1207008"/>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61104" y="5074920"/>
            <a:ext cx="3639312" cy="6400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25696" y="5175504"/>
            <a:ext cx="3310128"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080" b="1" i="0">
                <a:solidFill>
                  <a:srgbClr val="0096C7"/>
                </a:solidFill>
                <a:latin typeface="Calibri"/>
                <a:ea typeface="Microsoft YaHei"/>
              </a:rPr>
              <a:t>(b)  Portable LED MSI imager</a:t>
            </a:r>
          </a:p>
        </p:txBody>
      </p:sp>
      <p:sp>
        <p:nvSpPr>
          <p:cNvPr id="19" name="TextBox 18"/>
          <p:cNvSpPr txBox="1"/>
          <p:nvPr/>
        </p:nvSpPr>
        <p:spPr>
          <a:xfrm>
            <a:off x="4425696" y="5458968"/>
            <a:ext cx="3310128" cy="777240"/>
          </a:xfrm>
          <a:prstGeom prst="rect">
            <a:avLst/>
          </a:prstGeom>
          <a:noFill/>
        </p:spPr>
        <p:txBody>
          <a:bodyPr wrap="square" anchor="t" lIns="25400" rIns="25400" tIns="25400" bIns="25400">
            <a:spAutoFit/>
          </a:bodyPr>
          <a:lstStyle/>
          <a:p>
            <a:pPr algn="l">
              <a:lnSpc>
                <a:spcPct val="110000"/>
              </a:lnSpc>
              <a:spcBef>
                <a:spcPts val="0"/>
              </a:spcBef>
              <a:spcAft>
                <a:spcPts val="200"/>
              </a:spcAft>
            </a:pPr>
            <a:r>
              <a:rPr sz="919" b="0" i="0">
                <a:solidFill>
                  <a:srgbClr val="2D2D2D"/>
                </a:solidFill>
                <a:latin typeface="Calibri"/>
                <a:ea typeface="Microsoft YaHei"/>
              </a:rPr>
              <a:t>Low-cost multispectral imager with a multi-spectral LED board and a tablet for real-time visualisation — compact for field applications.</a:t>
            </a:r>
          </a:p>
        </p:txBody>
      </p:sp>
      <p:sp>
        <p:nvSpPr>
          <p:cNvPr id="20" name="Rectangle 19"/>
          <p:cNvSpPr/>
          <p:nvPr/>
        </p:nvSpPr>
        <p:spPr>
          <a:xfrm>
            <a:off x="8065008" y="5074920"/>
            <a:ext cx="3639312" cy="1207008"/>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65008" y="5074920"/>
            <a:ext cx="3639312" cy="64008"/>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5175504"/>
            <a:ext cx="3310128"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080" b="1" i="0">
                <a:solidFill>
                  <a:srgbClr val="F4A25F"/>
                </a:solidFill>
                <a:latin typeface="Calibri"/>
                <a:ea typeface="Microsoft YaHei"/>
              </a:rPr>
              <a:t>(c)  Snapshot P-DACC camera</a:t>
            </a:r>
          </a:p>
        </p:txBody>
      </p:sp>
      <p:sp>
        <p:nvSpPr>
          <p:cNvPr id="23" name="TextBox 22"/>
          <p:cNvSpPr txBox="1"/>
          <p:nvPr/>
        </p:nvSpPr>
        <p:spPr>
          <a:xfrm>
            <a:off x="8229600" y="5458968"/>
            <a:ext cx="3310128" cy="777240"/>
          </a:xfrm>
          <a:prstGeom prst="rect">
            <a:avLst/>
          </a:prstGeom>
          <a:noFill/>
        </p:spPr>
        <p:txBody>
          <a:bodyPr wrap="square" anchor="t" lIns="25400" rIns="25400" tIns="25400" bIns="25400">
            <a:spAutoFit/>
          </a:bodyPr>
          <a:lstStyle/>
          <a:p>
            <a:pPr algn="l">
              <a:lnSpc>
                <a:spcPct val="110000"/>
              </a:lnSpc>
              <a:spcBef>
                <a:spcPts val="0"/>
              </a:spcBef>
              <a:spcAft>
                <a:spcPts val="200"/>
              </a:spcAft>
            </a:pPr>
            <a:r>
              <a:rPr sz="919" b="0" i="0">
                <a:solidFill>
                  <a:srgbClr val="2D2D2D"/>
                </a:solidFill>
                <a:latin typeface="Calibri"/>
                <a:ea typeface="Microsoft YaHei"/>
              </a:rPr>
              <a:t>Pixel-wise polarization sensor with colour wheel and imaging lens: a single exposure captures a multispectral / polarisation data cube.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HYPERSPECTRAL IMAGING  高光谱成像</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2 · Hyperspectral Imaging (HSI)</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24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[1] Mukhtar et al., 2025 · [2] Lu &amp; Fei, 2014</a:t>
            </a:r>
          </a:p>
        </p:txBody>
      </p:sp>
      <p:sp>
        <p:nvSpPr>
          <p:cNvPr id="9" name="Rectangle 8"/>
          <p:cNvSpPr/>
          <p:nvPr/>
        </p:nvSpPr>
        <p:spPr>
          <a:xfrm>
            <a:off x="731520" y="1600200"/>
            <a:ext cx="10725912" cy="2286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600200"/>
            <a:ext cx="109728" cy="2286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1783080"/>
            <a:ext cx="10149840" cy="201168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100" b="1" i="0">
                <a:solidFill>
                  <a:srgbClr val="5A5A5A"/>
                </a:solidFill>
                <a:latin typeface="Calibri"/>
                <a:ea typeface="Microsoft YaHei"/>
              </a:rPr>
              <a:t>English  [1]</a:t>
            </a:r>
          </a:p>
          <a:p>
            <a:pPr algn="l">
              <a:lnSpc>
                <a:spcPct val="130000"/>
              </a:lnSpc>
              <a:spcBef>
                <a:spcPts val="400"/>
              </a:spcBef>
              <a:spcAft>
                <a:spcPts val="200"/>
              </a:spcAft>
            </a:pPr>
            <a:r>
              <a:rPr sz="1500" b="0" i="0">
                <a:solidFill>
                  <a:srgbClr val="2D2D2D"/>
                </a:solidFill>
                <a:latin typeface="Calibri"/>
                <a:ea typeface="Microsoft YaHei"/>
              </a:rPr>
              <a:t>While MSI systems have long provided a balance between spectral information and ease of implementation, the HSI systems have pushed the boundaries in terms of providing deep spectral insight. [1]</a:t>
            </a:r>
          </a:p>
        </p:txBody>
      </p:sp>
      <p:sp>
        <p:nvSpPr>
          <p:cNvPr id="12" name="Rectangle 11"/>
          <p:cNvSpPr/>
          <p:nvPr/>
        </p:nvSpPr>
        <p:spPr>
          <a:xfrm>
            <a:off x="731520" y="4114800"/>
            <a:ext cx="10725912" cy="19202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4114800"/>
            <a:ext cx="109728" cy="1920240"/>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4297680"/>
            <a:ext cx="10149840" cy="16459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100" b="1" i="0">
                <a:solidFill>
                  <a:srgbClr val="5A5A5A"/>
                </a:solidFill>
                <a:latin typeface="Calibri"/>
                <a:ea typeface="Microsoft YaHei"/>
              </a:rPr>
              <a:t>中文</a:t>
            </a:r>
          </a:p>
          <a:p>
            <a:pPr algn="l">
              <a:lnSpc>
                <a:spcPct val="130000"/>
              </a:lnSpc>
              <a:spcBef>
                <a:spcPts val="400"/>
              </a:spcBef>
              <a:spcAft>
                <a:spcPts val="200"/>
              </a:spcAft>
            </a:pPr>
            <a:r>
              <a:rPr sz="1500" b="0" i="0">
                <a:solidFill>
                  <a:srgbClr val="2D2D2D"/>
                </a:solidFill>
                <a:latin typeface="Calibri"/>
                <a:ea typeface="Microsoft YaHei"/>
              </a:rPr>
              <a:t>虽然多光谱成像（MSI）系统长期以来一直在光谱信息与实施便捷性之间寻求平衡，但高光谱成像（HSI）系统在提供深入的光谱洞察方面则突破了界限。</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HSI · Advantages in Agriculture &amp; Food Quality Estimation</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2 · Hyperspectral Imaging (HSI)</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25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[2] Lu &amp; Fei, 2014</a:t>
            </a:r>
          </a:p>
        </p:txBody>
      </p:sp>
      <p:sp>
        <p:nvSpPr>
          <p:cNvPr id="9" name="TextBox 8"/>
          <p:cNvSpPr txBox="1"/>
          <p:nvPr/>
        </p:nvSpPr>
        <p:spPr>
          <a:xfrm>
            <a:off x="457200" y="1280160"/>
            <a:ext cx="11247120" cy="45720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300" b="1" i="0">
                <a:solidFill>
                  <a:srgbClr val="1B2A4A"/>
                </a:solidFill>
                <a:latin typeface="Calibri"/>
                <a:ea typeface="Microsoft YaHei"/>
              </a:rPr>
              <a:t>The pros of using Hyperspectral Imaging in different applications such as agriculture, and food quality estimation are as follows [2]:</a:t>
            </a:r>
          </a:p>
        </p:txBody>
      </p:sp>
      <p:sp>
        <p:nvSpPr>
          <p:cNvPr id="10" name="Rectangle 9"/>
          <p:cNvSpPr/>
          <p:nvPr/>
        </p:nvSpPr>
        <p:spPr>
          <a:xfrm>
            <a:off x="457200" y="1874519"/>
            <a:ext cx="3639312" cy="19659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874519"/>
            <a:ext cx="3639312" cy="64008"/>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039112"/>
            <a:ext cx="3291840" cy="3200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500" b="1" i="0">
                <a:solidFill>
                  <a:srgbClr val="2E7D5B"/>
                </a:solidFill>
                <a:latin typeface="Calibri"/>
                <a:ea typeface="Microsoft YaHei"/>
              </a:rPr>
              <a:t>(i)</a:t>
            </a:r>
          </a:p>
        </p:txBody>
      </p:sp>
      <p:sp>
        <p:nvSpPr>
          <p:cNvPr id="13" name="TextBox 12"/>
          <p:cNvSpPr txBox="1"/>
          <p:nvPr/>
        </p:nvSpPr>
        <p:spPr>
          <a:xfrm>
            <a:off x="640080" y="2423160"/>
            <a:ext cx="3291840" cy="1325880"/>
          </a:xfrm>
          <a:prstGeom prst="rect">
            <a:avLst/>
          </a:prstGeom>
          <a:noFill/>
        </p:spPr>
        <p:txBody>
          <a:bodyPr wrap="square" anchor="t" lIns="25400" rIns="25400" tIns="25400" bIns="25400">
            <a:spAutoFit/>
          </a:bodyPr>
          <a:lstStyle/>
          <a:p>
            <a:pPr algn="l">
              <a:lnSpc>
                <a:spcPct val="118000"/>
              </a:lnSpc>
              <a:spcBef>
                <a:spcPts val="0"/>
              </a:spcBef>
              <a:spcAft>
                <a:spcPts val="200"/>
              </a:spcAft>
            </a:pPr>
            <a:r>
              <a:rPr sz="1080" b="0" i="0">
                <a:solidFill>
                  <a:srgbClr val="2D2D2D"/>
                </a:solidFill>
                <a:latin typeface="Calibri"/>
                <a:ea typeface="Microsoft YaHei"/>
              </a:rPr>
              <a:t>It is a non-invasive, non-contact, non-destructive technology that ensures the quality and safety of food goods.</a:t>
            </a:r>
          </a:p>
        </p:txBody>
      </p:sp>
      <p:sp>
        <p:nvSpPr>
          <p:cNvPr id="14" name="Rectangle 13"/>
          <p:cNvSpPr/>
          <p:nvPr/>
        </p:nvSpPr>
        <p:spPr>
          <a:xfrm>
            <a:off x="4261104" y="1874519"/>
            <a:ext cx="3639312" cy="19659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61104" y="1874519"/>
            <a:ext cx="3639312" cy="64008"/>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3984" y="2039112"/>
            <a:ext cx="3291840" cy="3200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500" b="1" i="0">
                <a:solidFill>
                  <a:srgbClr val="2E7D5B"/>
                </a:solidFill>
                <a:latin typeface="Calibri"/>
                <a:ea typeface="Microsoft YaHei"/>
              </a:rPr>
              <a:t>(ii)</a:t>
            </a:r>
          </a:p>
        </p:txBody>
      </p:sp>
      <p:sp>
        <p:nvSpPr>
          <p:cNvPr id="17" name="TextBox 16"/>
          <p:cNvSpPr txBox="1"/>
          <p:nvPr/>
        </p:nvSpPr>
        <p:spPr>
          <a:xfrm>
            <a:off x="4443984" y="2423160"/>
            <a:ext cx="3291840" cy="1325880"/>
          </a:xfrm>
          <a:prstGeom prst="rect">
            <a:avLst/>
          </a:prstGeom>
          <a:noFill/>
        </p:spPr>
        <p:txBody>
          <a:bodyPr wrap="square" anchor="t" lIns="25400" rIns="25400" tIns="25400" bIns="25400">
            <a:spAutoFit/>
          </a:bodyPr>
          <a:lstStyle/>
          <a:p>
            <a:pPr algn="l">
              <a:lnSpc>
                <a:spcPct val="118000"/>
              </a:lnSpc>
              <a:spcBef>
                <a:spcPts val="0"/>
              </a:spcBef>
              <a:spcAft>
                <a:spcPts val="200"/>
              </a:spcAft>
            </a:pPr>
            <a:r>
              <a:rPr sz="1080" b="0" i="0">
                <a:solidFill>
                  <a:srgbClr val="2D2D2D"/>
                </a:solidFill>
                <a:latin typeface="Calibri"/>
                <a:ea typeface="Microsoft YaHei"/>
              </a:rPr>
              <a:t>The experiments use no chemicals, therefore environmentally safe.</a:t>
            </a:r>
          </a:p>
        </p:txBody>
      </p:sp>
      <p:sp>
        <p:nvSpPr>
          <p:cNvPr id="18" name="Rectangle 17"/>
          <p:cNvSpPr/>
          <p:nvPr/>
        </p:nvSpPr>
        <p:spPr>
          <a:xfrm>
            <a:off x="8065008" y="1874519"/>
            <a:ext cx="3639312" cy="19659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65008" y="1874519"/>
            <a:ext cx="3639312" cy="64008"/>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7888" y="2039112"/>
            <a:ext cx="3291840" cy="3200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500" b="1" i="0">
                <a:solidFill>
                  <a:srgbClr val="2E7D5B"/>
                </a:solidFill>
                <a:latin typeface="Calibri"/>
                <a:ea typeface="Microsoft YaHei"/>
              </a:rPr>
              <a:t>(iii)</a:t>
            </a:r>
          </a:p>
        </p:txBody>
      </p:sp>
      <p:sp>
        <p:nvSpPr>
          <p:cNvPr id="21" name="TextBox 20"/>
          <p:cNvSpPr txBox="1"/>
          <p:nvPr/>
        </p:nvSpPr>
        <p:spPr>
          <a:xfrm>
            <a:off x="8247888" y="2423160"/>
            <a:ext cx="3291840" cy="1325880"/>
          </a:xfrm>
          <a:prstGeom prst="rect">
            <a:avLst/>
          </a:prstGeom>
          <a:noFill/>
        </p:spPr>
        <p:txBody>
          <a:bodyPr wrap="square" anchor="t" lIns="25400" rIns="25400" tIns="25400" bIns="25400">
            <a:spAutoFit/>
          </a:bodyPr>
          <a:lstStyle/>
          <a:p>
            <a:pPr algn="l">
              <a:lnSpc>
                <a:spcPct val="118000"/>
              </a:lnSpc>
              <a:spcBef>
                <a:spcPts val="0"/>
              </a:spcBef>
              <a:spcAft>
                <a:spcPts val="200"/>
              </a:spcAft>
            </a:pPr>
            <a:r>
              <a:rPr sz="1080" b="0" i="0">
                <a:solidFill>
                  <a:srgbClr val="2D2D2D"/>
                </a:solidFill>
                <a:latin typeface="Calibri"/>
                <a:ea typeface="Microsoft YaHei"/>
              </a:rPr>
              <a:t>The time required to process for quality evaluation and food control/storage is low compared to chemical and traditional approaches.</a:t>
            </a:r>
          </a:p>
        </p:txBody>
      </p:sp>
      <p:sp>
        <p:nvSpPr>
          <p:cNvPr id="22" name="Rectangle 21"/>
          <p:cNvSpPr/>
          <p:nvPr/>
        </p:nvSpPr>
        <p:spPr>
          <a:xfrm>
            <a:off x="457200" y="4023360"/>
            <a:ext cx="3639312" cy="19659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4023360"/>
            <a:ext cx="3639312" cy="64008"/>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4187952"/>
            <a:ext cx="3291840" cy="3200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500" b="1" i="0">
                <a:solidFill>
                  <a:srgbClr val="2E7D5B"/>
                </a:solidFill>
                <a:latin typeface="Calibri"/>
                <a:ea typeface="Microsoft YaHei"/>
              </a:rPr>
              <a:t>(iv)</a:t>
            </a:r>
          </a:p>
        </p:txBody>
      </p:sp>
      <p:sp>
        <p:nvSpPr>
          <p:cNvPr id="25" name="TextBox 24"/>
          <p:cNvSpPr txBox="1"/>
          <p:nvPr/>
        </p:nvSpPr>
        <p:spPr>
          <a:xfrm>
            <a:off x="640080" y="4572000"/>
            <a:ext cx="3291840" cy="1325880"/>
          </a:xfrm>
          <a:prstGeom prst="rect">
            <a:avLst/>
          </a:prstGeom>
          <a:noFill/>
        </p:spPr>
        <p:txBody>
          <a:bodyPr wrap="square" anchor="t" lIns="25400" rIns="25400" tIns="25400" bIns="25400">
            <a:spAutoFit/>
          </a:bodyPr>
          <a:lstStyle/>
          <a:p>
            <a:pPr algn="l">
              <a:lnSpc>
                <a:spcPct val="118000"/>
              </a:lnSpc>
              <a:spcBef>
                <a:spcPts val="0"/>
              </a:spcBef>
              <a:spcAft>
                <a:spcPts val="200"/>
              </a:spcAft>
            </a:pPr>
            <a:r>
              <a:rPr sz="1080" b="0" i="0">
                <a:solidFill>
                  <a:srgbClr val="2D2D2D"/>
                </a:solidFill>
                <a:latin typeface="Calibri"/>
                <a:ea typeface="Microsoft YaHei"/>
              </a:rPr>
              <a:t>It gives an improved understanding of the chemical elements of food products and is generally known as chemical imaging.</a:t>
            </a:r>
          </a:p>
        </p:txBody>
      </p:sp>
      <p:sp>
        <p:nvSpPr>
          <p:cNvPr id="26" name="Rectangle 25"/>
          <p:cNvSpPr/>
          <p:nvPr/>
        </p:nvSpPr>
        <p:spPr>
          <a:xfrm>
            <a:off x="4261104" y="4023360"/>
            <a:ext cx="3639312" cy="19659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261104" y="4023360"/>
            <a:ext cx="3639312" cy="64008"/>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43984" y="4187952"/>
            <a:ext cx="3291840" cy="3200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500" b="1" i="0">
                <a:solidFill>
                  <a:srgbClr val="2E7D5B"/>
                </a:solidFill>
                <a:latin typeface="Calibri"/>
                <a:ea typeface="Microsoft YaHei"/>
              </a:rPr>
              <a:t>(v)</a:t>
            </a:r>
          </a:p>
        </p:txBody>
      </p:sp>
      <p:sp>
        <p:nvSpPr>
          <p:cNvPr id="29" name="TextBox 28"/>
          <p:cNvSpPr txBox="1"/>
          <p:nvPr/>
        </p:nvSpPr>
        <p:spPr>
          <a:xfrm>
            <a:off x="4443984" y="4572000"/>
            <a:ext cx="3291840" cy="1325880"/>
          </a:xfrm>
          <a:prstGeom prst="rect">
            <a:avLst/>
          </a:prstGeom>
          <a:noFill/>
        </p:spPr>
        <p:txBody>
          <a:bodyPr wrap="square" anchor="t" lIns="25400" rIns="25400" tIns="25400" bIns="25400">
            <a:spAutoFit/>
          </a:bodyPr>
          <a:lstStyle/>
          <a:p>
            <a:pPr algn="l">
              <a:lnSpc>
                <a:spcPct val="118000"/>
              </a:lnSpc>
              <a:spcBef>
                <a:spcPts val="0"/>
              </a:spcBef>
              <a:spcAft>
                <a:spcPts val="200"/>
              </a:spcAft>
            </a:pPr>
            <a:r>
              <a:rPr sz="1080" b="0" i="0">
                <a:solidFill>
                  <a:srgbClr val="2D2D2D"/>
                </a:solidFill>
                <a:latin typeface="Calibri"/>
                <a:ea typeface="Microsoft YaHei"/>
              </a:rPr>
              <a:t>It provides appropriate area selection for critical analysis of the image.</a:t>
            </a:r>
          </a:p>
        </p:txBody>
      </p:sp>
      <p:sp>
        <p:nvSpPr>
          <p:cNvPr id="30" name="Rectangle 29"/>
          <p:cNvSpPr/>
          <p:nvPr/>
        </p:nvSpPr>
        <p:spPr>
          <a:xfrm>
            <a:off x="8065008" y="4023360"/>
            <a:ext cx="3639312" cy="19659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65008" y="4023360"/>
            <a:ext cx="3639312" cy="64008"/>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47888" y="4187952"/>
            <a:ext cx="3291840" cy="3200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500" b="1" i="0">
                <a:solidFill>
                  <a:srgbClr val="2E7D5B"/>
                </a:solidFill>
                <a:latin typeface="Calibri"/>
                <a:ea typeface="Microsoft YaHei"/>
              </a:rPr>
              <a:t>(vi)</a:t>
            </a:r>
          </a:p>
        </p:txBody>
      </p:sp>
      <p:sp>
        <p:nvSpPr>
          <p:cNvPr id="33" name="TextBox 32"/>
          <p:cNvSpPr txBox="1"/>
          <p:nvPr/>
        </p:nvSpPr>
        <p:spPr>
          <a:xfrm>
            <a:off x="8247888" y="4572000"/>
            <a:ext cx="3291840" cy="1325880"/>
          </a:xfrm>
          <a:prstGeom prst="rect">
            <a:avLst/>
          </a:prstGeom>
          <a:noFill/>
        </p:spPr>
        <p:txBody>
          <a:bodyPr wrap="square" anchor="t" lIns="25400" rIns="25400" tIns="25400" bIns="25400">
            <a:spAutoFit/>
          </a:bodyPr>
          <a:lstStyle/>
          <a:p>
            <a:pPr algn="l">
              <a:lnSpc>
                <a:spcPct val="118000"/>
              </a:lnSpc>
              <a:spcBef>
                <a:spcPts val="0"/>
              </a:spcBef>
              <a:spcAft>
                <a:spcPts val="200"/>
              </a:spcAft>
            </a:pPr>
            <a:r>
              <a:rPr sz="1080" b="0" i="0">
                <a:solidFill>
                  <a:srgbClr val="2D2D2D"/>
                </a:solidFill>
                <a:latin typeface="Calibri"/>
                <a:ea typeface="Microsoft YaHei"/>
              </a:rPr>
              <a:t>It gains spatial and spectral information together to provide more appropriate and accurate data concerning chemical samples from interested platforms and enhance a chance to data refine and achieve further experiments.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HSI · Limitations</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2 · Hyperspectral Imaging (HSI)</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26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[2] Lu &amp; Fei, 2014</a:t>
            </a:r>
          </a:p>
        </p:txBody>
      </p:sp>
      <p:sp>
        <p:nvSpPr>
          <p:cNvPr id="9" name="TextBox 8"/>
          <p:cNvSpPr txBox="1"/>
          <p:nvPr/>
        </p:nvSpPr>
        <p:spPr>
          <a:xfrm>
            <a:off x="457200" y="1325880"/>
            <a:ext cx="1124712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400" b="1" i="0">
                <a:solidFill>
                  <a:srgbClr val="1B2A4A"/>
                </a:solidFill>
                <a:latin typeface="Calibri"/>
                <a:ea typeface="Microsoft YaHei"/>
              </a:rPr>
              <a:t>Despite its pros, Hyperspectral Imaging also has some cons [2].</a:t>
            </a:r>
          </a:p>
        </p:txBody>
      </p:sp>
      <p:sp>
        <p:nvSpPr>
          <p:cNvPr id="10" name="Rectangle 9"/>
          <p:cNvSpPr/>
          <p:nvPr/>
        </p:nvSpPr>
        <p:spPr>
          <a:xfrm>
            <a:off x="457200" y="1828800"/>
            <a:ext cx="5532120" cy="20116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828800"/>
            <a:ext cx="109728" cy="2011680"/>
          </a:xfrm>
          <a:prstGeom prst="rect">
            <a:avLst/>
          </a:prstGeom>
          <a:solidFill>
            <a:srgbClr val="C05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2011680"/>
            <a:ext cx="512064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350" b="1" i="0">
                <a:solidFill>
                  <a:srgbClr val="C05050"/>
                </a:solidFill>
                <a:latin typeface="Calibri"/>
                <a:ea typeface="Microsoft YaHei"/>
              </a:rPr>
              <a:t>(i)  High cost</a:t>
            </a:r>
          </a:p>
        </p:txBody>
      </p:sp>
      <p:sp>
        <p:nvSpPr>
          <p:cNvPr id="13" name="TextBox 12"/>
          <p:cNvSpPr txBox="1"/>
          <p:nvPr/>
        </p:nvSpPr>
        <p:spPr>
          <a:xfrm>
            <a:off x="713232" y="2487168"/>
            <a:ext cx="5074920" cy="1234440"/>
          </a:xfrm>
          <a:prstGeom prst="rect">
            <a:avLst/>
          </a:prstGeom>
          <a:noFill/>
        </p:spPr>
        <p:txBody>
          <a:bodyPr wrap="square" anchor="t" lIns="25400" rIns="25400" tIns="25400" bIns="25400">
            <a:spAutoFit/>
          </a:bodyPr>
          <a:lstStyle/>
          <a:p>
            <a:pPr algn="l">
              <a:lnSpc>
                <a:spcPct val="122000"/>
              </a:lnSpc>
              <a:spcBef>
                <a:spcPts val="0"/>
              </a:spcBef>
              <a:spcAft>
                <a:spcPts val="200"/>
              </a:spcAft>
            </a:pPr>
            <a:r>
              <a:rPr sz="1150" b="0" i="0">
                <a:solidFill>
                  <a:srgbClr val="2D2D2D"/>
                </a:solidFill>
                <a:latin typeface="Calibri"/>
                <a:ea typeface="Microsoft YaHei"/>
              </a:rPr>
              <a:t>A hyperspectral imaging system is highly costly compared to other image processing techniques.</a:t>
            </a:r>
          </a:p>
        </p:txBody>
      </p:sp>
      <p:sp>
        <p:nvSpPr>
          <p:cNvPr id="14" name="Rectangle 13"/>
          <p:cNvSpPr/>
          <p:nvPr/>
        </p:nvSpPr>
        <p:spPr>
          <a:xfrm>
            <a:off x="6199632" y="1828800"/>
            <a:ext cx="5532120" cy="20116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99632" y="1828800"/>
            <a:ext cx="109728" cy="2011680"/>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5664" y="2011680"/>
            <a:ext cx="512064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350" b="1" i="0">
                <a:solidFill>
                  <a:srgbClr val="F4A25F"/>
                </a:solidFill>
                <a:latin typeface="Calibri"/>
                <a:ea typeface="Microsoft YaHei"/>
              </a:rPr>
              <a:t>(ii)  Large data size</a:t>
            </a:r>
          </a:p>
        </p:txBody>
      </p:sp>
      <p:sp>
        <p:nvSpPr>
          <p:cNvPr id="17" name="TextBox 16"/>
          <p:cNvSpPr txBox="1"/>
          <p:nvPr/>
        </p:nvSpPr>
        <p:spPr>
          <a:xfrm>
            <a:off x="6455664" y="2487168"/>
            <a:ext cx="5074920" cy="1234440"/>
          </a:xfrm>
          <a:prstGeom prst="rect">
            <a:avLst/>
          </a:prstGeom>
          <a:noFill/>
        </p:spPr>
        <p:txBody>
          <a:bodyPr wrap="square" anchor="t" lIns="25400" rIns="25400" tIns="25400" bIns="25400">
            <a:spAutoFit/>
          </a:bodyPr>
          <a:lstStyle/>
          <a:p>
            <a:pPr algn="l">
              <a:lnSpc>
                <a:spcPct val="122000"/>
              </a:lnSpc>
              <a:spcBef>
                <a:spcPts val="0"/>
              </a:spcBef>
              <a:spcAft>
                <a:spcPts val="200"/>
              </a:spcAft>
            </a:pPr>
            <a:r>
              <a:rPr sz="1150" b="0" i="0">
                <a:solidFill>
                  <a:srgbClr val="2D2D2D"/>
                </a:solidFill>
                <a:latin typeface="Calibri"/>
                <a:ea typeface="Microsoft YaHei"/>
              </a:rPr>
              <a:t>Since the data size of hyperspectral imaging is large, there is a demand for high-speed computers for the processing of data and extensive capacity drives for the storage of data.</a:t>
            </a:r>
          </a:p>
        </p:txBody>
      </p:sp>
      <p:sp>
        <p:nvSpPr>
          <p:cNvPr id="18" name="Rectangle 17"/>
          <p:cNvSpPr/>
          <p:nvPr/>
        </p:nvSpPr>
        <p:spPr>
          <a:xfrm>
            <a:off x="457200" y="4023360"/>
            <a:ext cx="5532120" cy="20116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4023360"/>
            <a:ext cx="109728" cy="201168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4206240"/>
            <a:ext cx="512064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350" b="1" i="0">
                <a:solidFill>
                  <a:srgbClr val="0096C7"/>
                </a:solidFill>
                <a:latin typeface="Calibri"/>
                <a:ea typeface="Microsoft YaHei"/>
              </a:rPr>
              <a:t>(iii)  Ambient interference</a:t>
            </a:r>
          </a:p>
        </p:txBody>
      </p:sp>
      <p:sp>
        <p:nvSpPr>
          <p:cNvPr id="21" name="TextBox 20"/>
          <p:cNvSpPr txBox="1"/>
          <p:nvPr/>
        </p:nvSpPr>
        <p:spPr>
          <a:xfrm>
            <a:off x="713232" y="4681728"/>
            <a:ext cx="5074920" cy="1234440"/>
          </a:xfrm>
          <a:prstGeom prst="rect">
            <a:avLst/>
          </a:prstGeom>
          <a:noFill/>
        </p:spPr>
        <p:txBody>
          <a:bodyPr wrap="square" anchor="t" lIns="25400" rIns="25400" tIns="25400" bIns="25400">
            <a:spAutoFit/>
          </a:bodyPr>
          <a:lstStyle/>
          <a:p>
            <a:pPr algn="l">
              <a:lnSpc>
                <a:spcPct val="122000"/>
              </a:lnSpc>
              <a:spcBef>
                <a:spcPts val="0"/>
              </a:spcBef>
              <a:spcAft>
                <a:spcPts val="200"/>
              </a:spcAft>
            </a:pPr>
            <a:r>
              <a:rPr sz="1150" b="0" i="0">
                <a:solidFill>
                  <a:srgbClr val="2D2D2D"/>
                </a:solidFill>
                <a:latin typeface="Calibri"/>
                <a:ea typeface="Microsoft YaHei"/>
              </a:rPr>
              <a:t>While acquiring the images, the signal could be impacted by ambient surroundings such as scattering, illumination, etc., therefore producing a destitute signal-to-noise ratio.</a:t>
            </a:r>
          </a:p>
        </p:txBody>
      </p:sp>
      <p:sp>
        <p:nvSpPr>
          <p:cNvPr id="22" name="Rectangle 21"/>
          <p:cNvSpPr/>
          <p:nvPr/>
        </p:nvSpPr>
        <p:spPr>
          <a:xfrm>
            <a:off x="6199632" y="4023360"/>
            <a:ext cx="5532120" cy="20116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99632" y="4023360"/>
            <a:ext cx="109728" cy="201168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55664" y="4206240"/>
            <a:ext cx="512064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350" b="1" i="0">
                <a:solidFill>
                  <a:srgbClr val="1B2A4A"/>
                </a:solidFill>
                <a:latin typeface="Calibri"/>
                <a:ea typeface="Microsoft YaHei"/>
              </a:rPr>
              <a:t>(iv)  Difficult discrimination</a:t>
            </a:r>
          </a:p>
        </p:txBody>
      </p:sp>
      <p:sp>
        <p:nvSpPr>
          <p:cNvPr id="25" name="TextBox 24"/>
          <p:cNvSpPr txBox="1"/>
          <p:nvPr/>
        </p:nvSpPr>
        <p:spPr>
          <a:xfrm>
            <a:off x="6455664" y="4681728"/>
            <a:ext cx="5074920" cy="1234440"/>
          </a:xfrm>
          <a:prstGeom prst="rect">
            <a:avLst/>
          </a:prstGeom>
          <a:noFill/>
        </p:spPr>
        <p:txBody>
          <a:bodyPr wrap="square" anchor="t" lIns="25400" rIns="25400" tIns="25400" bIns="25400">
            <a:spAutoFit/>
          </a:bodyPr>
          <a:lstStyle/>
          <a:p>
            <a:pPr algn="l">
              <a:lnSpc>
                <a:spcPct val="122000"/>
              </a:lnSpc>
              <a:spcBef>
                <a:spcPts val="0"/>
              </a:spcBef>
              <a:spcAft>
                <a:spcPts val="200"/>
              </a:spcAft>
            </a:pPr>
            <a:r>
              <a:rPr sz="1150" b="0" i="0">
                <a:solidFill>
                  <a:srgbClr val="2D2D2D"/>
                </a:solidFill>
                <a:latin typeface="Calibri"/>
                <a:ea typeface="Microsoft YaHei"/>
              </a:rPr>
              <a:t>Detection and identification of different items within the equivalent image using spectral data is mostly difficult except the diverse objects have distinct absorption features.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Multispectral Imaging VS Hyperspectral Imaging</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2 · Multispectral vs. Hyperspectral</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27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[1] Mukhtar et al., 2025 · [2] Lu &amp; Fei, 2014</a:t>
            </a:r>
          </a:p>
        </p:txBody>
      </p:sp>
      <p:graphicFrame>
        <p:nvGraphicFramePr>
          <p:cNvPr id="9" name="Table 8"/>
          <p:cNvGraphicFramePr>
            <a:graphicFrameLocks noGrp="1"/>
          </p:cNvGraphicFramePr>
          <p:nvPr/>
        </p:nvGraphicFramePr>
        <p:xfrm>
          <a:off x="457200" y="1280160"/>
          <a:ext cx="11274552" cy="3328416"/>
        </p:xfrm>
        <a:graphic>
          <a:graphicData uri="http://schemas.openxmlformats.org/drawingml/2006/table">
            <a:tbl>
              <a:tblPr>
                <a:tableStyleId>{5C22544A-7EE6-4342-B048-85BDC9FD1C3A}</a:tableStyleId>
              </a:tblPr>
              <a:tblGrid>
                <a:gridCol w="2514600"/>
                <a:gridCol w="4379976"/>
                <a:gridCol w="4379976"/>
              </a:tblGrid>
              <a:tr h="548640">
                <a:tc>
                  <a:txBody>
                    <a:bodyPr/>
                    <a:lstStyle/>
                    <a:p>
                      <a:r>
                        <a:rPr sz="1350" b="1" i="0">
                          <a:solidFill>
                            <a:srgbClr val="FFFFFF"/>
                          </a:solidFill>
                          <a:latin typeface="Calibri"/>
                          <a:ea typeface="Microsoft YaHei"/>
                        </a:rPr>
                        <a:t/>
                      </a:r>
                    </a:p>
                  </a:txBody>
                  <a:tcPr marL="91440" marR="73152" marT="27432" marB="27432" anchor="ctr">
                    <a:solidFill>
                      <a:srgbClr val="1B2A4A"/>
                    </a:solidFill>
                  </a:tcPr>
                </a:tc>
                <a:tc>
                  <a:txBody>
                    <a:bodyPr/>
                    <a:lstStyle/>
                    <a:p>
                      <a:r>
                        <a:rPr sz="1350" b="1" i="0">
                          <a:solidFill>
                            <a:srgbClr val="FFFFFF"/>
                          </a:solidFill>
                          <a:latin typeface="Calibri"/>
                          <a:ea typeface="Microsoft YaHei"/>
                        </a:rPr>
                        <a:t>Multispectral Imaging  多光谱成像</a:t>
                      </a:r>
                    </a:p>
                  </a:txBody>
                  <a:tcPr marL="91440" marR="73152" marT="27432" marB="27432" anchor="ctr">
                    <a:solidFill>
                      <a:srgbClr val="1B2A4A"/>
                    </a:solidFill>
                  </a:tcPr>
                </a:tc>
                <a:tc>
                  <a:txBody>
                    <a:bodyPr/>
                    <a:lstStyle/>
                    <a:p>
                      <a:r>
                        <a:rPr sz="1350" b="1" i="0">
                          <a:solidFill>
                            <a:srgbClr val="FFFFFF"/>
                          </a:solidFill>
                          <a:latin typeface="Calibri"/>
                          <a:ea typeface="Microsoft YaHei"/>
                        </a:rPr>
                        <a:t>Hyperspectral Imaging  高光谱成像</a:t>
                      </a:r>
                    </a:p>
                  </a:txBody>
                  <a:tcPr marL="91440" marR="73152" marT="27432" marB="27432" anchor="ctr">
                    <a:solidFill>
                      <a:srgbClr val="1B2A4A"/>
                    </a:solidFill>
                  </a:tcPr>
                </a:tc>
              </a:tr>
              <a:tr h="694944">
                <a:tc>
                  <a:txBody>
                    <a:bodyPr/>
                    <a:lstStyle/>
                    <a:p>
                      <a:r>
                        <a:rPr sz="1150" b="1" i="0">
                          <a:solidFill>
                            <a:srgbClr val="1B2A4A"/>
                          </a:solidFill>
                          <a:latin typeface="Calibri"/>
                          <a:ea typeface="Microsoft YaHei"/>
                        </a:rPr>
                        <a:t>Spectral bands</a:t>
                      </a:r>
                    </a:p>
                    <a:p>
                      <a:r>
                        <a:rPr sz="1000" b="1" i="0">
                          <a:solidFill>
                            <a:srgbClr val="F4A25F"/>
                          </a:solidFill>
                          <a:latin typeface="Calibri"/>
                          <a:ea typeface="Microsoft YaHei"/>
                        </a:rPr>
                        <a:t>光谱波段</a:t>
                      </a:r>
                    </a:p>
                  </a:txBody>
                  <a:tcPr marL="91440" marR="73152" marT="27432" marB="27432" anchor="ctr">
                    <a:solidFill>
                      <a:srgbClr val="F2F4F7"/>
                    </a:solidFill>
                  </a:tcPr>
                </a:tc>
                <a:tc>
                  <a:txBody>
                    <a:bodyPr/>
                    <a:lstStyle/>
                    <a:p>
                      <a:r>
                        <a:rPr sz="1150" b="0" i="0">
                          <a:solidFill>
                            <a:srgbClr val="2D2D2D"/>
                          </a:solidFill>
                          <a:latin typeface="Calibri"/>
                          <a:ea typeface="Microsoft YaHei"/>
                        </a:rPr>
                        <a:t>Discrete widely-spaced bands (typically 3–25 bands)</a:t>
                      </a:r>
                    </a:p>
                  </a:txBody>
                  <a:tcPr marL="91440" marR="73152" marT="27432" marB="27432" anchor="ctr">
                    <a:solidFill>
                      <a:srgbClr val="FFFFFF"/>
                    </a:solidFill>
                  </a:tcPr>
                </a:tc>
                <a:tc>
                  <a:txBody>
                    <a:bodyPr/>
                    <a:lstStyle/>
                    <a:p>
                      <a:r>
                        <a:rPr sz="1150" b="0" i="0">
                          <a:solidFill>
                            <a:srgbClr val="2D2D2D"/>
                          </a:solidFill>
                          <a:latin typeface="Calibri"/>
                          <a:ea typeface="Microsoft YaHei"/>
                        </a:rPr>
                        <a:t>Hundreds of contiguous narrow spectral bands</a:t>
                      </a:r>
                    </a:p>
                  </a:txBody>
                  <a:tcPr marL="91440" marR="73152" marT="27432" marB="27432" anchor="ctr">
                    <a:solidFill>
                      <a:srgbClr val="FFFFFF"/>
                    </a:solidFill>
                  </a:tcPr>
                </a:tc>
              </a:tr>
              <a:tr h="694944">
                <a:tc>
                  <a:txBody>
                    <a:bodyPr/>
                    <a:lstStyle/>
                    <a:p>
                      <a:r>
                        <a:rPr sz="1150" b="1" i="0">
                          <a:solidFill>
                            <a:srgbClr val="1B2A4A"/>
                          </a:solidFill>
                          <a:latin typeface="Calibri"/>
                          <a:ea typeface="Microsoft YaHei"/>
                        </a:rPr>
                        <a:t>Spectral signature</a:t>
                      </a:r>
                    </a:p>
                    <a:p>
                      <a:r>
                        <a:rPr sz="1000" b="1" i="0">
                          <a:solidFill>
                            <a:srgbClr val="F4A25F"/>
                          </a:solidFill>
                          <a:latin typeface="Calibri"/>
                          <a:ea typeface="Microsoft YaHei"/>
                        </a:rPr>
                        <a:t>光谱特征</a:t>
                      </a:r>
                    </a:p>
                  </a:txBody>
                  <a:tcPr marL="91440" marR="73152" marT="27432" marB="27432" anchor="ctr">
                    <a:solidFill>
                      <a:srgbClr val="F2F4F7"/>
                    </a:solidFill>
                  </a:tcPr>
                </a:tc>
                <a:tc>
                  <a:txBody>
                    <a:bodyPr/>
                    <a:lstStyle/>
                    <a:p>
                      <a:r>
                        <a:rPr sz="1150" b="0" i="0">
                          <a:solidFill>
                            <a:srgbClr val="2D2D2D"/>
                          </a:solidFill>
                          <a:latin typeface="Calibri"/>
                          <a:ea typeface="Microsoft YaHei"/>
                        </a:rPr>
                        <a:t>Coarse spectral sampling</a:t>
                      </a:r>
                    </a:p>
                  </a:txBody>
                  <a:tcPr marL="91440" marR="73152" marT="27432" marB="27432" anchor="ctr">
                    <a:solidFill>
                      <a:srgbClr val="FFFFFF"/>
                    </a:solidFill>
                  </a:tcPr>
                </a:tc>
                <a:tc>
                  <a:txBody>
                    <a:bodyPr/>
                    <a:lstStyle/>
                    <a:p>
                      <a:r>
                        <a:rPr sz="1150" b="0" i="0">
                          <a:solidFill>
                            <a:srgbClr val="2D2D2D"/>
                          </a:solidFill>
                          <a:latin typeface="Calibri"/>
                          <a:ea typeface="Microsoft YaHei"/>
                        </a:rPr>
                        <a:t>Dense continuous spectral fingerprint per pixel</a:t>
                      </a:r>
                    </a:p>
                  </a:txBody>
                  <a:tcPr marL="91440" marR="73152" marT="27432" marB="27432" anchor="ctr">
                    <a:solidFill>
                      <a:srgbClr val="FFFFFF"/>
                    </a:solidFill>
                  </a:tcPr>
                </a:tc>
              </a:tr>
              <a:tr h="694944">
                <a:tc>
                  <a:txBody>
                    <a:bodyPr/>
                    <a:lstStyle/>
                    <a:p>
                      <a:r>
                        <a:rPr sz="1150" b="1" i="0">
                          <a:solidFill>
                            <a:srgbClr val="1B2A4A"/>
                          </a:solidFill>
                          <a:latin typeface="Calibri"/>
                          <a:ea typeface="Microsoft YaHei"/>
                        </a:rPr>
                        <a:t>Data volume</a:t>
                      </a:r>
                    </a:p>
                    <a:p>
                      <a:r>
                        <a:rPr sz="1000" b="1" i="0">
                          <a:solidFill>
                            <a:srgbClr val="F4A25F"/>
                          </a:solidFill>
                          <a:latin typeface="Calibri"/>
                          <a:ea typeface="Microsoft YaHei"/>
                        </a:rPr>
                        <a:t>数据量</a:t>
                      </a:r>
                    </a:p>
                  </a:txBody>
                  <a:tcPr marL="91440" marR="73152" marT="27432" marB="27432" anchor="ctr">
                    <a:solidFill>
                      <a:srgbClr val="F2F4F7"/>
                    </a:solidFill>
                  </a:tcPr>
                </a:tc>
                <a:tc>
                  <a:txBody>
                    <a:bodyPr/>
                    <a:lstStyle/>
                    <a:p>
                      <a:r>
                        <a:rPr sz="1150" b="0" i="0">
                          <a:solidFill>
                            <a:srgbClr val="2D2D2D"/>
                          </a:solidFill>
                          <a:latin typeface="Calibri"/>
                          <a:ea typeface="Microsoft YaHei"/>
                        </a:rPr>
                        <a:t>Small, easy to process</a:t>
                      </a:r>
                    </a:p>
                  </a:txBody>
                  <a:tcPr marL="91440" marR="73152" marT="27432" marB="27432" anchor="ctr">
                    <a:solidFill>
                      <a:srgbClr val="FFFFFF"/>
                    </a:solidFill>
                  </a:tcPr>
                </a:tc>
                <a:tc>
                  <a:txBody>
                    <a:bodyPr/>
                    <a:lstStyle/>
                    <a:p>
                      <a:r>
                        <a:rPr sz="1150" b="0" i="0">
                          <a:solidFill>
                            <a:srgbClr val="2D2D2D"/>
                          </a:solidFill>
                          <a:latin typeface="Calibri"/>
                          <a:ea typeface="Microsoft YaHei"/>
                        </a:rPr>
                        <a:t>Large 3-D data cube, heavy computation load</a:t>
                      </a:r>
                    </a:p>
                  </a:txBody>
                  <a:tcPr marL="91440" marR="73152" marT="27432" marB="27432" anchor="ctr">
                    <a:solidFill>
                      <a:srgbClr val="FFFFFF"/>
                    </a:solidFill>
                  </a:tcPr>
                </a:tc>
              </a:tr>
              <a:tr h="694944">
                <a:tc>
                  <a:txBody>
                    <a:bodyPr/>
                    <a:lstStyle/>
                    <a:p>
                      <a:r>
                        <a:rPr sz="1150" b="1" i="0">
                          <a:solidFill>
                            <a:srgbClr val="1B2A4A"/>
                          </a:solidFill>
                          <a:latin typeface="Calibri"/>
                          <a:ea typeface="Microsoft YaHei"/>
                        </a:rPr>
                        <a:t>Typical strength</a:t>
                      </a:r>
                    </a:p>
                    <a:p>
                      <a:r>
                        <a:rPr sz="1000" b="1" i="0">
                          <a:solidFill>
                            <a:srgbClr val="F4A25F"/>
                          </a:solidFill>
                          <a:latin typeface="Calibri"/>
                          <a:ea typeface="Microsoft YaHei"/>
                        </a:rPr>
                        <a:t>优势</a:t>
                      </a:r>
                    </a:p>
                  </a:txBody>
                  <a:tcPr marL="91440" marR="73152" marT="27432" marB="27432" anchor="ctr">
                    <a:solidFill>
                      <a:srgbClr val="F2F4F7"/>
                    </a:solidFill>
                  </a:tcPr>
                </a:tc>
                <a:tc>
                  <a:txBody>
                    <a:bodyPr/>
                    <a:lstStyle/>
                    <a:p>
                      <a:r>
                        <a:rPr sz="1150" b="0" i="0">
                          <a:solidFill>
                            <a:srgbClr val="2D2D2D"/>
                          </a:solidFill>
                          <a:latin typeface="Calibri"/>
                          <a:ea typeface="Microsoft YaHei"/>
                        </a:rPr>
                        <a:t>Higher spatial / temporal resolution; low cost</a:t>
                      </a:r>
                    </a:p>
                  </a:txBody>
                  <a:tcPr marL="91440" marR="73152" marT="27432" marB="27432" anchor="ctr">
                    <a:solidFill>
                      <a:srgbClr val="FFFFFF"/>
                    </a:solidFill>
                  </a:tcPr>
                </a:tc>
                <a:tc>
                  <a:txBody>
                    <a:bodyPr/>
                    <a:lstStyle/>
                    <a:p>
                      <a:r>
                        <a:rPr sz="1150" b="0" i="0">
                          <a:solidFill>
                            <a:srgbClr val="2D2D2D"/>
                          </a:solidFill>
                          <a:latin typeface="Calibri"/>
                          <a:ea typeface="Microsoft YaHei"/>
                        </a:rPr>
                        <a:t>Fine material discrimination by continuous spectrum</a:t>
                      </a:r>
                    </a:p>
                  </a:txBody>
                  <a:tcPr marL="91440" marR="73152" marT="27432" marB="27432" anchor="ctr">
                    <a:solidFill>
                      <a:srgbClr val="FFFFFF"/>
                    </a:solidFill>
                  </a:tcPr>
                </a:tc>
              </a:tr>
            </a:tbl>
          </a:graphicData>
        </a:graphic>
      </p:graphicFrame>
      <p:sp>
        <p:nvSpPr>
          <p:cNvPr id="10" name="Rectangle 9"/>
          <p:cNvSpPr/>
          <p:nvPr/>
        </p:nvSpPr>
        <p:spPr>
          <a:xfrm>
            <a:off x="457200" y="4800600"/>
            <a:ext cx="11274552" cy="141732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2_s11_13.png"/>
          <p:cNvPicPr>
            <a:picLocks noChangeAspect="1"/>
          </p:cNvPicPr>
          <p:nvPr/>
        </p:nvPicPr>
        <p:blipFill>
          <a:blip r:embed="rId2"/>
          <a:stretch>
            <a:fillRect/>
          </a:stretch>
        </p:blipFill>
        <p:spPr>
          <a:xfrm>
            <a:off x="4335249" y="4965192"/>
            <a:ext cx="3518452" cy="109728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31720"/>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069080"/>
            <a:ext cx="12191695" cy="27432"/>
          </a:xfrm>
          <a:prstGeom prst="rect">
            <a:avLst/>
          </a:prstGeom>
          <a:solidFill>
            <a:srgbClr val="48C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98448"/>
            <a:ext cx="10725912" cy="45720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2000" b="1" i="0">
                <a:solidFill>
                  <a:srgbClr val="48CAE4"/>
                </a:solidFill>
                <a:latin typeface="Calibri"/>
                <a:ea typeface="Microsoft YaHei"/>
              </a:rPr>
              <a:t>PART 03</a:t>
            </a:r>
          </a:p>
        </p:txBody>
      </p:sp>
      <p:sp>
        <p:nvSpPr>
          <p:cNvPr id="6" name="TextBox 5"/>
          <p:cNvSpPr txBox="1"/>
          <p:nvPr/>
        </p:nvSpPr>
        <p:spPr>
          <a:xfrm>
            <a:off x="731520" y="2487168"/>
            <a:ext cx="10725912" cy="82296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3600" b="1" i="0">
                <a:solidFill>
                  <a:srgbClr val="FFFFFF"/>
                </a:solidFill>
                <a:latin typeface="Calibri"/>
                <a:ea typeface="Microsoft YaHei"/>
              </a:rPr>
              <a:t>Data Processing &amp; Analysis</a:t>
            </a:r>
          </a:p>
        </p:txBody>
      </p:sp>
      <p:sp>
        <p:nvSpPr>
          <p:cNvPr id="7" name="TextBox 6"/>
          <p:cNvSpPr txBox="1"/>
          <p:nvPr/>
        </p:nvSpPr>
        <p:spPr>
          <a:xfrm>
            <a:off x="731520" y="3291840"/>
            <a:ext cx="10725912" cy="45720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2100" b="1" i="0">
                <a:solidFill>
                  <a:srgbClr val="F4A25F"/>
                </a:solidFill>
                <a:latin typeface="Calibri"/>
                <a:ea typeface="Microsoft YaHei"/>
              </a:rPr>
              <a:t>光谱数据处理与分析</a:t>
            </a:r>
          </a:p>
        </p:txBody>
      </p:sp>
      <p:sp>
        <p:nvSpPr>
          <p:cNvPr id="8" name="TextBox 7"/>
          <p:cNvSpPr txBox="1"/>
          <p:nvPr/>
        </p:nvSpPr>
        <p:spPr>
          <a:xfrm>
            <a:off x="1188720" y="4251960"/>
            <a:ext cx="9811512" cy="1463040"/>
          </a:xfrm>
          <a:prstGeom prst="rect">
            <a:avLst/>
          </a:prstGeom>
          <a:noFill/>
        </p:spPr>
        <p:txBody>
          <a:bodyPr wrap="square" anchor="t" lIns="25400" rIns="25400" tIns="25400" bIns="25400">
            <a:spAutoFit/>
          </a:bodyPr>
          <a:lstStyle/>
          <a:p>
            <a:pPr algn="ctr">
              <a:lnSpc>
                <a:spcPct val="145000"/>
              </a:lnSpc>
              <a:spcBef>
                <a:spcPts val="0"/>
              </a:spcBef>
              <a:spcAft>
                <a:spcPts val="200"/>
              </a:spcAft>
            </a:pPr>
            <a:r>
              <a:rPr sz="1400" b="0" i="0">
                <a:solidFill>
                  <a:srgbClr val="BBCCDD"/>
                </a:solidFill>
                <a:latin typeface="Calibri"/>
                <a:ea typeface="Microsoft YaHei"/>
              </a:rPr>
              <a:t>Preprocessing: radiometric &amp; atmospheric correction
Dimensionality reduction: PCA vs. MNF
Spectral classification (SAM) · Statistical validation · Paper excerpts</a:t>
            </a:r>
          </a:p>
        </p:txBody>
      </p:sp>
      <p:sp>
        <p:nvSpPr>
          <p:cNvPr id="9" name="TextBox 8"/>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28 / 63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Basic Terminology  基本术语</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3 · Data Processing &amp; Analysis</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29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Roussel et al., 2017 · Gautam et al., 2015 · Yamamoto et al., 2022</a:t>
            </a:r>
          </a:p>
        </p:txBody>
      </p:sp>
      <p:graphicFrame>
        <p:nvGraphicFramePr>
          <p:cNvPr id="9" name="Table 8"/>
          <p:cNvGraphicFramePr>
            <a:graphicFrameLocks noGrp="1"/>
          </p:cNvGraphicFramePr>
          <p:nvPr/>
        </p:nvGraphicFramePr>
        <p:xfrm>
          <a:off x="457200" y="1325880"/>
          <a:ext cx="11274552" cy="4892040"/>
        </p:xfrm>
        <a:graphic>
          <a:graphicData uri="http://schemas.openxmlformats.org/drawingml/2006/table">
            <a:tbl>
              <a:tblPr>
                <a:tableStyleId>{5C22544A-7EE6-4342-B048-85BDC9FD1C3A}</a:tableStyleId>
              </a:tblPr>
              <a:tblGrid>
                <a:gridCol w="2331720"/>
                <a:gridCol w="4160520"/>
                <a:gridCol w="4782312"/>
              </a:tblGrid>
              <a:tr h="502920">
                <a:tc>
                  <a:txBody>
                    <a:bodyPr/>
                    <a:lstStyle/>
                    <a:p>
                      <a:r>
                        <a:rPr sz="1250" b="1" i="0">
                          <a:solidFill>
                            <a:srgbClr val="FFFFFF"/>
                          </a:solidFill>
                          <a:latin typeface="Calibri"/>
                          <a:ea typeface="Microsoft YaHei"/>
                        </a:rPr>
                        <a:t>中文</a:t>
                      </a:r>
                    </a:p>
                  </a:txBody>
                  <a:tcPr marL="109728" marR="73152" marT="18288" marB="18288" anchor="ctr">
                    <a:solidFill>
                      <a:srgbClr val="1B2A4A"/>
                    </a:solidFill>
                  </a:tcPr>
                </a:tc>
                <a:tc>
                  <a:txBody>
                    <a:bodyPr/>
                    <a:lstStyle/>
                    <a:p>
                      <a:r>
                        <a:rPr sz="1250" b="1" i="0">
                          <a:solidFill>
                            <a:srgbClr val="FFFFFF"/>
                          </a:solidFill>
                          <a:latin typeface="Calibri"/>
                          <a:ea typeface="Microsoft YaHei"/>
                        </a:rPr>
                        <a:t>English</a:t>
                      </a:r>
                    </a:p>
                  </a:txBody>
                  <a:tcPr marL="109728" marR="73152" marT="18288" marB="18288" anchor="ctr">
                    <a:solidFill>
                      <a:srgbClr val="1B2A4A"/>
                    </a:solidFill>
                  </a:tcPr>
                </a:tc>
                <a:tc>
                  <a:txBody>
                    <a:bodyPr/>
                    <a:lstStyle/>
                    <a:p>
                      <a:r>
                        <a:rPr sz="1250" b="1" i="0">
                          <a:solidFill>
                            <a:srgbClr val="FFFFFF"/>
                          </a:solidFill>
                          <a:latin typeface="Calibri"/>
                          <a:ea typeface="Microsoft YaHei"/>
                        </a:rPr>
                        <a:t>含义</a:t>
                      </a:r>
                    </a:p>
                  </a:txBody>
                  <a:tcPr marL="109728" marR="73152" marT="18288" marB="18288" anchor="ctr">
                    <a:solidFill>
                      <a:srgbClr val="1B2A4A"/>
                    </a:solidFill>
                  </a:tcPr>
                </a:tc>
              </a:tr>
              <a:tr h="548640">
                <a:tc>
                  <a:txBody>
                    <a:bodyPr/>
                    <a:lstStyle/>
                    <a:p>
                      <a:r>
                        <a:rPr sz="1150" b="1" i="0">
                          <a:solidFill>
                            <a:srgbClr val="1B2A4A"/>
                          </a:solidFill>
                          <a:latin typeface="Calibri"/>
                          <a:ea typeface="Microsoft YaHei"/>
                        </a:rPr>
                        <a:t>辐射定标</a:t>
                      </a:r>
                    </a:p>
                  </a:txBody>
                  <a:tcPr marL="109728" marR="73152" marT="18288" marB="18288" anchor="ctr">
                    <a:solidFill>
                      <a:srgbClr val="F2F4F7"/>
                    </a:solidFill>
                  </a:tcPr>
                </a:tc>
                <a:tc>
                  <a:txBody>
                    <a:bodyPr/>
                    <a:lstStyle/>
                    <a:p>
                      <a:r>
                        <a:rPr sz="1100" b="1" i="0">
                          <a:solidFill>
                            <a:srgbClr val="0096C7"/>
                          </a:solidFill>
                          <a:latin typeface="Calibri"/>
                          <a:ea typeface="Microsoft YaHei"/>
                        </a:rPr>
                        <a:t>Radiometric Calibration</a:t>
                      </a:r>
                    </a:p>
                  </a:txBody>
                  <a:tcPr marL="109728" marR="73152" marT="18288" marB="18288" anchor="ctr">
                    <a:solidFill>
                      <a:srgbClr val="FFFFFF"/>
                    </a:solidFill>
                  </a:tcPr>
                </a:tc>
                <a:tc>
                  <a:txBody>
                    <a:bodyPr/>
                    <a:lstStyle/>
                    <a:p>
                      <a:r>
                        <a:rPr sz="1100" b="0" i="0">
                          <a:solidFill>
                            <a:srgbClr val="2D2D2D"/>
                          </a:solidFill>
                          <a:latin typeface="Calibri"/>
                          <a:ea typeface="Microsoft YaHei"/>
                        </a:rPr>
                        <a:t>将传感器原始 DN 值转换为辐射亮度 / 反射率的过程</a:t>
                      </a:r>
                    </a:p>
                  </a:txBody>
                  <a:tcPr marL="109728" marR="73152" marT="18288" marB="18288" anchor="ctr">
                    <a:solidFill>
                      <a:srgbClr val="FFFFFF"/>
                    </a:solidFill>
                  </a:tcPr>
                </a:tc>
              </a:tr>
              <a:tr h="548640">
                <a:tc>
                  <a:txBody>
                    <a:bodyPr/>
                    <a:lstStyle/>
                    <a:p>
                      <a:r>
                        <a:rPr sz="1150" b="1" i="0">
                          <a:solidFill>
                            <a:srgbClr val="1B2A4A"/>
                          </a:solidFill>
                          <a:latin typeface="Calibri"/>
                          <a:ea typeface="Microsoft YaHei"/>
                        </a:rPr>
                        <a:t>大气校正</a:t>
                      </a:r>
                    </a:p>
                  </a:txBody>
                  <a:tcPr marL="109728" marR="73152" marT="18288" marB="18288" anchor="ctr">
                    <a:solidFill>
                      <a:srgbClr val="F2F4F7"/>
                    </a:solidFill>
                  </a:tcPr>
                </a:tc>
                <a:tc>
                  <a:txBody>
                    <a:bodyPr/>
                    <a:lstStyle/>
                    <a:p>
                      <a:r>
                        <a:rPr sz="1100" b="1" i="0">
                          <a:solidFill>
                            <a:srgbClr val="0096C7"/>
                          </a:solidFill>
                          <a:latin typeface="Calibri"/>
                          <a:ea typeface="Microsoft YaHei"/>
                        </a:rPr>
                        <a:t>Atmospheric Correction</a:t>
                      </a:r>
                    </a:p>
                  </a:txBody>
                  <a:tcPr marL="109728" marR="73152" marT="18288" marB="18288" anchor="ctr">
                    <a:solidFill>
                      <a:srgbClr val="FFFFFF"/>
                    </a:solidFill>
                  </a:tcPr>
                </a:tc>
                <a:tc>
                  <a:txBody>
                    <a:bodyPr/>
                    <a:lstStyle/>
                    <a:p>
                      <a:r>
                        <a:rPr sz="1100" b="0" i="0">
                          <a:solidFill>
                            <a:srgbClr val="2D2D2D"/>
                          </a:solidFill>
                          <a:latin typeface="Calibri"/>
                          <a:ea typeface="Microsoft YaHei"/>
                        </a:rPr>
                        <a:t>消除大气散射、吸收对地表反射率的影响</a:t>
                      </a:r>
                    </a:p>
                  </a:txBody>
                  <a:tcPr marL="109728" marR="73152" marT="18288" marB="18288" anchor="ctr">
                    <a:solidFill>
                      <a:srgbClr val="FFFFFF"/>
                    </a:solidFill>
                  </a:tcPr>
                </a:tc>
              </a:tr>
              <a:tr h="548640">
                <a:tc>
                  <a:txBody>
                    <a:bodyPr/>
                    <a:lstStyle/>
                    <a:p>
                      <a:r>
                        <a:rPr sz="1150" b="1" i="0">
                          <a:solidFill>
                            <a:srgbClr val="1B2A4A"/>
                          </a:solidFill>
                          <a:latin typeface="Calibri"/>
                          <a:ea typeface="Microsoft YaHei"/>
                        </a:rPr>
                        <a:t>光谱响应函数</a:t>
                      </a:r>
                    </a:p>
                  </a:txBody>
                  <a:tcPr marL="109728" marR="73152" marT="18288" marB="18288" anchor="ctr">
                    <a:solidFill>
                      <a:srgbClr val="F2F4F7"/>
                    </a:solidFill>
                  </a:tcPr>
                </a:tc>
                <a:tc>
                  <a:txBody>
                    <a:bodyPr/>
                    <a:lstStyle/>
                    <a:p>
                      <a:r>
                        <a:rPr sz="1100" b="1" i="0">
                          <a:solidFill>
                            <a:srgbClr val="0096C7"/>
                          </a:solidFill>
                          <a:latin typeface="Calibri"/>
                          <a:ea typeface="Microsoft YaHei"/>
                        </a:rPr>
                        <a:t>Spectral Response Function (SRF)</a:t>
                      </a:r>
                    </a:p>
                  </a:txBody>
                  <a:tcPr marL="109728" marR="73152" marT="18288" marB="18288" anchor="ctr">
                    <a:solidFill>
                      <a:srgbClr val="FFFFFF"/>
                    </a:solidFill>
                  </a:tcPr>
                </a:tc>
                <a:tc>
                  <a:txBody>
                    <a:bodyPr/>
                    <a:lstStyle/>
                    <a:p>
                      <a:r>
                        <a:rPr sz="1100" b="0" i="0">
                          <a:solidFill>
                            <a:srgbClr val="2D2D2D"/>
                          </a:solidFill>
                          <a:latin typeface="Calibri"/>
                          <a:ea typeface="Microsoft YaHei"/>
                        </a:rPr>
                        <a:t>传感器对不同波长的响应曲线</a:t>
                      </a:r>
                    </a:p>
                  </a:txBody>
                  <a:tcPr marL="109728" marR="73152" marT="18288" marB="18288" anchor="ctr">
                    <a:solidFill>
                      <a:srgbClr val="FFFFFF"/>
                    </a:solidFill>
                  </a:tcPr>
                </a:tc>
              </a:tr>
              <a:tr h="548640">
                <a:tc>
                  <a:txBody>
                    <a:bodyPr/>
                    <a:lstStyle/>
                    <a:p>
                      <a:r>
                        <a:rPr sz="1150" b="1" i="0">
                          <a:solidFill>
                            <a:srgbClr val="1B2A4A"/>
                          </a:solidFill>
                          <a:latin typeface="Calibri"/>
                          <a:ea typeface="Microsoft YaHei"/>
                        </a:rPr>
                        <a:t>半高宽</a:t>
                      </a:r>
                    </a:p>
                  </a:txBody>
                  <a:tcPr marL="109728" marR="73152" marT="18288" marB="18288" anchor="ctr">
                    <a:solidFill>
                      <a:srgbClr val="F2F4F7"/>
                    </a:solidFill>
                  </a:tcPr>
                </a:tc>
                <a:tc>
                  <a:txBody>
                    <a:bodyPr/>
                    <a:lstStyle/>
                    <a:p>
                      <a:r>
                        <a:rPr sz="1100" b="1" i="0">
                          <a:solidFill>
                            <a:srgbClr val="0096C7"/>
                          </a:solidFill>
                          <a:latin typeface="Calibri"/>
                          <a:ea typeface="Microsoft YaHei"/>
                        </a:rPr>
                        <a:t>Full Width at Half Maximum (FWHM)</a:t>
                      </a:r>
                    </a:p>
                  </a:txBody>
                  <a:tcPr marL="109728" marR="73152" marT="18288" marB="18288" anchor="ctr">
                    <a:solidFill>
                      <a:srgbClr val="FFFFFF"/>
                    </a:solidFill>
                  </a:tcPr>
                </a:tc>
                <a:tc>
                  <a:txBody>
                    <a:bodyPr/>
                    <a:lstStyle/>
                    <a:p>
                      <a:r>
                        <a:rPr sz="1100" b="0" i="0">
                          <a:solidFill>
                            <a:srgbClr val="2D2D2D"/>
                          </a:solidFill>
                          <a:latin typeface="Calibri"/>
                          <a:ea typeface="Microsoft YaHei"/>
                        </a:rPr>
                        <a:t>光谱响应峰半高处的宽度，表征光谱分辨率</a:t>
                      </a:r>
                    </a:p>
                  </a:txBody>
                  <a:tcPr marL="109728" marR="73152" marT="18288" marB="18288" anchor="ctr">
                    <a:solidFill>
                      <a:srgbClr val="FFFFFF"/>
                    </a:solidFill>
                  </a:tcPr>
                </a:tc>
              </a:tr>
              <a:tr h="548640">
                <a:tc>
                  <a:txBody>
                    <a:bodyPr/>
                    <a:lstStyle/>
                    <a:p>
                      <a:r>
                        <a:rPr sz="1150" b="1" i="0">
                          <a:solidFill>
                            <a:srgbClr val="1B2A4A"/>
                          </a:solidFill>
                          <a:latin typeface="Calibri"/>
                          <a:ea typeface="Microsoft YaHei"/>
                        </a:rPr>
                        <a:t>光谱微笑效应</a:t>
                      </a:r>
                    </a:p>
                  </a:txBody>
                  <a:tcPr marL="109728" marR="73152" marT="18288" marB="18288" anchor="ctr">
                    <a:solidFill>
                      <a:srgbClr val="F2F4F7"/>
                    </a:solidFill>
                  </a:tcPr>
                </a:tc>
                <a:tc>
                  <a:txBody>
                    <a:bodyPr/>
                    <a:lstStyle/>
                    <a:p>
                      <a:r>
                        <a:rPr sz="1100" b="1" i="0">
                          <a:solidFill>
                            <a:srgbClr val="0096C7"/>
                          </a:solidFill>
                          <a:latin typeface="Calibri"/>
                          <a:ea typeface="Microsoft YaHei"/>
                        </a:rPr>
                        <a:t>Spectral Smile</a:t>
                      </a:r>
                    </a:p>
                  </a:txBody>
                  <a:tcPr marL="109728" marR="73152" marT="18288" marB="18288" anchor="ctr">
                    <a:solidFill>
                      <a:srgbClr val="FFFFFF"/>
                    </a:solidFill>
                  </a:tcPr>
                </a:tc>
                <a:tc>
                  <a:txBody>
                    <a:bodyPr/>
                    <a:lstStyle/>
                    <a:p>
                      <a:r>
                        <a:rPr sz="1100" b="0" i="0">
                          <a:solidFill>
                            <a:srgbClr val="2D2D2D"/>
                          </a:solidFill>
                          <a:latin typeface="Calibri"/>
                          <a:ea typeface="Microsoft YaHei"/>
                        </a:rPr>
                        <a:t>推扫式传感器跨轨方向中心波长偏移现象</a:t>
                      </a:r>
                    </a:p>
                  </a:txBody>
                  <a:tcPr marL="109728" marR="73152" marT="18288" marB="18288" anchor="ctr">
                    <a:solidFill>
                      <a:srgbClr val="FFFFFF"/>
                    </a:solidFill>
                  </a:tcPr>
                </a:tc>
              </a:tr>
              <a:tr h="548640">
                <a:tc>
                  <a:txBody>
                    <a:bodyPr/>
                    <a:lstStyle/>
                    <a:p>
                      <a:r>
                        <a:rPr sz="1150" b="1" i="0">
                          <a:solidFill>
                            <a:srgbClr val="1B2A4A"/>
                          </a:solidFill>
                          <a:latin typeface="Calibri"/>
                          <a:ea typeface="Microsoft YaHei"/>
                        </a:rPr>
                        <a:t>基线校正</a:t>
                      </a:r>
                    </a:p>
                  </a:txBody>
                  <a:tcPr marL="109728" marR="73152" marT="18288" marB="18288" anchor="ctr">
                    <a:solidFill>
                      <a:srgbClr val="F2F4F7"/>
                    </a:solidFill>
                  </a:tcPr>
                </a:tc>
                <a:tc>
                  <a:txBody>
                    <a:bodyPr/>
                    <a:lstStyle/>
                    <a:p>
                      <a:r>
                        <a:rPr sz="1100" b="1" i="0">
                          <a:solidFill>
                            <a:srgbClr val="0096C7"/>
                          </a:solidFill>
                          <a:latin typeface="Calibri"/>
                          <a:ea typeface="Microsoft YaHei"/>
                        </a:rPr>
                        <a:t>Baseline Correction</a:t>
                      </a:r>
                    </a:p>
                  </a:txBody>
                  <a:tcPr marL="109728" marR="73152" marT="18288" marB="18288" anchor="ctr">
                    <a:solidFill>
                      <a:srgbClr val="FFFFFF"/>
                    </a:solidFill>
                  </a:tcPr>
                </a:tc>
                <a:tc>
                  <a:txBody>
                    <a:bodyPr/>
                    <a:lstStyle/>
                    <a:p>
                      <a:r>
                        <a:rPr sz="1100" b="0" i="0">
                          <a:solidFill>
                            <a:srgbClr val="2D2D2D"/>
                          </a:solidFill>
                          <a:latin typeface="Calibri"/>
                          <a:ea typeface="Microsoft YaHei"/>
                        </a:rPr>
                        <a:t>去除荧光 / 散射造成的低频背景漂移</a:t>
                      </a:r>
                    </a:p>
                  </a:txBody>
                  <a:tcPr marL="109728" marR="73152" marT="18288" marB="18288" anchor="ctr">
                    <a:solidFill>
                      <a:srgbClr val="FFFFFF"/>
                    </a:solidFill>
                  </a:tcPr>
                </a:tc>
              </a:tr>
              <a:tr h="548640">
                <a:tc>
                  <a:txBody>
                    <a:bodyPr/>
                    <a:lstStyle/>
                    <a:p>
                      <a:r>
                        <a:rPr sz="1150" b="1" i="0">
                          <a:solidFill>
                            <a:srgbClr val="1B2A4A"/>
                          </a:solidFill>
                          <a:latin typeface="Calibri"/>
                          <a:ea typeface="Microsoft YaHei"/>
                        </a:rPr>
                        <a:t>噪声等效辐亮度</a:t>
                      </a:r>
                    </a:p>
                  </a:txBody>
                  <a:tcPr marL="109728" marR="73152" marT="18288" marB="18288" anchor="ctr">
                    <a:solidFill>
                      <a:srgbClr val="F2F4F7"/>
                    </a:solidFill>
                  </a:tcPr>
                </a:tc>
                <a:tc>
                  <a:txBody>
                    <a:bodyPr/>
                    <a:lstStyle/>
                    <a:p>
                      <a:r>
                        <a:rPr sz="1100" b="1" i="0">
                          <a:solidFill>
                            <a:srgbClr val="0096C7"/>
                          </a:solidFill>
                          <a:latin typeface="Calibri"/>
                          <a:ea typeface="Microsoft YaHei"/>
                        </a:rPr>
                        <a:t>Noise Equivalent Radiance (NER)</a:t>
                      </a:r>
                    </a:p>
                  </a:txBody>
                  <a:tcPr marL="109728" marR="73152" marT="18288" marB="18288" anchor="ctr">
                    <a:solidFill>
                      <a:srgbClr val="FFFFFF"/>
                    </a:solidFill>
                  </a:tcPr>
                </a:tc>
                <a:tc>
                  <a:txBody>
                    <a:bodyPr/>
                    <a:lstStyle/>
                    <a:p>
                      <a:r>
                        <a:rPr sz="1100" b="0" i="0">
                          <a:solidFill>
                            <a:srgbClr val="2D2D2D"/>
                          </a:solidFill>
                          <a:latin typeface="Calibri"/>
                          <a:ea typeface="Microsoft YaHei"/>
                        </a:rPr>
                        <a:t>表征传感器噪声水平</a:t>
                      </a:r>
                    </a:p>
                  </a:txBody>
                  <a:tcPr marL="109728" marR="73152" marT="18288" marB="18288" anchor="ctr">
                    <a:solidFill>
                      <a:srgbClr val="FFFFFF"/>
                    </a:solidFill>
                  </a:tcPr>
                </a:tc>
              </a:tr>
              <a:tr h="548640">
                <a:tc>
                  <a:txBody>
                    <a:bodyPr/>
                    <a:lstStyle/>
                    <a:p>
                      <a:r>
                        <a:rPr sz="1150" b="1" i="0">
                          <a:solidFill>
                            <a:srgbClr val="1B2A4A"/>
                          </a:solidFill>
                          <a:latin typeface="Calibri"/>
                          <a:ea typeface="Microsoft YaHei"/>
                        </a:rPr>
                        <a:t>几何校正</a:t>
                      </a:r>
                    </a:p>
                  </a:txBody>
                  <a:tcPr marL="109728" marR="73152" marT="18288" marB="18288" anchor="ctr">
                    <a:solidFill>
                      <a:srgbClr val="F2F4F7"/>
                    </a:solidFill>
                  </a:tcPr>
                </a:tc>
                <a:tc>
                  <a:txBody>
                    <a:bodyPr/>
                    <a:lstStyle/>
                    <a:p>
                      <a:r>
                        <a:rPr sz="1100" b="1" i="0">
                          <a:solidFill>
                            <a:srgbClr val="0096C7"/>
                          </a:solidFill>
                          <a:latin typeface="Calibri"/>
                          <a:ea typeface="Microsoft YaHei"/>
                        </a:rPr>
                        <a:t>Geometric Correction</a:t>
                      </a:r>
                    </a:p>
                  </a:txBody>
                  <a:tcPr marL="109728" marR="73152" marT="18288" marB="18288" anchor="ctr">
                    <a:solidFill>
                      <a:srgbClr val="FFFFFF"/>
                    </a:solidFill>
                  </a:tcPr>
                </a:tc>
                <a:tc>
                  <a:txBody>
                    <a:bodyPr/>
                    <a:lstStyle/>
                    <a:p>
                      <a:r>
                        <a:rPr sz="1100" b="0" i="0">
                          <a:solidFill>
                            <a:srgbClr val="2D2D2D"/>
                          </a:solidFill>
                          <a:latin typeface="Calibri"/>
                          <a:ea typeface="Microsoft YaHei"/>
                        </a:rPr>
                        <a:t>将图像像素与地理坐标配准</a:t>
                      </a:r>
                    </a:p>
                  </a:txBody>
                  <a:tcPr marL="109728" marR="73152" marT="18288" marB="18288" anchor="ctr">
                    <a:solidFill>
                      <a:srgbClr val="FFFFFF"/>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Processing Pipeline  流程总览</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3 · Data Processing &amp; Analysis</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30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Roussel et al., 2017 · Gautam et al., 2015 · Yamamoto et al., 2022</a:t>
            </a:r>
          </a:p>
        </p:txBody>
      </p:sp>
      <p:sp>
        <p:nvSpPr>
          <p:cNvPr id="9" name="TextBox 8"/>
          <p:cNvSpPr txBox="1"/>
          <p:nvPr/>
        </p:nvSpPr>
        <p:spPr>
          <a:xfrm>
            <a:off x="457200" y="1371600"/>
            <a:ext cx="1124712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500" b="1" i="0">
                <a:solidFill>
                  <a:srgbClr val="1B2A4A"/>
                </a:solidFill>
                <a:latin typeface="Calibri"/>
                <a:ea typeface="Microsoft YaHei"/>
              </a:rPr>
              <a:t>先看这张流程图，三步：</a:t>
            </a:r>
          </a:p>
        </p:txBody>
      </p:sp>
      <p:sp>
        <p:nvSpPr>
          <p:cNvPr id="10" name="Rectangle 9"/>
          <p:cNvSpPr/>
          <p:nvPr/>
        </p:nvSpPr>
        <p:spPr>
          <a:xfrm>
            <a:off x="457200" y="2057400"/>
            <a:ext cx="3639312" cy="32918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057400"/>
            <a:ext cx="3639312" cy="6858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176272"/>
            <a:ext cx="3639312" cy="457200"/>
          </a:xfrm>
          <a:prstGeom prst="rect">
            <a:avLst/>
          </a:prstGeom>
          <a:noFill/>
        </p:spPr>
        <p:txBody>
          <a:bodyPr wrap="square" anchor="ctr" lIns="25400" rIns="25400" tIns="25400" bIns="25400">
            <a:spAutoFit/>
          </a:bodyPr>
          <a:lstStyle/>
          <a:p>
            <a:pPr algn="ctr">
              <a:lnSpc>
                <a:spcPct val="105000"/>
              </a:lnSpc>
              <a:spcBef>
                <a:spcPts val="0"/>
              </a:spcBef>
              <a:spcAft>
                <a:spcPts val="200"/>
              </a:spcAft>
            </a:pPr>
            <a:r>
              <a:rPr sz="1700" b="1" i="0">
                <a:solidFill>
                  <a:srgbClr val="FFFFFF"/>
                </a:solidFill>
                <a:latin typeface="Calibri"/>
                <a:ea typeface="Microsoft YaHei"/>
              </a:rPr>
              <a:t>STEP 1</a:t>
            </a:r>
          </a:p>
        </p:txBody>
      </p:sp>
      <p:sp>
        <p:nvSpPr>
          <p:cNvPr id="13" name="TextBox 12"/>
          <p:cNvSpPr txBox="1"/>
          <p:nvPr/>
        </p:nvSpPr>
        <p:spPr>
          <a:xfrm>
            <a:off x="640080" y="2926080"/>
            <a:ext cx="3291840" cy="640080"/>
          </a:xfrm>
          <a:prstGeom prst="rect">
            <a:avLst/>
          </a:prstGeom>
          <a:noFill/>
        </p:spPr>
        <p:txBody>
          <a:bodyPr wrap="square" anchor="t" lIns="25400" rIns="25400" tIns="25400" bIns="25400">
            <a:spAutoFit/>
          </a:bodyPr>
          <a:lstStyle/>
          <a:p>
            <a:pPr algn="ctr">
              <a:lnSpc>
                <a:spcPct val="100000"/>
              </a:lnSpc>
              <a:spcBef>
                <a:spcPts val="0"/>
              </a:spcBef>
              <a:spcAft>
                <a:spcPts val="200"/>
              </a:spcAft>
            </a:pPr>
            <a:r>
              <a:rPr sz="1550" b="1" i="0">
                <a:solidFill>
                  <a:srgbClr val="1B2A4A"/>
                </a:solidFill>
                <a:latin typeface="Calibri"/>
                <a:ea typeface="Microsoft YaHei"/>
              </a:rPr>
              <a:t>Preprocessing</a:t>
            </a:r>
          </a:p>
        </p:txBody>
      </p:sp>
      <p:sp>
        <p:nvSpPr>
          <p:cNvPr id="14" name="TextBox 13"/>
          <p:cNvSpPr txBox="1"/>
          <p:nvPr/>
        </p:nvSpPr>
        <p:spPr>
          <a:xfrm>
            <a:off x="640080" y="3584448"/>
            <a:ext cx="3291840" cy="36576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1700" b="1" i="0">
                <a:solidFill>
                  <a:srgbClr val="1B2A4A"/>
                </a:solidFill>
                <a:latin typeface="Calibri"/>
                <a:ea typeface="Microsoft YaHei"/>
              </a:rPr>
              <a:t>预处理</a:t>
            </a:r>
          </a:p>
        </p:txBody>
      </p:sp>
      <p:sp>
        <p:nvSpPr>
          <p:cNvPr id="15" name="TextBox 14"/>
          <p:cNvSpPr txBox="1"/>
          <p:nvPr/>
        </p:nvSpPr>
        <p:spPr>
          <a:xfrm>
            <a:off x="685800" y="4206240"/>
            <a:ext cx="3200400" cy="1005840"/>
          </a:xfrm>
          <a:prstGeom prst="rect">
            <a:avLst/>
          </a:prstGeom>
          <a:noFill/>
        </p:spPr>
        <p:txBody>
          <a:bodyPr wrap="square" anchor="t" lIns="25400" rIns="25400" tIns="25400" bIns="25400">
            <a:spAutoFit/>
          </a:bodyPr>
          <a:lstStyle/>
          <a:p>
            <a:pPr algn="ctr">
              <a:lnSpc>
                <a:spcPct val="120000"/>
              </a:lnSpc>
              <a:spcBef>
                <a:spcPts val="0"/>
              </a:spcBef>
              <a:spcAft>
                <a:spcPts val="200"/>
              </a:spcAft>
            </a:pPr>
            <a:r>
              <a:rPr sz="1150" b="0" i="0">
                <a:solidFill>
                  <a:srgbClr val="5A5A5A"/>
                </a:solidFill>
                <a:latin typeface="Calibri"/>
                <a:ea typeface="Microsoft YaHei"/>
              </a:rPr>
              <a:t>Calibration &amp; correction: DN → radiance / reflectance</a:t>
            </a:r>
          </a:p>
        </p:txBody>
      </p:sp>
      <p:sp>
        <p:nvSpPr>
          <p:cNvPr id="16" name="TextBox 15"/>
          <p:cNvSpPr txBox="1"/>
          <p:nvPr/>
        </p:nvSpPr>
        <p:spPr>
          <a:xfrm>
            <a:off x="3986783" y="3108960"/>
            <a:ext cx="411480" cy="73152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2600" b="1" i="0">
                <a:solidFill>
                  <a:srgbClr val="5A5A5A"/>
                </a:solidFill>
                <a:latin typeface="Calibri"/>
                <a:ea typeface="Microsoft YaHei"/>
              </a:rPr>
              <a:t>→</a:t>
            </a:r>
          </a:p>
        </p:txBody>
      </p:sp>
      <p:sp>
        <p:nvSpPr>
          <p:cNvPr id="17" name="Rectangle 16"/>
          <p:cNvSpPr/>
          <p:nvPr/>
        </p:nvSpPr>
        <p:spPr>
          <a:xfrm>
            <a:off x="4261104" y="2057400"/>
            <a:ext cx="3639312" cy="32918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61104" y="2057400"/>
            <a:ext cx="3639312" cy="68580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61104" y="2176272"/>
            <a:ext cx="3639312" cy="457200"/>
          </a:xfrm>
          <a:prstGeom prst="rect">
            <a:avLst/>
          </a:prstGeom>
          <a:noFill/>
        </p:spPr>
        <p:txBody>
          <a:bodyPr wrap="square" anchor="ctr" lIns="25400" rIns="25400" tIns="25400" bIns="25400">
            <a:spAutoFit/>
          </a:bodyPr>
          <a:lstStyle/>
          <a:p>
            <a:pPr algn="ctr">
              <a:lnSpc>
                <a:spcPct val="105000"/>
              </a:lnSpc>
              <a:spcBef>
                <a:spcPts val="0"/>
              </a:spcBef>
              <a:spcAft>
                <a:spcPts val="200"/>
              </a:spcAft>
            </a:pPr>
            <a:r>
              <a:rPr sz="1700" b="1" i="0">
                <a:solidFill>
                  <a:srgbClr val="FFFFFF"/>
                </a:solidFill>
                <a:latin typeface="Calibri"/>
                <a:ea typeface="Microsoft YaHei"/>
              </a:rPr>
              <a:t>STEP 2</a:t>
            </a:r>
          </a:p>
        </p:txBody>
      </p:sp>
      <p:sp>
        <p:nvSpPr>
          <p:cNvPr id="20" name="TextBox 19"/>
          <p:cNvSpPr txBox="1"/>
          <p:nvPr/>
        </p:nvSpPr>
        <p:spPr>
          <a:xfrm>
            <a:off x="4443984" y="2926080"/>
            <a:ext cx="3291840" cy="640080"/>
          </a:xfrm>
          <a:prstGeom prst="rect">
            <a:avLst/>
          </a:prstGeom>
          <a:noFill/>
        </p:spPr>
        <p:txBody>
          <a:bodyPr wrap="square" anchor="t" lIns="25400" rIns="25400" tIns="25400" bIns="25400">
            <a:spAutoFit/>
          </a:bodyPr>
          <a:lstStyle/>
          <a:p>
            <a:pPr algn="ctr">
              <a:lnSpc>
                <a:spcPct val="100000"/>
              </a:lnSpc>
              <a:spcBef>
                <a:spcPts val="0"/>
              </a:spcBef>
              <a:spcAft>
                <a:spcPts val="200"/>
              </a:spcAft>
            </a:pPr>
            <a:r>
              <a:rPr sz="1550" b="1" i="0">
                <a:solidFill>
                  <a:srgbClr val="0096C7"/>
                </a:solidFill>
                <a:latin typeface="Calibri"/>
                <a:ea typeface="Microsoft YaHei"/>
              </a:rPr>
              <a:t>Dimensionality Reduction</a:t>
            </a:r>
          </a:p>
        </p:txBody>
      </p:sp>
      <p:sp>
        <p:nvSpPr>
          <p:cNvPr id="21" name="TextBox 20"/>
          <p:cNvSpPr txBox="1"/>
          <p:nvPr/>
        </p:nvSpPr>
        <p:spPr>
          <a:xfrm>
            <a:off x="4443984" y="3584448"/>
            <a:ext cx="3291840" cy="36576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1700" b="1" i="0">
                <a:solidFill>
                  <a:srgbClr val="1B2A4A"/>
                </a:solidFill>
                <a:latin typeface="Calibri"/>
                <a:ea typeface="Microsoft YaHei"/>
              </a:rPr>
              <a:t>降维</a:t>
            </a:r>
          </a:p>
        </p:txBody>
      </p:sp>
      <p:sp>
        <p:nvSpPr>
          <p:cNvPr id="22" name="TextBox 21"/>
          <p:cNvSpPr txBox="1"/>
          <p:nvPr/>
        </p:nvSpPr>
        <p:spPr>
          <a:xfrm>
            <a:off x="4489704" y="4206240"/>
            <a:ext cx="3200400" cy="1005840"/>
          </a:xfrm>
          <a:prstGeom prst="rect">
            <a:avLst/>
          </a:prstGeom>
          <a:noFill/>
        </p:spPr>
        <p:txBody>
          <a:bodyPr wrap="square" anchor="t" lIns="25400" rIns="25400" tIns="25400" bIns="25400">
            <a:spAutoFit/>
          </a:bodyPr>
          <a:lstStyle/>
          <a:p>
            <a:pPr algn="ctr">
              <a:lnSpc>
                <a:spcPct val="120000"/>
              </a:lnSpc>
              <a:spcBef>
                <a:spcPts val="0"/>
              </a:spcBef>
              <a:spcAft>
                <a:spcPts val="200"/>
              </a:spcAft>
            </a:pPr>
            <a:r>
              <a:rPr sz="1150" b="0" i="0">
                <a:solidFill>
                  <a:srgbClr val="5A5A5A"/>
                </a:solidFill>
                <a:latin typeface="Calibri"/>
                <a:ea typeface="Microsoft YaHei"/>
              </a:rPr>
              <a:t>Compress hundreds of correlated bands (PCA / MNF)</a:t>
            </a:r>
          </a:p>
        </p:txBody>
      </p:sp>
      <p:sp>
        <p:nvSpPr>
          <p:cNvPr id="23" name="TextBox 22"/>
          <p:cNvSpPr txBox="1"/>
          <p:nvPr/>
        </p:nvSpPr>
        <p:spPr>
          <a:xfrm>
            <a:off x="7790688" y="3108960"/>
            <a:ext cx="411480" cy="73152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2600" b="1" i="0">
                <a:solidFill>
                  <a:srgbClr val="5A5A5A"/>
                </a:solidFill>
                <a:latin typeface="Calibri"/>
                <a:ea typeface="Microsoft YaHei"/>
              </a:rPr>
              <a:t>→</a:t>
            </a:r>
          </a:p>
        </p:txBody>
      </p:sp>
      <p:sp>
        <p:nvSpPr>
          <p:cNvPr id="24" name="Rectangle 23"/>
          <p:cNvSpPr/>
          <p:nvPr/>
        </p:nvSpPr>
        <p:spPr>
          <a:xfrm>
            <a:off x="8065008" y="2057400"/>
            <a:ext cx="3639312" cy="32918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65008" y="2057400"/>
            <a:ext cx="3639312" cy="685800"/>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65008" y="2176272"/>
            <a:ext cx="3639312" cy="457200"/>
          </a:xfrm>
          <a:prstGeom prst="rect">
            <a:avLst/>
          </a:prstGeom>
          <a:noFill/>
        </p:spPr>
        <p:txBody>
          <a:bodyPr wrap="square" anchor="ctr" lIns="25400" rIns="25400" tIns="25400" bIns="25400">
            <a:spAutoFit/>
          </a:bodyPr>
          <a:lstStyle/>
          <a:p>
            <a:pPr algn="ctr">
              <a:lnSpc>
                <a:spcPct val="105000"/>
              </a:lnSpc>
              <a:spcBef>
                <a:spcPts val="0"/>
              </a:spcBef>
              <a:spcAft>
                <a:spcPts val="200"/>
              </a:spcAft>
            </a:pPr>
            <a:r>
              <a:rPr sz="1700" b="1" i="0">
                <a:solidFill>
                  <a:srgbClr val="FFFFFF"/>
                </a:solidFill>
                <a:latin typeface="Calibri"/>
                <a:ea typeface="Microsoft YaHei"/>
              </a:rPr>
              <a:t>STEP 3</a:t>
            </a:r>
          </a:p>
        </p:txBody>
      </p:sp>
      <p:sp>
        <p:nvSpPr>
          <p:cNvPr id="27" name="TextBox 26"/>
          <p:cNvSpPr txBox="1"/>
          <p:nvPr/>
        </p:nvSpPr>
        <p:spPr>
          <a:xfrm>
            <a:off x="8247888" y="2926080"/>
            <a:ext cx="3291840" cy="640080"/>
          </a:xfrm>
          <a:prstGeom prst="rect">
            <a:avLst/>
          </a:prstGeom>
          <a:noFill/>
        </p:spPr>
        <p:txBody>
          <a:bodyPr wrap="square" anchor="t" lIns="25400" rIns="25400" tIns="25400" bIns="25400">
            <a:spAutoFit/>
          </a:bodyPr>
          <a:lstStyle/>
          <a:p>
            <a:pPr algn="ctr">
              <a:lnSpc>
                <a:spcPct val="100000"/>
              </a:lnSpc>
              <a:spcBef>
                <a:spcPts val="0"/>
              </a:spcBef>
              <a:spcAft>
                <a:spcPts val="200"/>
              </a:spcAft>
            </a:pPr>
            <a:r>
              <a:rPr sz="1550" b="1" i="0">
                <a:solidFill>
                  <a:srgbClr val="F4A25F"/>
                </a:solidFill>
                <a:latin typeface="Calibri"/>
                <a:ea typeface="Microsoft YaHei"/>
              </a:rPr>
              <a:t>Classification &amp; Recognition</a:t>
            </a:r>
          </a:p>
        </p:txBody>
      </p:sp>
      <p:sp>
        <p:nvSpPr>
          <p:cNvPr id="28" name="TextBox 27"/>
          <p:cNvSpPr txBox="1"/>
          <p:nvPr/>
        </p:nvSpPr>
        <p:spPr>
          <a:xfrm>
            <a:off x="8247888" y="3584448"/>
            <a:ext cx="3291840" cy="36576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1700" b="1" i="0">
                <a:solidFill>
                  <a:srgbClr val="1B2A4A"/>
                </a:solidFill>
                <a:latin typeface="Calibri"/>
                <a:ea typeface="Microsoft YaHei"/>
              </a:rPr>
              <a:t>分类与识别</a:t>
            </a:r>
          </a:p>
        </p:txBody>
      </p:sp>
      <p:sp>
        <p:nvSpPr>
          <p:cNvPr id="29" name="TextBox 28"/>
          <p:cNvSpPr txBox="1"/>
          <p:nvPr/>
        </p:nvSpPr>
        <p:spPr>
          <a:xfrm>
            <a:off x="8293608" y="4206240"/>
            <a:ext cx="3200400" cy="1005840"/>
          </a:xfrm>
          <a:prstGeom prst="rect">
            <a:avLst/>
          </a:prstGeom>
          <a:noFill/>
        </p:spPr>
        <p:txBody>
          <a:bodyPr wrap="square" anchor="t" lIns="25400" rIns="25400" tIns="25400" bIns="25400">
            <a:spAutoFit/>
          </a:bodyPr>
          <a:lstStyle/>
          <a:p>
            <a:pPr algn="ctr">
              <a:lnSpc>
                <a:spcPct val="120000"/>
              </a:lnSpc>
              <a:spcBef>
                <a:spcPts val="0"/>
              </a:spcBef>
              <a:spcAft>
                <a:spcPts val="200"/>
              </a:spcAft>
            </a:pPr>
            <a:r>
              <a:rPr sz="1150" b="0" i="0">
                <a:solidFill>
                  <a:srgbClr val="5A5A5A"/>
                </a:solidFill>
                <a:latin typeface="Calibri"/>
                <a:ea typeface="Microsoft YaHei"/>
              </a:rPr>
              <a:t>Identify materials with spectral classifiers (SAM, SVM…)</a:t>
            </a:r>
          </a:p>
        </p:txBody>
      </p:sp>
      <p:sp>
        <p:nvSpPr>
          <p:cNvPr id="30" name="Rectangle 29"/>
          <p:cNvSpPr/>
          <p:nvPr/>
        </p:nvSpPr>
        <p:spPr>
          <a:xfrm>
            <a:off x="457200" y="5623560"/>
            <a:ext cx="11274552" cy="5943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733288"/>
            <a:ext cx="10789920" cy="41148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1400" b="1" i="0">
                <a:solidFill>
                  <a:srgbClr val="FFFFFF"/>
                </a:solidFill>
                <a:latin typeface="Calibri"/>
                <a:ea typeface="Microsoft YaHei"/>
              </a:rPr>
              <a:t>Preprocessing  →  Dimensionality Reduction  →  Classification &amp; Recognition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Preprocessing (I) · Calibration  预处理 · 定标类</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3 · Step 1 — Preprocessing</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31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Yamamoto et al., 2022</a:t>
            </a:r>
          </a:p>
        </p:txBody>
      </p:sp>
      <p:sp>
        <p:nvSpPr>
          <p:cNvPr id="9" name="TextBox 8"/>
          <p:cNvSpPr txBox="1"/>
          <p:nvPr/>
        </p:nvSpPr>
        <p:spPr>
          <a:xfrm>
            <a:off x="457200" y="1280160"/>
            <a:ext cx="11247120" cy="3200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300" b="1" i="0">
                <a:solidFill>
                  <a:srgbClr val="1B2A4A"/>
                </a:solidFill>
                <a:latin typeface="Calibri"/>
                <a:ea typeface="Microsoft YaHei"/>
              </a:rPr>
              <a:t>这一页有四个高频词：</a:t>
            </a:r>
          </a:p>
        </p:txBody>
      </p:sp>
      <p:sp>
        <p:nvSpPr>
          <p:cNvPr id="10" name="Rectangle 9"/>
          <p:cNvSpPr/>
          <p:nvPr/>
        </p:nvSpPr>
        <p:spPr>
          <a:xfrm>
            <a:off x="457200" y="1691640"/>
            <a:ext cx="5532120" cy="13258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691640"/>
            <a:ext cx="109728" cy="132588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1801368"/>
            <a:ext cx="512064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00" b="1" i="0">
                <a:solidFill>
                  <a:srgbClr val="1B2A4A"/>
                </a:solidFill>
                <a:latin typeface="Calibri"/>
                <a:ea typeface="Microsoft YaHei"/>
              </a:rPr>
              <a:t>1  Radiometric Calibration（辐射定标）</a:t>
            </a:r>
          </a:p>
        </p:txBody>
      </p:sp>
      <p:sp>
        <p:nvSpPr>
          <p:cNvPr id="13" name="TextBox 12"/>
          <p:cNvSpPr txBox="1"/>
          <p:nvPr/>
        </p:nvSpPr>
        <p:spPr>
          <a:xfrm>
            <a:off x="713232" y="2194560"/>
            <a:ext cx="5120640" cy="777240"/>
          </a:xfrm>
          <a:prstGeom prst="rect">
            <a:avLst/>
          </a:prstGeom>
          <a:noFill/>
        </p:spPr>
        <p:txBody>
          <a:bodyPr wrap="square" anchor="t" lIns="25400" rIns="25400" tIns="25400" bIns="25400">
            <a:spAutoFit/>
          </a:bodyPr>
          <a:lstStyle/>
          <a:p>
            <a:pPr algn="l">
              <a:lnSpc>
                <a:spcPct val="118000"/>
              </a:lnSpc>
              <a:spcBef>
                <a:spcPts val="0"/>
              </a:spcBef>
              <a:spcAft>
                <a:spcPts val="200"/>
              </a:spcAft>
            </a:pPr>
            <a:r>
              <a:rPr sz="1100" b="0" i="0">
                <a:solidFill>
                  <a:srgbClr val="2D2D2D"/>
                </a:solidFill>
                <a:latin typeface="Calibri"/>
                <a:ea typeface="Microsoft YaHei"/>
              </a:rPr>
              <a:t>把仪器记到的数字 DN（digital number）换算成真实的辐射亮度或反射率。没有这一步，数据只是一堆数字。</a:t>
            </a:r>
          </a:p>
        </p:txBody>
      </p:sp>
      <p:sp>
        <p:nvSpPr>
          <p:cNvPr id="14" name="Rectangle 13"/>
          <p:cNvSpPr/>
          <p:nvPr/>
        </p:nvSpPr>
        <p:spPr>
          <a:xfrm>
            <a:off x="6199632" y="1691640"/>
            <a:ext cx="5532120" cy="13258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99632" y="1691640"/>
            <a:ext cx="109728" cy="132588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5664" y="1801368"/>
            <a:ext cx="512064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00" b="1" i="0">
                <a:solidFill>
                  <a:srgbClr val="0096C7"/>
                </a:solidFill>
                <a:latin typeface="Calibri"/>
                <a:ea typeface="Microsoft YaHei"/>
              </a:rPr>
              <a:t>2  Spectral Response Function（SRF，光谱响应函数）</a:t>
            </a:r>
          </a:p>
        </p:txBody>
      </p:sp>
      <p:sp>
        <p:nvSpPr>
          <p:cNvPr id="17" name="TextBox 16"/>
          <p:cNvSpPr txBox="1"/>
          <p:nvPr/>
        </p:nvSpPr>
        <p:spPr>
          <a:xfrm>
            <a:off x="6455664" y="2194560"/>
            <a:ext cx="5120640" cy="777240"/>
          </a:xfrm>
          <a:prstGeom prst="rect">
            <a:avLst/>
          </a:prstGeom>
          <a:noFill/>
        </p:spPr>
        <p:txBody>
          <a:bodyPr wrap="square" anchor="t" lIns="25400" rIns="25400" tIns="25400" bIns="25400">
            <a:spAutoFit/>
          </a:bodyPr>
          <a:lstStyle/>
          <a:p>
            <a:pPr algn="l">
              <a:lnSpc>
                <a:spcPct val="118000"/>
              </a:lnSpc>
              <a:spcBef>
                <a:spcPts val="0"/>
              </a:spcBef>
              <a:spcAft>
                <a:spcPts val="200"/>
              </a:spcAft>
            </a:pPr>
            <a:r>
              <a:rPr sz="1100" b="0" i="0">
                <a:solidFill>
                  <a:srgbClr val="2D2D2D"/>
                </a:solidFill>
                <a:latin typeface="Calibri"/>
                <a:ea typeface="Microsoft YaHei"/>
              </a:rPr>
              <a:t>传感器对每个波长“有多敏感”，是一条随波长变化的曲线。</a:t>
            </a:r>
          </a:p>
        </p:txBody>
      </p:sp>
      <p:sp>
        <p:nvSpPr>
          <p:cNvPr id="18" name="Rectangle 17"/>
          <p:cNvSpPr/>
          <p:nvPr/>
        </p:nvSpPr>
        <p:spPr>
          <a:xfrm>
            <a:off x="457200" y="3172968"/>
            <a:ext cx="5532120" cy="13258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3172968"/>
            <a:ext cx="109728" cy="1325880"/>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3282696"/>
            <a:ext cx="512064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00" b="1" i="0">
                <a:solidFill>
                  <a:srgbClr val="F4A25F"/>
                </a:solidFill>
                <a:latin typeface="Calibri"/>
                <a:ea typeface="Microsoft YaHei"/>
              </a:rPr>
              <a:t>3  FWHM（Full Width at Half Maximum，半高宽）</a:t>
            </a:r>
          </a:p>
        </p:txBody>
      </p:sp>
      <p:sp>
        <p:nvSpPr>
          <p:cNvPr id="21" name="TextBox 20"/>
          <p:cNvSpPr txBox="1"/>
          <p:nvPr/>
        </p:nvSpPr>
        <p:spPr>
          <a:xfrm>
            <a:off x="713232" y="3675888"/>
            <a:ext cx="5120640" cy="777240"/>
          </a:xfrm>
          <a:prstGeom prst="rect">
            <a:avLst/>
          </a:prstGeom>
          <a:noFill/>
        </p:spPr>
        <p:txBody>
          <a:bodyPr wrap="square" anchor="t" lIns="25400" rIns="25400" tIns="25400" bIns="25400">
            <a:spAutoFit/>
          </a:bodyPr>
          <a:lstStyle/>
          <a:p>
            <a:pPr algn="l">
              <a:lnSpc>
                <a:spcPct val="118000"/>
              </a:lnSpc>
              <a:spcBef>
                <a:spcPts val="0"/>
              </a:spcBef>
              <a:spcAft>
                <a:spcPts val="200"/>
              </a:spcAft>
            </a:pPr>
            <a:r>
              <a:rPr sz="1100" b="0" i="0">
                <a:solidFill>
                  <a:srgbClr val="2D2D2D"/>
                </a:solidFill>
                <a:latin typeface="Calibri"/>
                <a:ea typeface="Microsoft YaHei"/>
              </a:rPr>
              <a:t>峰高一半处的宽度。它越小，光谱分辨率越高。</a:t>
            </a:r>
          </a:p>
        </p:txBody>
      </p:sp>
      <p:sp>
        <p:nvSpPr>
          <p:cNvPr id="22" name="Rectangle 21"/>
          <p:cNvSpPr/>
          <p:nvPr/>
        </p:nvSpPr>
        <p:spPr>
          <a:xfrm>
            <a:off x="6199632" y="3172968"/>
            <a:ext cx="5532120" cy="13258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99632" y="3172968"/>
            <a:ext cx="109728" cy="1325880"/>
          </a:xfrm>
          <a:prstGeom prst="rect">
            <a:avLst/>
          </a:prstGeom>
          <a:solidFill>
            <a:srgbClr val="C05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55664" y="3282696"/>
            <a:ext cx="512064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00" b="1" i="0">
                <a:solidFill>
                  <a:srgbClr val="C05050"/>
                </a:solidFill>
                <a:latin typeface="Calibri"/>
                <a:ea typeface="Microsoft YaHei"/>
              </a:rPr>
              <a:t>4  Spectral Smile（光谱微笑效应）</a:t>
            </a:r>
          </a:p>
        </p:txBody>
      </p:sp>
      <p:sp>
        <p:nvSpPr>
          <p:cNvPr id="25" name="TextBox 24"/>
          <p:cNvSpPr txBox="1"/>
          <p:nvPr/>
        </p:nvSpPr>
        <p:spPr>
          <a:xfrm>
            <a:off x="6455664" y="3675888"/>
            <a:ext cx="5120640" cy="777240"/>
          </a:xfrm>
          <a:prstGeom prst="rect">
            <a:avLst/>
          </a:prstGeom>
          <a:noFill/>
        </p:spPr>
        <p:txBody>
          <a:bodyPr wrap="square" anchor="t" lIns="25400" rIns="25400" tIns="25400" bIns="25400">
            <a:spAutoFit/>
          </a:bodyPr>
          <a:lstStyle/>
          <a:p>
            <a:pPr algn="l">
              <a:lnSpc>
                <a:spcPct val="118000"/>
              </a:lnSpc>
              <a:spcBef>
                <a:spcPts val="0"/>
              </a:spcBef>
              <a:spcAft>
                <a:spcPts val="200"/>
              </a:spcAft>
            </a:pPr>
            <a:r>
              <a:rPr sz="1100" b="0" i="0">
                <a:solidFill>
                  <a:srgbClr val="2D2D2D"/>
                </a:solidFill>
                <a:latin typeface="Calibri"/>
                <a:ea typeface="Microsoft YaHei"/>
              </a:rPr>
              <a:t>中间和两边的波长对不齐，曲线像一张微笑的嘴。</a:t>
            </a:r>
          </a:p>
        </p:txBody>
      </p:sp>
      <p:sp>
        <p:nvSpPr>
          <p:cNvPr id="26" name="Rectangle 25"/>
          <p:cNvSpPr/>
          <p:nvPr/>
        </p:nvSpPr>
        <p:spPr>
          <a:xfrm>
            <a:off x="457200" y="4754880"/>
            <a:ext cx="11274552" cy="14630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 y="4754880"/>
            <a:ext cx="109728" cy="146304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3232" y="4882896"/>
            <a:ext cx="10817352" cy="1225296"/>
          </a:xfrm>
          <a:prstGeom prst="rect">
            <a:avLst/>
          </a:prstGeom>
          <a:noFill/>
        </p:spPr>
        <p:txBody>
          <a:bodyPr wrap="square" anchor="t" lIns="25400" rIns="25400" tIns="25400" bIns="25400">
            <a:spAutoFit/>
          </a:bodyPr>
          <a:lstStyle/>
          <a:p>
            <a:pPr algn="l">
              <a:lnSpc>
                <a:spcPct val="114000"/>
              </a:lnSpc>
              <a:spcBef>
                <a:spcPts val="0"/>
              </a:spcBef>
              <a:spcAft>
                <a:spcPts val="300"/>
              </a:spcAft>
            </a:pPr>
            <a:r>
              <a:rPr sz="1050" b="0" i="1">
                <a:solidFill>
                  <a:srgbClr val="404040"/>
                </a:solidFill>
                <a:latin typeface="Calibri"/>
                <a:ea typeface="Microsoft YaHei"/>
              </a:rPr>
              <a:t>“The path of the light from the lamps is slightly different from the path of light through the full optical system… the smile correction table determined based on the former does not enable sufficient spectral smile correction for actual observation images.”</a:t>
            </a:r>
          </a:p>
          <a:p>
            <a:pPr algn="l">
              <a:lnSpc>
                <a:spcPct val="114000"/>
              </a:lnSpc>
              <a:spcBef>
                <a:spcPts val="0"/>
              </a:spcBef>
              <a:spcAft>
                <a:spcPts val="300"/>
              </a:spcAft>
            </a:pPr>
            <a:r>
              <a:rPr sz="1050" b="0" i="1">
                <a:solidFill>
                  <a:srgbClr val="404040"/>
                </a:solidFill>
                <a:latin typeface="Calibri"/>
                <a:ea typeface="Microsoft YaHei"/>
              </a:rPr>
              <a:t>“…absorption bands centered at λ = 765 nm … CO₂ … 2010 nm … 2060 nm.”</a:t>
            </a:r>
          </a:p>
          <a:p>
            <a:pPr algn="r">
              <a:lnSpc>
                <a:spcPct val="105000"/>
              </a:lnSpc>
              <a:spcBef>
                <a:spcPts val="200"/>
              </a:spcBef>
              <a:spcAft>
                <a:spcPts val="200"/>
              </a:spcAft>
            </a:pPr>
            <a:r>
              <a:rPr sz="950" b="1" i="0">
                <a:solidFill>
                  <a:srgbClr val="0096C7"/>
                </a:solidFill>
                <a:latin typeface="Calibri"/>
                <a:ea typeface="Microsoft YaHei"/>
              </a:rPr>
              <a:t>— Yamamoto et al., 2022 (HISUI spectral-smile calibration)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Preprocessing (II) · Atmospheric Correction  大气校正</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3 · Step 1 — Preprocessing</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32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Roussel et al., 2017</a:t>
            </a:r>
          </a:p>
        </p:txBody>
      </p:sp>
      <p:sp>
        <p:nvSpPr>
          <p:cNvPr id="9" name="Rectangle 8"/>
          <p:cNvSpPr/>
          <p:nvPr/>
        </p:nvSpPr>
        <p:spPr>
          <a:xfrm>
            <a:off x="457200" y="1417320"/>
            <a:ext cx="11274552" cy="8686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417320"/>
            <a:ext cx="109728" cy="86868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508760"/>
            <a:ext cx="4114800" cy="685800"/>
          </a:xfrm>
          <a:prstGeom prst="rect">
            <a:avLst/>
          </a:prstGeom>
          <a:noFill/>
        </p:spPr>
        <p:txBody>
          <a:bodyPr wrap="square" anchor="ctr" lIns="25400" rIns="25400" tIns="25400" bIns="25400">
            <a:spAutoFit/>
          </a:bodyPr>
          <a:lstStyle/>
          <a:p>
            <a:pPr algn="l">
              <a:lnSpc>
                <a:spcPct val="105000"/>
              </a:lnSpc>
              <a:spcBef>
                <a:spcPts val="0"/>
              </a:spcBef>
              <a:spcAft>
                <a:spcPts val="200"/>
              </a:spcAft>
            </a:pPr>
            <a:r>
              <a:rPr sz="1250" b="1" i="0">
                <a:solidFill>
                  <a:srgbClr val="1B2A4A"/>
                </a:solidFill>
                <a:latin typeface="Calibri"/>
                <a:ea typeface="Microsoft YaHei"/>
              </a:rPr>
              <a:t>1  Atmospheric Correction（大气校正）</a:t>
            </a:r>
          </a:p>
        </p:txBody>
      </p:sp>
      <p:sp>
        <p:nvSpPr>
          <p:cNvPr id="12" name="TextBox 11"/>
          <p:cNvSpPr txBox="1"/>
          <p:nvPr/>
        </p:nvSpPr>
        <p:spPr>
          <a:xfrm>
            <a:off x="4983480" y="1508760"/>
            <a:ext cx="6583680" cy="713232"/>
          </a:xfrm>
          <a:prstGeom prst="rect">
            <a:avLst/>
          </a:prstGeom>
          <a:noFill/>
        </p:spPr>
        <p:txBody>
          <a:bodyPr wrap="square" anchor="ctr" lIns="25400" rIns="25400" tIns="25400" bIns="25400">
            <a:spAutoFit/>
          </a:bodyPr>
          <a:lstStyle/>
          <a:p>
            <a:pPr algn="l">
              <a:lnSpc>
                <a:spcPct val="112000"/>
              </a:lnSpc>
              <a:spcBef>
                <a:spcPts val="0"/>
              </a:spcBef>
              <a:spcAft>
                <a:spcPts val="200"/>
              </a:spcAft>
            </a:pPr>
            <a:r>
              <a:rPr sz="1130" b="0" i="0">
                <a:solidFill>
                  <a:srgbClr val="2D2D2D"/>
                </a:solidFill>
                <a:latin typeface="Calibri"/>
                <a:ea typeface="Microsoft YaHei"/>
              </a:rPr>
              <a:t>光从太空到地面会被大气散射和吸收，这一步把干扰减掉，还原地表真实反射率。</a:t>
            </a:r>
          </a:p>
        </p:txBody>
      </p:sp>
      <p:sp>
        <p:nvSpPr>
          <p:cNvPr id="13" name="Rectangle 12"/>
          <p:cNvSpPr/>
          <p:nvPr/>
        </p:nvSpPr>
        <p:spPr>
          <a:xfrm>
            <a:off x="457200" y="2386584"/>
            <a:ext cx="11274552" cy="8686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2386584"/>
            <a:ext cx="109728" cy="86868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2478024"/>
            <a:ext cx="4114800" cy="685800"/>
          </a:xfrm>
          <a:prstGeom prst="rect">
            <a:avLst/>
          </a:prstGeom>
          <a:noFill/>
        </p:spPr>
        <p:txBody>
          <a:bodyPr wrap="square" anchor="ctr" lIns="25400" rIns="25400" tIns="25400" bIns="25400">
            <a:spAutoFit/>
          </a:bodyPr>
          <a:lstStyle/>
          <a:p>
            <a:pPr algn="l">
              <a:lnSpc>
                <a:spcPct val="105000"/>
              </a:lnSpc>
              <a:spcBef>
                <a:spcPts val="0"/>
              </a:spcBef>
              <a:spcAft>
                <a:spcPts val="200"/>
              </a:spcAft>
            </a:pPr>
            <a:r>
              <a:rPr sz="1250" b="1" i="0">
                <a:solidFill>
                  <a:srgbClr val="0096C7"/>
                </a:solidFill>
                <a:latin typeface="Calibri"/>
                <a:ea typeface="Microsoft YaHei"/>
              </a:rPr>
              <a:t>2  MODTRAN</a:t>
            </a:r>
          </a:p>
        </p:txBody>
      </p:sp>
      <p:sp>
        <p:nvSpPr>
          <p:cNvPr id="16" name="TextBox 15"/>
          <p:cNvSpPr txBox="1"/>
          <p:nvPr/>
        </p:nvSpPr>
        <p:spPr>
          <a:xfrm>
            <a:off x="4983480" y="2478024"/>
            <a:ext cx="6583680" cy="713232"/>
          </a:xfrm>
          <a:prstGeom prst="rect">
            <a:avLst/>
          </a:prstGeom>
          <a:noFill/>
        </p:spPr>
        <p:txBody>
          <a:bodyPr wrap="square" anchor="ctr" lIns="25400" rIns="25400" tIns="25400" bIns="25400">
            <a:spAutoFit/>
          </a:bodyPr>
          <a:lstStyle/>
          <a:p>
            <a:pPr algn="l">
              <a:lnSpc>
                <a:spcPct val="112000"/>
              </a:lnSpc>
              <a:spcBef>
                <a:spcPts val="0"/>
              </a:spcBef>
              <a:spcAft>
                <a:spcPts val="200"/>
              </a:spcAft>
            </a:pPr>
            <a:r>
              <a:rPr sz="1130" b="0" i="0">
                <a:solidFill>
                  <a:srgbClr val="2D2D2D"/>
                </a:solidFill>
                <a:latin typeface="Calibri"/>
                <a:ea typeface="Microsoft YaHei"/>
              </a:rPr>
              <a:t>常用的大气辐射传输模型，物理法大气校正靠它算大气参数。</a:t>
            </a:r>
          </a:p>
        </p:txBody>
      </p:sp>
      <p:sp>
        <p:nvSpPr>
          <p:cNvPr id="17" name="Rectangle 16"/>
          <p:cNvSpPr/>
          <p:nvPr/>
        </p:nvSpPr>
        <p:spPr>
          <a:xfrm>
            <a:off x="457200" y="3355848"/>
            <a:ext cx="11274552" cy="8686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3355848"/>
            <a:ext cx="109728" cy="868680"/>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447288"/>
            <a:ext cx="4114800" cy="685800"/>
          </a:xfrm>
          <a:prstGeom prst="rect">
            <a:avLst/>
          </a:prstGeom>
          <a:noFill/>
        </p:spPr>
        <p:txBody>
          <a:bodyPr wrap="square" anchor="ctr" lIns="25400" rIns="25400" tIns="25400" bIns="25400">
            <a:spAutoFit/>
          </a:bodyPr>
          <a:lstStyle/>
          <a:p>
            <a:pPr algn="l">
              <a:lnSpc>
                <a:spcPct val="105000"/>
              </a:lnSpc>
              <a:spcBef>
                <a:spcPts val="0"/>
              </a:spcBef>
              <a:spcAft>
                <a:spcPts val="200"/>
              </a:spcAft>
            </a:pPr>
            <a:r>
              <a:rPr sz="1250" b="1" i="0">
                <a:solidFill>
                  <a:srgbClr val="F4A25F"/>
                </a:solidFill>
                <a:latin typeface="Calibri"/>
                <a:ea typeface="Microsoft YaHei"/>
              </a:rPr>
              <a:t>3  COCHISE vs. 经验阴影校正法</a:t>
            </a:r>
          </a:p>
        </p:txBody>
      </p:sp>
      <p:sp>
        <p:nvSpPr>
          <p:cNvPr id="20" name="TextBox 19"/>
          <p:cNvSpPr txBox="1"/>
          <p:nvPr/>
        </p:nvSpPr>
        <p:spPr>
          <a:xfrm>
            <a:off x="4983480" y="3447288"/>
            <a:ext cx="6583680" cy="713232"/>
          </a:xfrm>
          <a:prstGeom prst="rect">
            <a:avLst/>
          </a:prstGeom>
          <a:noFill/>
        </p:spPr>
        <p:txBody>
          <a:bodyPr wrap="square" anchor="ctr" lIns="25400" rIns="25400" tIns="25400" bIns="25400">
            <a:spAutoFit/>
          </a:bodyPr>
          <a:lstStyle/>
          <a:p>
            <a:pPr algn="l">
              <a:lnSpc>
                <a:spcPct val="112000"/>
              </a:lnSpc>
              <a:spcBef>
                <a:spcPts val="0"/>
              </a:spcBef>
              <a:spcAft>
                <a:spcPts val="200"/>
              </a:spcAft>
            </a:pPr>
            <a:r>
              <a:rPr sz="1130" b="0" i="0">
                <a:solidFill>
                  <a:srgbClr val="2D2D2D"/>
                </a:solidFill>
                <a:latin typeface="Calibri"/>
                <a:ea typeface="Microsoft YaHei"/>
              </a:rPr>
              <a:t>物理模型法（COCHISE）准，但假设地面是平的；经验阴影校正法能识别阴影，但把像素当成“要么全亮、要么全暗”。</a:t>
            </a:r>
          </a:p>
        </p:txBody>
      </p:sp>
      <p:sp>
        <p:nvSpPr>
          <p:cNvPr id="21" name="Rectangle 20"/>
          <p:cNvSpPr/>
          <p:nvPr/>
        </p:nvSpPr>
        <p:spPr>
          <a:xfrm>
            <a:off x="457200" y="4325112"/>
            <a:ext cx="11274552" cy="8686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4325112"/>
            <a:ext cx="109728" cy="868680"/>
          </a:xfrm>
          <a:prstGeom prst="rect">
            <a:avLst/>
          </a:prstGeom>
          <a:solidFill>
            <a:srgbClr val="C05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416552"/>
            <a:ext cx="4114800" cy="685800"/>
          </a:xfrm>
          <a:prstGeom prst="rect">
            <a:avLst/>
          </a:prstGeom>
          <a:noFill/>
        </p:spPr>
        <p:txBody>
          <a:bodyPr wrap="square" anchor="ctr" lIns="25400" rIns="25400" tIns="25400" bIns="25400">
            <a:spAutoFit/>
          </a:bodyPr>
          <a:lstStyle/>
          <a:p>
            <a:pPr algn="l">
              <a:lnSpc>
                <a:spcPct val="105000"/>
              </a:lnSpc>
              <a:spcBef>
                <a:spcPts val="0"/>
              </a:spcBef>
              <a:spcAft>
                <a:spcPts val="200"/>
              </a:spcAft>
            </a:pPr>
            <a:r>
              <a:rPr sz="1250" b="1" i="0">
                <a:solidFill>
                  <a:srgbClr val="C05050"/>
                </a:solidFill>
                <a:latin typeface="Calibri"/>
                <a:ea typeface="Microsoft YaHei"/>
              </a:rPr>
              <a:t>4  Spatial Resolution（空间分辨率）</a:t>
            </a:r>
          </a:p>
        </p:txBody>
      </p:sp>
      <p:sp>
        <p:nvSpPr>
          <p:cNvPr id="24" name="TextBox 23"/>
          <p:cNvSpPr txBox="1"/>
          <p:nvPr/>
        </p:nvSpPr>
        <p:spPr>
          <a:xfrm>
            <a:off x="4983480" y="4416552"/>
            <a:ext cx="6583680" cy="713232"/>
          </a:xfrm>
          <a:prstGeom prst="rect">
            <a:avLst/>
          </a:prstGeom>
          <a:noFill/>
        </p:spPr>
        <p:txBody>
          <a:bodyPr wrap="square" anchor="ctr" lIns="25400" rIns="25400" tIns="25400" bIns="25400">
            <a:spAutoFit/>
          </a:bodyPr>
          <a:lstStyle/>
          <a:p>
            <a:pPr algn="l">
              <a:lnSpc>
                <a:spcPct val="112000"/>
              </a:lnSpc>
              <a:spcBef>
                <a:spcPts val="0"/>
              </a:spcBef>
              <a:spcAft>
                <a:spcPts val="200"/>
              </a:spcAft>
            </a:pPr>
            <a:r>
              <a:rPr sz="1130" b="0" i="0">
                <a:solidFill>
                  <a:srgbClr val="2D2D2D"/>
                </a:solidFill>
                <a:latin typeface="Calibri"/>
                <a:ea typeface="Microsoft YaHei"/>
              </a:rPr>
              <a:t>决定哪种方法更好：空间分辨率越低，COCHISE 相对经验法的优势越大。</a:t>
            </a:r>
          </a:p>
        </p:txBody>
      </p:sp>
      <p:sp>
        <p:nvSpPr>
          <p:cNvPr id="25" name="Rectangle 24"/>
          <p:cNvSpPr/>
          <p:nvPr/>
        </p:nvSpPr>
        <p:spPr>
          <a:xfrm>
            <a:off x="457200" y="5349240"/>
            <a:ext cx="11274552" cy="8686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5349240"/>
            <a:ext cx="109728" cy="86868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3232" y="5477255"/>
            <a:ext cx="10817352" cy="630936"/>
          </a:xfrm>
          <a:prstGeom prst="rect">
            <a:avLst/>
          </a:prstGeom>
          <a:noFill/>
        </p:spPr>
        <p:txBody>
          <a:bodyPr wrap="square" anchor="t" lIns="25400" rIns="25400" tIns="25400" bIns="25400">
            <a:spAutoFit/>
          </a:bodyPr>
          <a:lstStyle/>
          <a:p>
            <a:pPr algn="l">
              <a:lnSpc>
                <a:spcPct val="114000"/>
              </a:lnSpc>
              <a:spcBef>
                <a:spcPts val="0"/>
              </a:spcBef>
              <a:spcAft>
                <a:spcPts val="300"/>
              </a:spcAft>
            </a:pPr>
            <a:r>
              <a:rPr sz="1050" b="0" i="1">
                <a:solidFill>
                  <a:srgbClr val="404040"/>
                </a:solidFill>
                <a:latin typeface="Calibri"/>
                <a:ea typeface="Microsoft YaHei"/>
              </a:rPr>
              <a:t>“…the choice depends on the spatial resolution of the processed data set… with the lower spatial resolution where COCHISE can be 10% more accurate than the empirical method.”</a:t>
            </a:r>
          </a:p>
          <a:p>
            <a:pPr algn="r">
              <a:lnSpc>
                <a:spcPct val="105000"/>
              </a:lnSpc>
              <a:spcBef>
                <a:spcPts val="200"/>
              </a:spcBef>
              <a:spcAft>
                <a:spcPts val="200"/>
              </a:spcAft>
            </a:pPr>
            <a:r>
              <a:rPr sz="950" b="1" i="0">
                <a:solidFill>
                  <a:srgbClr val="0096C7"/>
                </a:solidFill>
                <a:latin typeface="Calibri"/>
                <a:ea typeface="Microsoft YaHei"/>
              </a:rPr>
              <a:t>— Roussel et al., 2017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Figures from the Literature · Spectral Smile &amp; Atmospheric Paths</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3 · Calibration &amp; Atmospheric Correction</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33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Yamamoto et al., 2022 · Shaw &amp; Burke, 2003</a:t>
            </a:r>
          </a:p>
        </p:txBody>
      </p:sp>
      <p:sp>
        <p:nvSpPr>
          <p:cNvPr id="9" name="Rectangle 8"/>
          <p:cNvSpPr/>
          <p:nvPr/>
        </p:nvSpPr>
        <p:spPr>
          <a:xfrm>
            <a:off x="411480" y="1325880"/>
            <a:ext cx="6903720" cy="416052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_smile_curves.png"/>
          <p:cNvPicPr>
            <a:picLocks noChangeAspect="1"/>
          </p:cNvPicPr>
          <p:nvPr/>
        </p:nvPicPr>
        <p:blipFill>
          <a:blip r:embed="rId2"/>
          <a:stretch>
            <a:fillRect/>
          </a:stretch>
        </p:blipFill>
        <p:spPr>
          <a:xfrm>
            <a:off x="502920" y="1553787"/>
            <a:ext cx="6720840" cy="3704705"/>
          </a:xfrm>
          <a:prstGeom prst="rect">
            <a:avLst/>
          </a:prstGeom>
        </p:spPr>
      </p:pic>
      <p:sp>
        <p:nvSpPr>
          <p:cNvPr id="11" name="TextBox 10"/>
          <p:cNvSpPr txBox="1"/>
          <p:nvPr/>
        </p:nvSpPr>
        <p:spPr>
          <a:xfrm>
            <a:off x="411480" y="5504688"/>
            <a:ext cx="6903720" cy="777240"/>
          </a:xfrm>
          <a:prstGeom prst="rect">
            <a:avLst/>
          </a:prstGeom>
          <a:noFill/>
        </p:spPr>
        <p:txBody>
          <a:bodyPr wrap="square" anchor="t" lIns="25400" rIns="25400" tIns="25400" bIns="25400">
            <a:spAutoFit/>
          </a:bodyPr>
          <a:lstStyle/>
          <a:p>
            <a:pPr algn="ctr">
              <a:lnSpc>
                <a:spcPct val="108000"/>
              </a:lnSpc>
              <a:spcBef>
                <a:spcPts val="0"/>
              </a:spcBef>
              <a:spcAft>
                <a:spcPts val="200"/>
              </a:spcAft>
            </a:pPr>
            <a:r>
              <a:rPr sz="930" b="0" i="1">
                <a:solidFill>
                  <a:srgbClr val="5A5A5A"/>
                </a:solidFill>
                <a:latin typeface="Calibri"/>
                <a:ea typeface="Microsoft YaHei"/>
              </a:rPr>
              <a:t>Fig. 9–10. SWIR colour composites (left) and measured centre-wavelength shift δλ of the spectral smile along across-track samples for SWIR bands S1–S3 of HISUI (right). (Yamamoto et al., 2022)</a:t>
            </a:r>
          </a:p>
        </p:txBody>
      </p:sp>
      <p:sp>
        <p:nvSpPr>
          <p:cNvPr id="12" name="Rectangle 11"/>
          <p:cNvSpPr/>
          <p:nvPr/>
        </p:nvSpPr>
        <p:spPr>
          <a:xfrm>
            <a:off x="7498079" y="1325880"/>
            <a:ext cx="4279392" cy="416052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fig_atmosphere.png"/>
          <p:cNvPicPr>
            <a:picLocks noChangeAspect="1"/>
          </p:cNvPicPr>
          <p:nvPr/>
        </p:nvPicPr>
        <p:blipFill>
          <a:blip r:embed="rId3"/>
          <a:stretch>
            <a:fillRect/>
          </a:stretch>
        </p:blipFill>
        <p:spPr>
          <a:xfrm>
            <a:off x="7692128" y="1417320"/>
            <a:ext cx="3891294" cy="3977639"/>
          </a:xfrm>
          <a:prstGeom prst="rect">
            <a:avLst/>
          </a:prstGeom>
        </p:spPr>
      </p:pic>
      <p:sp>
        <p:nvSpPr>
          <p:cNvPr id="14" name="TextBox 13"/>
          <p:cNvSpPr txBox="1"/>
          <p:nvPr/>
        </p:nvSpPr>
        <p:spPr>
          <a:xfrm>
            <a:off x="7498079" y="5504688"/>
            <a:ext cx="4279392" cy="777240"/>
          </a:xfrm>
          <a:prstGeom prst="rect">
            <a:avLst/>
          </a:prstGeom>
          <a:noFill/>
        </p:spPr>
        <p:txBody>
          <a:bodyPr wrap="square" anchor="t" lIns="25400" rIns="25400" tIns="25400" bIns="25400">
            <a:spAutoFit/>
          </a:bodyPr>
          <a:lstStyle/>
          <a:p>
            <a:pPr algn="ctr">
              <a:lnSpc>
                <a:spcPct val="108000"/>
              </a:lnSpc>
              <a:spcBef>
                <a:spcPts val="0"/>
              </a:spcBef>
              <a:spcAft>
                <a:spcPts val="200"/>
              </a:spcAft>
            </a:pPr>
            <a:r>
              <a:rPr sz="930" b="0" i="1">
                <a:solidFill>
                  <a:srgbClr val="5A5A5A"/>
                </a:solidFill>
                <a:latin typeface="Calibri"/>
                <a:ea typeface="Microsoft YaHei"/>
              </a:rPr>
              <a:t>FIGURE 5. Solar illumination, atmospheric absorption and scattering, upwelling radiance and the ground pixel viewed by the sensor. (Shaw &amp; Burke, 2003)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Preprocessing (III) · Raman vs. FTIR  拉曼 vs 红外</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3 · Step 1 — Scatter &amp; Baseline Correction</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34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Gautam et al., 2015</a:t>
            </a:r>
          </a:p>
        </p:txBody>
      </p:sp>
      <p:sp>
        <p:nvSpPr>
          <p:cNvPr id="9" name="Rectangle 8"/>
          <p:cNvSpPr/>
          <p:nvPr/>
        </p:nvSpPr>
        <p:spPr>
          <a:xfrm>
            <a:off x="457200" y="1325880"/>
            <a:ext cx="11274552" cy="2788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109728" cy="27889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81328"/>
            <a:ext cx="4937760" cy="502920"/>
          </a:xfrm>
          <a:prstGeom prst="rect">
            <a:avLst/>
          </a:prstGeom>
          <a:noFill/>
        </p:spPr>
        <p:txBody>
          <a:bodyPr wrap="square" anchor="ctr" lIns="25400" rIns="25400" tIns="25400" bIns="25400">
            <a:spAutoFit/>
          </a:bodyPr>
          <a:lstStyle/>
          <a:p>
            <a:pPr algn="l">
              <a:lnSpc>
                <a:spcPct val="105000"/>
              </a:lnSpc>
              <a:spcBef>
                <a:spcPts val="0"/>
              </a:spcBef>
              <a:spcAft>
                <a:spcPts val="200"/>
              </a:spcAft>
            </a:pPr>
            <a:r>
              <a:rPr sz="1150" b="1" i="0">
                <a:solidFill>
                  <a:srgbClr val="0096C7"/>
                </a:solidFill>
                <a:latin typeface="Calibri"/>
                <a:ea typeface="Microsoft YaHei"/>
              </a:rPr>
              <a:t>Fluorescence Baseline（荧光基线）</a:t>
            </a:r>
          </a:p>
        </p:txBody>
      </p:sp>
      <p:sp>
        <p:nvSpPr>
          <p:cNvPr id="12" name="TextBox 11"/>
          <p:cNvSpPr txBox="1"/>
          <p:nvPr/>
        </p:nvSpPr>
        <p:spPr>
          <a:xfrm>
            <a:off x="5760720" y="1481328"/>
            <a:ext cx="5806440" cy="502920"/>
          </a:xfrm>
          <a:prstGeom prst="rect">
            <a:avLst/>
          </a:prstGeom>
          <a:noFill/>
        </p:spPr>
        <p:txBody>
          <a:bodyPr wrap="square" anchor="ctr" lIns="25400" rIns="25400" tIns="25400" bIns="25400">
            <a:spAutoFit/>
          </a:bodyPr>
          <a:lstStyle/>
          <a:p>
            <a:pPr algn="l">
              <a:lnSpc>
                <a:spcPct val="110000"/>
              </a:lnSpc>
              <a:spcBef>
                <a:spcPts val="0"/>
              </a:spcBef>
              <a:spcAft>
                <a:spcPts val="200"/>
              </a:spcAft>
            </a:pPr>
            <a:r>
              <a:rPr sz="1100" b="0" i="0">
                <a:solidFill>
                  <a:srgbClr val="2D2D2D"/>
                </a:solidFill>
                <a:latin typeface="Calibri"/>
                <a:ea typeface="Microsoft YaHei"/>
              </a:rPr>
              <a:t>拉曼信号弱，被荧光背景盖住，要先做 Baseline Correction（基线校正）。</a:t>
            </a:r>
          </a:p>
        </p:txBody>
      </p:sp>
      <p:sp>
        <p:nvSpPr>
          <p:cNvPr id="13" name="TextBox 12"/>
          <p:cNvSpPr txBox="1"/>
          <p:nvPr/>
        </p:nvSpPr>
        <p:spPr>
          <a:xfrm>
            <a:off x="777240" y="2002536"/>
            <a:ext cx="4937760" cy="502920"/>
          </a:xfrm>
          <a:prstGeom prst="rect">
            <a:avLst/>
          </a:prstGeom>
          <a:noFill/>
        </p:spPr>
        <p:txBody>
          <a:bodyPr wrap="square" anchor="ctr" lIns="25400" rIns="25400" tIns="25400" bIns="25400">
            <a:spAutoFit/>
          </a:bodyPr>
          <a:lstStyle/>
          <a:p>
            <a:pPr algn="l">
              <a:lnSpc>
                <a:spcPct val="105000"/>
              </a:lnSpc>
              <a:spcBef>
                <a:spcPts val="0"/>
              </a:spcBef>
              <a:spcAft>
                <a:spcPts val="200"/>
              </a:spcAft>
            </a:pPr>
            <a:r>
              <a:rPr sz="1150" b="1" i="0">
                <a:solidFill>
                  <a:srgbClr val="0096C7"/>
                </a:solidFill>
                <a:latin typeface="Calibri"/>
                <a:ea typeface="Microsoft YaHei"/>
              </a:rPr>
              <a:t>Cosmic Ray Spike（宇宙射线尖峰）</a:t>
            </a:r>
          </a:p>
        </p:txBody>
      </p:sp>
      <p:sp>
        <p:nvSpPr>
          <p:cNvPr id="14" name="TextBox 13"/>
          <p:cNvSpPr txBox="1"/>
          <p:nvPr/>
        </p:nvSpPr>
        <p:spPr>
          <a:xfrm>
            <a:off x="5760720" y="2002536"/>
            <a:ext cx="5806440" cy="502920"/>
          </a:xfrm>
          <a:prstGeom prst="rect">
            <a:avLst/>
          </a:prstGeom>
          <a:noFill/>
        </p:spPr>
        <p:txBody>
          <a:bodyPr wrap="square" anchor="ctr" lIns="25400" rIns="25400" tIns="25400" bIns="25400">
            <a:spAutoFit/>
          </a:bodyPr>
          <a:lstStyle/>
          <a:p>
            <a:pPr algn="l">
              <a:lnSpc>
                <a:spcPct val="110000"/>
              </a:lnSpc>
              <a:spcBef>
                <a:spcPts val="0"/>
              </a:spcBef>
              <a:spcAft>
                <a:spcPts val="200"/>
              </a:spcAft>
            </a:pPr>
            <a:r>
              <a:rPr sz="1100" b="0" i="0">
                <a:solidFill>
                  <a:srgbClr val="2D2D2D"/>
                </a:solidFill>
                <a:latin typeface="Calibri"/>
                <a:ea typeface="Microsoft YaHei"/>
              </a:rPr>
              <a:t>CCD 上突然冒出的假亮点，要先去掉。</a:t>
            </a:r>
          </a:p>
        </p:txBody>
      </p:sp>
      <p:sp>
        <p:nvSpPr>
          <p:cNvPr id="15" name="TextBox 14"/>
          <p:cNvSpPr txBox="1"/>
          <p:nvPr/>
        </p:nvSpPr>
        <p:spPr>
          <a:xfrm>
            <a:off x="777240" y="2523744"/>
            <a:ext cx="4937760" cy="502920"/>
          </a:xfrm>
          <a:prstGeom prst="rect">
            <a:avLst/>
          </a:prstGeom>
          <a:noFill/>
        </p:spPr>
        <p:txBody>
          <a:bodyPr wrap="square" anchor="ctr" lIns="25400" rIns="25400" tIns="25400" bIns="25400">
            <a:spAutoFit/>
          </a:bodyPr>
          <a:lstStyle/>
          <a:p>
            <a:pPr algn="l">
              <a:lnSpc>
                <a:spcPct val="105000"/>
              </a:lnSpc>
              <a:spcBef>
                <a:spcPts val="0"/>
              </a:spcBef>
              <a:spcAft>
                <a:spcPts val="200"/>
              </a:spcAft>
            </a:pPr>
            <a:r>
              <a:rPr sz="1150" b="1" i="0">
                <a:solidFill>
                  <a:srgbClr val="0096C7"/>
                </a:solidFill>
                <a:latin typeface="Calibri"/>
                <a:ea typeface="Microsoft YaHei"/>
              </a:rPr>
              <a:t>ALS（Asymmetric Least Squares）</a:t>
            </a:r>
          </a:p>
        </p:txBody>
      </p:sp>
      <p:sp>
        <p:nvSpPr>
          <p:cNvPr id="16" name="TextBox 15"/>
          <p:cNvSpPr txBox="1"/>
          <p:nvPr/>
        </p:nvSpPr>
        <p:spPr>
          <a:xfrm>
            <a:off x="5760720" y="2523744"/>
            <a:ext cx="5806440" cy="502920"/>
          </a:xfrm>
          <a:prstGeom prst="rect">
            <a:avLst/>
          </a:prstGeom>
          <a:noFill/>
        </p:spPr>
        <p:txBody>
          <a:bodyPr wrap="square" anchor="ctr" lIns="25400" rIns="25400" tIns="25400" bIns="25400">
            <a:spAutoFit/>
          </a:bodyPr>
          <a:lstStyle/>
          <a:p>
            <a:pPr algn="l">
              <a:lnSpc>
                <a:spcPct val="110000"/>
              </a:lnSpc>
              <a:spcBef>
                <a:spcPts val="0"/>
              </a:spcBef>
              <a:spcAft>
                <a:spcPts val="200"/>
              </a:spcAft>
            </a:pPr>
            <a:r>
              <a:rPr sz="1100" b="0" i="0">
                <a:solidFill>
                  <a:srgbClr val="2D2D2D"/>
                </a:solidFill>
                <a:latin typeface="Calibri"/>
                <a:ea typeface="Microsoft YaHei"/>
              </a:rPr>
              <a:t>非对称最小二乘法，常用的拟合基线算法。</a:t>
            </a:r>
          </a:p>
        </p:txBody>
      </p:sp>
      <p:sp>
        <p:nvSpPr>
          <p:cNvPr id="17" name="TextBox 16"/>
          <p:cNvSpPr txBox="1"/>
          <p:nvPr/>
        </p:nvSpPr>
        <p:spPr>
          <a:xfrm>
            <a:off x="777240" y="3044951"/>
            <a:ext cx="4937760" cy="502920"/>
          </a:xfrm>
          <a:prstGeom prst="rect">
            <a:avLst/>
          </a:prstGeom>
          <a:noFill/>
        </p:spPr>
        <p:txBody>
          <a:bodyPr wrap="square" anchor="ctr" lIns="25400" rIns="25400" tIns="25400" bIns="25400">
            <a:spAutoFit/>
          </a:bodyPr>
          <a:lstStyle/>
          <a:p>
            <a:pPr algn="l">
              <a:lnSpc>
                <a:spcPct val="105000"/>
              </a:lnSpc>
              <a:spcBef>
                <a:spcPts val="0"/>
              </a:spcBef>
              <a:spcAft>
                <a:spcPts val="200"/>
              </a:spcAft>
            </a:pPr>
            <a:r>
              <a:rPr sz="1150" b="1" i="0">
                <a:solidFill>
                  <a:srgbClr val="0096C7"/>
                </a:solidFill>
                <a:latin typeface="Calibri"/>
                <a:ea typeface="Microsoft YaHei"/>
              </a:rPr>
              <a:t>Mie Scattering（米氏散射）</a:t>
            </a:r>
          </a:p>
        </p:txBody>
      </p:sp>
      <p:sp>
        <p:nvSpPr>
          <p:cNvPr id="18" name="TextBox 17"/>
          <p:cNvSpPr txBox="1"/>
          <p:nvPr/>
        </p:nvSpPr>
        <p:spPr>
          <a:xfrm>
            <a:off x="5760720" y="3044951"/>
            <a:ext cx="5806440" cy="502920"/>
          </a:xfrm>
          <a:prstGeom prst="rect">
            <a:avLst/>
          </a:prstGeom>
          <a:noFill/>
        </p:spPr>
        <p:txBody>
          <a:bodyPr wrap="square" anchor="ctr" lIns="25400" rIns="25400" tIns="25400" bIns="25400">
            <a:spAutoFit/>
          </a:bodyPr>
          <a:lstStyle/>
          <a:p>
            <a:pPr algn="l">
              <a:lnSpc>
                <a:spcPct val="110000"/>
              </a:lnSpc>
              <a:spcBef>
                <a:spcPts val="0"/>
              </a:spcBef>
              <a:spcAft>
                <a:spcPts val="200"/>
              </a:spcAft>
            </a:pPr>
            <a:r>
              <a:rPr sz="1100" b="0" i="0">
                <a:solidFill>
                  <a:srgbClr val="2D2D2D"/>
                </a:solidFill>
                <a:latin typeface="Calibri"/>
                <a:ea typeface="Microsoft YaHei"/>
              </a:rPr>
              <a:t>细胞大小和红外波长差不多，会把光谱形状扭歪。</a:t>
            </a:r>
          </a:p>
        </p:txBody>
      </p:sp>
      <p:sp>
        <p:nvSpPr>
          <p:cNvPr id="19" name="TextBox 18"/>
          <p:cNvSpPr txBox="1"/>
          <p:nvPr/>
        </p:nvSpPr>
        <p:spPr>
          <a:xfrm>
            <a:off x="777240" y="3566159"/>
            <a:ext cx="4937760" cy="502920"/>
          </a:xfrm>
          <a:prstGeom prst="rect">
            <a:avLst/>
          </a:prstGeom>
          <a:noFill/>
        </p:spPr>
        <p:txBody>
          <a:bodyPr wrap="square" anchor="ctr" lIns="25400" rIns="25400" tIns="25400" bIns="25400">
            <a:spAutoFit/>
          </a:bodyPr>
          <a:lstStyle/>
          <a:p>
            <a:pPr algn="l">
              <a:lnSpc>
                <a:spcPct val="105000"/>
              </a:lnSpc>
              <a:spcBef>
                <a:spcPts val="0"/>
              </a:spcBef>
              <a:spcAft>
                <a:spcPts val="200"/>
              </a:spcAft>
            </a:pPr>
            <a:r>
              <a:rPr sz="1150" b="1" i="0">
                <a:solidFill>
                  <a:srgbClr val="0096C7"/>
                </a:solidFill>
                <a:latin typeface="Calibri"/>
                <a:ea typeface="Microsoft YaHei"/>
              </a:rPr>
              <a:t>EMSC（Extended Multiplicative Scatter Correction，扩展乘性散射校正）</a:t>
            </a:r>
          </a:p>
        </p:txBody>
      </p:sp>
      <p:sp>
        <p:nvSpPr>
          <p:cNvPr id="20" name="TextBox 19"/>
          <p:cNvSpPr txBox="1"/>
          <p:nvPr/>
        </p:nvSpPr>
        <p:spPr>
          <a:xfrm>
            <a:off x="5760720" y="3566159"/>
            <a:ext cx="5806440" cy="502920"/>
          </a:xfrm>
          <a:prstGeom prst="rect">
            <a:avLst/>
          </a:prstGeom>
          <a:noFill/>
        </p:spPr>
        <p:txBody>
          <a:bodyPr wrap="square" anchor="ctr" lIns="25400" rIns="25400" tIns="25400" bIns="25400">
            <a:spAutoFit/>
          </a:bodyPr>
          <a:lstStyle/>
          <a:p>
            <a:pPr algn="l">
              <a:lnSpc>
                <a:spcPct val="110000"/>
              </a:lnSpc>
              <a:spcBef>
                <a:spcPts val="0"/>
              </a:spcBef>
              <a:spcAft>
                <a:spcPts val="200"/>
              </a:spcAft>
            </a:pPr>
            <a:r>
              <a:rPr sz="1100" b="0" i="0">
                <a:solidFill>
                  <a:srgbClr val="2D2D2D"/>
                </a:solidFill>
                <a:latin typeface="Calibri"/>
                <a:ea typeface="Microsoft YaHei"/>
              </a:rPr>
              <a:t>红外里最常用的预处理。</a:t>
            </a:r>
          </a:p>
        </p:txBody>
      </p:sp>
      <p:sp>
        <p:nvSpPr>
          <p:cNvPr id="21" name="TextBox 20"/>
          <p:cNvSpPr txBox="1"/>
          <p:nvPr/>
        </p:nvSpPr>
        <p:spPr>
          <a:xfrm>
            <a:off x="777240" y="4105655"/>
            <a:ext cx="1078992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000" b="1" i="0">
                <a:solidFill>
                  <a:srgbClr val="F4A25F"/>
                </a:solidFill>
                <a:latin typeface="Calibri"/>
                <a:ea typeface="Microsoft YaHei"/>
              </a:rPr>
              <a:t>【文献出处】Gautam 2015：拉曼的荧光基线、宇宙射线尖峰、ALS、SG 平滑、SNV；FTIR 的 Mie 散射、MSC / EMSC。</a:t>
            </a:r>
          </a:p>
        </p:txBody>
      </p:sp>
      <p:sp>
        <p:nvSpPr>
          <p:cNvPr id="22" name="Rectangle 21"/>
          <p:cNvSpPr/>
          <p:nvPr/>
        </p:nvSpPr>
        <p:spPr>
          <a:xfrm>
            <a:off x="457200" y="4297680"/>
            <a:ext cx="11274552" cy="19202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4297680"/>
            <a:ext cx="109728" cy="192024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4425696"/>
            <a:ext cx="10817352" cy="1682496"/>
          </a:xfrm>
          <a:prstGeom prst="rect">
            <a:avLst/>
          </a:prstGeom>
          <a:noFill/>
        </p:spPr>
        <p:txBody>
          <a:bodyPr wrap="square" anchor="t" lIns="25400" rIns="25400" tIns="25400" bIns="25400">
            <a:spAutoFit/>
          </a:bodyPr>
          <a:lstStyle/>
          <a:p>
            <a:pPr algn="l">
              <a:lnSpc>
                <a:spcPct val="114000"/>
              </a:lnSpc>
              <a:spcBef>
                <a:spcPts val="0"/>
              </a:spcBef>
              <a:spcAft>
                <a:spcPts val="300"/>
              </a:spcAft>
            </a:pPr>
            <a:r>
              <a:rPr sz="1050" b="0" i="1">
                <a:solidFill>
                  <a:srgbClr val="404040"/>
                </a:solidFill>
                <a:latin typeface="Calibri"/>
                <a:ea typeface="Microsoft YaHei"/>
              </a:rPr>
              <a:t>“…the strong intrinsic fluorescence from many biomolecules. The fluorescence background is often many times more intense than the weak Raman signals.”</a:t>
            </a:r>
          </a:p>
          <a:p>
            <a:pPr algn="l">
              <a:lnSpc>
                <a:spcPct val="114000"/>
              </a:lnSpc>
              <a:spcBef>
                <a:spcPts val="0"/>
              </a:spcBef>
              <a:spcAft>
                <a:spcPts val="300"/>
              </a:spcAft>
            </a:pPr>
            <a:r>
              <a:rPr sz="1050" b="0" i="1">
                <a:solidFill>
                  <a:srgbClr val="404040"/>
                </a:solidFill>
                <a:latin typeface="Calibri"/>
                <a:ea typeface="Microsoft YaHei"/>
              </a:rPr>
              <a:t>“…mid-infrared spectrum… is hampered by Mie scattering… Extended Multiplicative Scatter Correction (EMSC) can be employed for this purpose.”</a:t>
            </a:r>
          </a:p>
          <a:p>
            <a:pPr algn="r">
              <a:lnSpc>
                <a:spcPct val="105000"/>
              </a:lnSpc>
              <a:spcBef>
                <a:spcPts val="200"/>
              </a:spcBef>
              <a:spcAft>
                <a:spcPts val="200"/>
              </a:spcAft>
            </a:pPr>
            <a:r>
              <a:rPr sz="950" b="1" i="0">
                <a:solidFill>
                  <a:srgbClr val="0096C7"/>
                </a:solidFill>
                <a:latin typeface="Calibri"/>
                <a:ea typeface="Microsoft YaHei"/>
              </a:rPr>
              <a:t>— Gautam et al., 2015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Dimensionality Reduction · PCA  降维：主成分分析</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3 · Step 2 — Dimensionality Reduction</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35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Gautam et al., 2015</a:t>
            </a:r>
          </a:p>
        </p:txBody>
      </p:sp>
      <p:sp>
        <p:nvSpPr>
          <p:cNvPr id="9" name="Rectangle 8"/>
          <p:cNvSpPr/>
          <p:nvPr/>
        </p:nvSpPr>
        <p:spPr>
          <a:xfrm>
            <a:off x="457200" y="1325880"/>
            <a:ext cx="11274552" cy="35204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109728" cy="352044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89920" cy="3200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400" b="1" i="0">
                <a:solidFill>
                  <a:srgbClr val="1B2A4A"/>
                </a:solidFill>
                <a:latin typeface="Calibri"/>
                <a:ea typeface="Microsoft YaHei"/>
              </a:rPr>
              <a:t>二、降维：PCA</a:t>
            </a:r>
          </a:p>
        </p:txBody>
      </p:sp>
      <p:sp>
        <p:nvSpPr>
          <p:cNvPr id="12" name="Oval 11"/>
          <p:cNvSpPr/>
          <p:nvPr/>
        </p:nvSpPr>
        <p:spPr>
          <a:xfrm>
            <a:off x="749808" y="1828800"/>
            <a:ext cx="274320" cy="274320"/>
          </a:xfrm>
          <a:prstGeom prst="ellipse">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latin typeface="Calibri"/>
                <a:ea typeface="Microsoft YaHei"/>
              </a:rPr>
              <a:t>1</a:t>
            </a:r>
          </a:p>
        </p:txBody>
      </p:sp>
      <p:sp>
        <p:nvSpPr>
          <p:cNvPr id="13" name="TextBox 12"/>
          <p:cNvSpPr txBox="1"/>
          <p:nvPr/>
        </p:nvSpPr>
        <p:spPr>
          <a:xfrm>
            <a:off x="1188720" y="1810512"/>
            <a:ext cx="3931920" cy="475488"/>
          </a:xfrm>
          <a:prstGeom prst="rect">
            <a:avLst/>
          </a:prstGeom>
          <a:noFill/>
        </p:spPr>
        <p:txBody>
          <a:bodyPr wrap="square" anchor="ctr" lIns="25400" rIns="25400" tIns="25400" bIns="25400">
            <a:spAutoFit/>
          </a:bodyPr>
          <a:lstStyle/>
          <a:p>
            <a:pPr algn="l">
              <a:lnSpc>
                <a:spcPct val="105000"/>
              </a:lnSpc>
              <a:spcBef>
                <a:spcPts val="0"/>
              </a:spcBef>
              <a:spcAft>
                <a:spcPts val="200"/>
              </a:spcAft>
            </a:pPr>
            <a:r>
              <a:rPr sz="1130" b="1" i="0">
                <a:solidFill>
                  <a:srgbClr val="1B2A4A"/>
                </a:solidFill>
                <a:latin typeface="Calibri"/>
                <a:ea typeface="Microsoft YaHei"/>
              </a:rPr>
              <a:t>Hyperspectral Cube（高光谱数据立方体）</a:t>
            </a:r>
          </a:p>
        </p:txBody>
      </p:sp>
      <p:sp>
        <p:nvSpPr>
          <p:cNvPr id="14" name="TextBox 13"/>
          <p:cNvSpPr txBox="1"/>
          <p:nvPr/>
        </p:nvSpPr>
        <p:spPr>
          <a:xfrm>
            <a:off x="5166360" y="1810512"/>
            <a:ext cx="6400800" cy="475488"/>
          </a:xfrm>
          <a:prstGeom prst="rect">
            <a:avLst/>
          </a:prstGeom>
          <a:noFill/>
        </p:spPr>
        <p:txBody>
          <a:bodyPr wrap="square" anchor="ctr" lIns="25400" rIns="25400" tIns="25400" bIns="25400">
            <a:spAutoFit/>
          </a:bodyPr>
          <a:lstStyle/>
          <a:p>
            <a:pPr algn="l">
              <a:lnSpc>
                <a:spcPct val="108000"/>
              </a:lnSpc>
              <a:spcBef>
                <a:spcPts val="0"/>
              </a:spcBef>
              <a:spcAft>
                <a:spcPts val="200"/>
              </a:spcAft>
            </a:pPr>
            <a:r>
              <a:rPr sz="1080" b="0" i="0">
                <a:solidFill>
                  <a:srgbClr val="2D2D2D"/>
                </a:solidFill>
                <a:latin typeface="Calibri"/>
                <a:ea typeface="Microsoft YaHei"/>
              </a:rPr>
              <a:t>两个空间维度 + 一个光谱维度，一景图有几百个波段。</a:t>
            </a:r>
          </a:p>
        </p:txBody>
      </p:sp>
      <p:sp>
        <p:nvSpPr>
          <p:cNvPr id="15" name="Oval 14"/>
          <p:cNvSpPr/>
          <p:nvPr/>
        </p:nvSpPr>
        <p:spPr>
          <a:xfrm>
            <a:off x="749808" y="2331720"/>
            <a:ext cx="274320" cy="27432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latin typeface="Calibri"/>
                <a:ea typeface="Microsoft YaHei"/>
              </a:rPr>
              <a:t>2</a:t>
            </a:r>
          </a:p>
        </p:txBody>
      </p:sp>
      <p:sp>
        <p:nvSpPr>
          <p:cNvPr id="16" name="TextBox 15"/>
          <p:cNvSpPr txBox="1"/>
          <p:nvPr/>
        </p:nvSpPr>
        <p:spPr>
          <a:xfrm>
            <a:off x="1188720" y="2313432"/>
            <a:ext cx="3931920" cy="475488"/>
          </a:xfrm>
          <a:prstGeom prst="rect">
            <a:avLst/>
          </a:prstGeom>
          <a:noFill/>
        </p:spPr>
        <p:txBody>
          <a:bodyPr wrap="square" anchor="ctr" lIns="25400" rIns="25400" tIns="25400" bIns="25400">
            <a:spAutoFit/>
          </a:bodyPr>
          <a:lstStyle/>
          <a:p>
            <a:pPr algn="l">
              <a:lnSpc>
                <a:spcPct val="105000"/>
              </a:lnSpc>
              <a:spcBef>
                <a:spcPts val="0"/>
              </a:spcBef>
              <a:spcAft>
                <a:spcPts val="200"/>
              </a:spcAft>
            </a:pPr>
            <a:r>
              <a:rPr sz="1130" b="1" i="0">
                <a:solidFill>
                  <a:srgbClr val="1B2A4A"/>
                </a:solidFill>
                <a:latin typeface="Calibri"/>
                <a:ea typeface="Microsoft YaHei"/>
              </a:rPr>
              <a:t>为什么降维？</a:t>
            </a:r>
          </a:p>
        </p:txBody>
      </p:sp>
      <p:sp>
        <p:nvSpPr>
          <p:cNvPr id="17" name="TextBox 16"/>
          <p:cNvSpPr txBox="1"/>
          <p:nvPr/>
        </p:nvSpPr>
        <p:spPr>
          <a:xfrm>
            <a:off x="5166360" y="2313432"/>
            <a:ext cx="6400800" cy="475488"/>
          </a:xfrm>
          <a:prstGeom prst="rect">
            <a:avLst/>
          </a:prstGeom>
          <a:noFill/>
        </p:spPr>
        <p:txBody>
          <a:bodyPr wrap="square" anchor="ctr" lIns="25400" rIns="25400" tIns="25400" bIns="25400">
            <a:spAutoFit/>
          </a:bodyPr>
          <a:lstStyle/>
          <a:p>
            <a:pPr algn="l">
              <a:lnSpc>
                <a:spcPct val="108000"/>
              </a:lnSpc>
              <a:spcBef>
                <a:spcPts val="0"/>
              </a:spcBef>
              <a:spcAft>
                <a:spcPts val="200"/>
              </a:spcAft>
            </a:pPr>
            <a:r>
              <a:rPr sz="1080" b="0" i="0">
                <a:solidFill>
                  <a:srgbClr val="2D2D2D"/>
                </a:solidFill>
                <a:latin typeface="Calibri"/>
                <a:ea typeface="Microsoft YaHei"/>
              </a:rPr>
              <a:t>因为波段之间高度相关。</a:t>
            </a:r>
          </a:p>
        </p:txBody>
      </p:sp>
      <p:sp>
        <p:nvSpPr>
          <p:cNvPr id="18" name="Oval 17"/>
          <p:cNvSpPr/>
          <p:nvPr/>
        </p:nvSpPr>
        <p:spPr>
          <a:xfrm>
            <a:off x="749808" y="2834640"/>
            <a:ext cx="274320" cy="274320"/>
          </a:xfrm>
          <a:prstGeom prst="ellipse">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latin typeface="Calibri"/>
                <a:ea typeface="Microsoft YaHei"/>
              </a:rPr>
              <a:t>3</a:t>
            </a:r>
          </a:p>
        </p:txBody>
      </p:sp>
      <p:sp>
        <p:nvSpPr>
          <p:cNvPr id="19" name="TextBox 18"/>
          <p:cNvSpPr txBox="1"/>
          <p:nvPr/>
        </p:nvSpPr>
        <p:spPr>
          <a:xfrm>
            <a:off x="1188720" y="2816352"/>
            <a:ext cx="3931920" cy="475488"/>
          </a:xfrm>
          <a:prstGeom prst="rect">
            <a:avLst/>
          </a:prstGeom>
          <a:noFill/>
        </p:spPr>
        <p:txBody>
          <a:bodyPr wrap="square" anchor="ctr" lIns="25400" rIns="25400" tIns="25400" bIns="25400">
            <a:spAutoFit/>
          </a:bodyPr>
          <a:lstStyle/>
          <a:p>
            <a:pPr algn="l">
              <a:lnSpc>
                <a:spcPct val="105000"/>
              </a:lnSpc>
              <a:spcBef>
                <a:spcPts val="0"/>
              </a:spcBef>
              <a:spcAft>
                <a:spcPts val="200"/>
              </a:spcAft>
            </a:pPr>
            <a:r>
              <a:rPr sz="1130" b="1" i="0">
                <a:solidFill>
                  <a:srgbClr val="1B2A4A"/>
                </a:solidFill>
                <a:latin typeface="Calibri"/>
                <a:ea typeface="Microsoft YaHei"/>
              </a:rPr>
              <a:t>PCA（Principal Component Analysis，主成分分析）</a:t>
            </a:r>
          </a:p>
        </p:txBody>
      </p:sp>
      <p:sp>
        <p:nvSpPr>
          <p:cNvPr id="20" name="TextBox 19"/>
          <p:cNvSpPr txBox="1"/>
          <p:nvPr/>
        </p:nvSpPr>
        <p:spPr>
          <a:xfrm>
            <a:off x="5166360" y="2816352"/>
            <a:ext cx="6400800" cy="475488"/>
          </a:xfrm>
          <a:prstGeom prst="rect">
            <a:avLst/>
          </a:prstGeom>
          <a:noFill/>
        </p:spPr>
        <p:txBody>
          <a:bodyPr wrap="square" anchor="ctr" lIns="25400" rIns="25400" tIns="25400" bIns="25400">
            <a:spAutoFit/>
          </a:bodyPr>
          <a:lstStyle/>
          <a:p>
            <a:pPr algn="l">
              <a:lnSpc>
                <a:spcPct val="108000"/>
              </a:lnSpc>
              <a:spcBef>
                <a:spcPts val="0"/>
              </a:spcBef>
              <a:spcAft>
                <a:spcPts val="200"/>
              </a:spcAft>
            </a:pPr>
            <a:r>
              <a:rPr sz="1080" b="0" i="0">
                <a:solidFill>
                  <a:srgbClr val="2D2D2D"/>
                </a:solidFill>
                <a:latin typeface="Calibri"/>
                <a:ea typeface="Microsoft YaHei"/>
              </a:rPr>
              <a:t>把几百个波段“拧成”几个 PC（主成分）。</a:t>
            </a:r>
          </a:p>
        </p:txBody>
      </p:sp>
      <p:sp>
        <p:nvSpPr>
          <p:cNvPr id="21" name="Oval 20"/>
          <p:cNvSpPr/>
          <p:nvPr/>
        </p:nvSpPr>
        <p:spPr>
          <a:xfrm>
            <a:off x="749808" y="3337560"/>
            <a:ext cx="274320" cy="274320"/>
          </a:xfrm>
          <a:prstGeom prst="ellipse">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latin typeface="Calibri"/>
                <a:ea typeface="Microsoft YaHei"/>
              </a:rPr>
              <a:t>4</a:t>
            </a:r>
          </a:p>
        </p:txBody>
      </p:sp>
      <p:sp>
        <p:nvSpPr>
          <p:cNvPr id="22" name="TextBox 21"/>
          <p:cNvSpPr txBox="1"/>
          <p:nvPr/>
        </p:nvSpPr>
        <p:spPr>
          <a:xfrm>
            <a:off x="1188720" y="3319272"/>
            <a:ext cx="3931920" cy="475488"/>
          </a:xfrm>
          <a:prstGeom prst="rect">
            <a:avLst/>
          </a:prstGeom>
          <a:noFill/>
        </p:spPr>
        <p:txBody>
          <a:bodyPr wrap="square" anchor="ctr" lIns="25400" rIns="25400" tIns="25400" bIns="25400">
            <a:spAutoFit/>
          </a:bodyPr>
          <a:lstStyle/>
          <a:p>
            <a:pPr algn="l">
              <a:lnSpc>
                <a:spcPct val="105000"/>
              </a:lnSpc>
              <a:spcBef>
                <a:spcPts val="0"/>
              </a:spcBef>
              <a:spcAft>
                <a:spcPts val="200"/>
              </a:spcAft>
            </a:pPr>
            <a:r>
              <a:rPr sz="1130" b="1" i="0">
                <a:solidFill>
                  <a:srgbClr val="1B2A4A"/>
                </a:solidFill>
                <a:latin typeface="Calibri"/>
                <a:ea typeface="Microsoft YaHei"/>
              </a:rPr>
              <a:t>Eigenvalue / Eigenvector（特征值 / 特征向量）</a:t>
            </a:r>
          </a:p>
        </p:txBody>
      </p:sp>
      <p:sp>
        <p:nvSpPr>
          <p:cNvPr id="23" name="TextBox 22"/>
          <p:cNvSpPr txBox="1"/>
          <p:nvPr/>
        </p:nvSpPr>
        <p:spPr>
          <a:xfrm>
            <a:off x="5166360" y="3319272"/>
            <a:ext cx="6400800" cy="475488"/>
          </a:xfrm>
          <a:prstGeom prst="rect">
            <a:avLst/>
          </a:prstGeom>
          <a:noFill/>
        </p:spPr>
        <p:txBody>
          <a:bodyPr wrap="square" anchor="ctr" lIns="25400" rIns="25400" tIns="25400" bIns="25400">
            <a:spAutoFit/>
          </a:bodyPr>
          <a:lstStyle/>
          <a:p>
            <a:pPr algn="l">
              <a:lnSpc>
                <a:spcPct val="108000"/>
              </a:lnSpc>
              <a:spcBef>
                <a:spcPts val="0"/>
              </a:spcBef>
              <a:spcAft>
                <a:spcPts val="200"/>
              </a:spcAft>
            </a:pPr>
            <a:r>
              <a:rPr sz="1080" b="0" i="0">
                <a:solidFill>
                  <a:srgbClr val="2D2D2D"/>
                </a:solidFill>
                <a:latin typeface="Calibri"/>
                <a:ea typeface="Microsoft YaHei"/>
              </a:rPr>
              <a:t>PCA 的数学基础，由协方差矩阵分解得到。</a:t>
            </a:r>
          </a:p>
        </p:txBody>
      </p:sp>
      <p:sp>
        <p:nvSpPr>
          <p:cNvPr id="24" name="Oval 23"/>
          <p:cNvSpPr/>
          <p:nvPr/>
        </p:nvSpPr>
        <p:spPr>
          <a:xfrm>
            <a:off x="749808" y="3840479"/>
            <a:ext cx="274320" cy="27432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latin typeface="Calibri"/>
                <a:ea typeface="Microsoft YaHei"/>
              </a:rPr>
              <a:t>5</a:t>
            </a:r>
          </a:p>
        </p:txBody>
      </p:sp>
      <p:sp>
        <p:nvSpPr>
          <p:cNvPr id="25" name="TextBox 24"/>
          <p:cNvSpPr txBox="1"/>
          <p:nvPr/>
        </p:nvSpPr>
        <p:spPr>
          <a:xfrm>
            <a:off x="1188720" y="3822191"/>
            <a:ext cx="3931920" cy="475488"/>
          </a:xfrm>
          <a:prstGeom prst="rect">
            <a:avLst/>
          </a:prstGeom>
          <a:noFill/>
        </p:spPr>
        <p:txBody>
          <a:bodyPr wrap="square" anchor="ctr" lIns="25400" rIns="25400" tIns="25400" bIns="25400">
            <a:spAutoFit/>
          </a:bodyPr>
          <a:lstStyle/>
          <a:p>
            <a:pPr algn="l">
              <a:lnSpc>
                <a:spcPct val="105000"/>
              </a:lnSpc>
              <a:spcBef>
                <a:spcPts val="0"/>
              </a:spcBef>
              <a:spcAft>
                <a:spcPts val="200"/>
              </a:spcAft>
            </a:pPr>
            <a:r>
              <a:rPr sz="1130" b="1" i="0">
                <a:solidFill>
                  <a:srgbClr val="1B2A4A"/>
                </a:solidFill>
                <a:latin typeface="Calibri"/>
                <a:ea typeface="Microsoft YaHei"/>
              </a:rPr>
              <a:t>Score Plot（得分图） / Loading Plot（载荷图）</a:t>
            </a:r>
          </a:p>
        </p:txBody>
      </p:sp>
      <p:sp>
        <p:nvSpPr>
          <p:cNvPr id="26" name="TextBox 25"/>
          <p:cNvSpPr txBox="1"/>
          <p:nvPr/>
        </p:nvSpPr>
        <p:spPr>
          <a:xfrm>
            <a:off x="5166360" y="3822191"/>
            <a:ext cx="6400800" cy="475488"/>
          </a:xfrm>
          <a:prstGeom prst="rect">
            <a:avLst/>
          </a:prstGeom>
          <a:noFill/>
        </p:spPr>
        <p:txBody>
          <a:bodyPr wrap="square" anchor="ctr" lIns="25400" rIns="25400" tIns="25400" bIns="25400">
            <a:spAutoFit/>
          </a:bodyPr>
          <a:lstStyle/>
          <a:p>
            <a:pPr algn="l">
              <a:lnSpc>
                <a:spcPct val="108000"/>
              </a:lnSpc>
              <a:spcBef>
                <a:spcPts val="0"/>
              </a:spcBef>
              <a:spcAft>
                <a:spcPts val="200"/>
              </a:spcAft>
            </a:pPr>
            <a:r>
              <a:rPr sz="1080" b="0" i="0">
                <a:solidFill>
                  <a:srgbClr val="2D2D2D"/>
                </a:solidFill>
                <a:latin typeface="Calibri"/>
                <a:ea typeface="Microsoft YaHei"/>
              </a:rPr>
              <a:t>Score Plot 看样本分成几堆（分组与离群点）；Loading Plot 看哪些波长在起作用；Scree Plot（碎石图）用于选择保留的 PC 数。</a:t>
            </a:r>
          </a:p>
        </p:txBody>
      </p:sp>
      <p:sp>
        <p:nvSpPr>
          <p:cNvPr id="27" name="Oval 26"/>
          <p:cNvSpPr/>
          <p:nvPr/>
        </p:nvSpPr>
        <p:spPr>
          <a:xfrm>
            <a:off x="749808" y="4343399"/>
            <a:ext cx="274320" cy="274320"/>
          </a:xfrm>
          <a:prstGeom prst="ellipse">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latin typeface="Calibri"/>
                <a:ea typeface="Microsoft YaHei"/>
              </a:rPr>
              <a:t>6</a:t>
            </a:r>
          </a:p>
        </p:txBody>
      </p:sp>
      <p:sp>
        <p:nvSpPr>
          <p:cNvPr id="28" name="TextBox 27"/>
          <p:cNvSpPr txBox="1"/>
          <p:nvPr/>
        </p:nvSpPr>
        <p:spPr>
          <a:xfrm>
            <a:off x="1188720" y="4325112"/>
            <a:ext cx="3931920" cy="475488"/>
          </a:xfrm>
          <a:prstGeom prst="rect">
            <a:avLst/>
          </a:prstGeom>
          <a:noFill/>
        </p:spPr>
        <p:txBody>
          <a:bodyPr wrap="square" anchor="ctr" lIns="25400" rIns="25400" tIns="25400" bIns="25400">
            <a:spAutoFit/>
          </a:bodyPr>
          <a:lstStyle/>
          <a:p>
            <a:pPr algn="l">
              <a:lnSpc>
                <a:spcPct val="105000"/>
              </a:lnSpc>
              <a:spcBef>
                <a:spcPts val="0"/>
              </a:spcBef>
              <a:spcAft>
                <a:spcPts val="200"/>
              </a:spcAft>
            </a:pPr>
            <a:r>
              <a:rPr sz="1130" b="1" i="0">
                <a:solidFill>
                  <a:srgbClr val="1B2A4A"/>
                </a:solidFill>
                <a:latin typeface="Calibri"/>
                <a:ea typeface="Microsoft YaHei"/>
              </a:rPr>
              <a:t>【文献出处】Gautam 2015</a:t>
            </a:r>
          </a:p>
        </p:txBody>
      </p:sp>
      <p:sp>
        <p:nvSpPr>
          <p:cNvPr id="29" name="TextBox 28"/>
          <p:cNvSpPr txBox="1"/>
          <p:nvPr/>
        </p:nvSpPr>
        <p:spPr>
          <a:xfrm>
            <a:off x="5166360" y="4325112"/>
            <a:ext cx="6400800" cy="475488"/>
          </a:xfrm>
          <a:prstGeom prst="rect">
            <a:avLst/>
          </a:prstGeom>
          <a:noFill/>
        </p:spPr>
        <p:txBody>
          <a:bodyPr wrap="square" anchor="ctr" lIns="25400" rIns="25400" tIns="25400" bIns="25400">
            <a:spAutoFit/>
          </a:bodyPr>
          <a:lstStyle/>
          <a:p>
            <a:pPr algn="l">
              <a:lnSpc>
                <a:spcPct val="108000"/>
              </a:lnSpc>
              <a:spcBef>
                <a:spcPts val="0"/>
              </a:spcBef>
              <a:spcAft>
                <a:spcPts val="200"/>
              </a:spcAft>
            </a:pPr>
            <a:r>
              <a:rPr sz="1080" b="0" i="0">
                <a:solidFill>
                  <a:srgbClr val="2D2D2D"/>
                </a:solidFill>
                <a:latin typeface="Calibri"/>
                <a:ea typeface="Microsoft YaHei"/>
              </a:rPr>
              <a:t>PCA 原理、协方差矩阵特征分解、Score / Loading plot、碎石图选 PC 数。</a:t>
            </a:r>
          </a:p>
        </p:txBody>
      </p:sp>
      <p:sp>
        <p:nvSpPr>
          <p:cNvPr id="30" name="Rectangle 29"/>
          <p:cNvSpPr/>
          <p:nvPr/>
        </p:nvSpPr>
        <p:spPr>
          <a:xfrm>
            <a:off x="457200" y="5029200"/>
            <a:ext cx="11274552" cy="11887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5029200"/>
            <a:ext cx="109728" cy="118872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5157216"/>
            <a:ext cx="10817352" cy="950976"/>
          </a:xfrm>
          <a:prstGeom prst="rect">
            <a:avLst/>
          </a:prstGeom>
          <a:noFill/>
        </p:spPr>
        <p:txBody>
          <a:bodyPr wrap="square" anchor="t" lIns="25400" rIns="25400" tIns="25400" bIns="25400">
            <a:spAutoFit/>
          </a:bodyPr>
          <a:lstStyle/>
          <a:p>
            <a:pPr algn="l">
              <a:lnSpc>
                <a:spcPct val="114000"/>
              </a:lnSpc>
              <a:spcBef>
                <a:spcPts val="0"/>
              </a:spcBef>
              <a:spcAft>
                <a:spcPts val="300"/>
              </a:spcAft>
            </a:pPr>
            <a:r>
              <a:rPr sz="1050" b="0" i="1">
                <a:solidFill>
                  <a:srgbClr val="404040"/>
                </a:solidFill>
                <a:latin typeface="Calibri"/>
                <a:ea typeface="Microsoft YaHei"/>
              </a:rPr>
              <a:t>“Eigenvectors of the covariance matrix of the data…”  — Fig. 1: “Scatter Plots of score values of different Principal Components (PCs)…” used to inspect groups and outliers.</a:t>
            </a:r>
          </a:p>
          <a:p>
            <a:pPr algn="r">
              <a:lnSpc>
                <a:spcPct val="105000"/>
              </a:lnSpc>
              <a:spcBef>
                <a:spcPts val="200"/>
              </a:spcBef>
              <a:spcAft>
                <a:spcPts val="200"/>
              </a:spcAft>
            </a:pPr>
            <a:r>
              <a:rPr sz="950" b="1" i="0">
                <a:solidFill>
                  <a:srgbClr val="0096C7"/>
                </a:solidFill>
                <a:latin typeface="Calibri"/>
                <a:ea typeface="Microsoft YaHei"/>
              </a:rPr>
              <a:t>— Gautam et al., 2015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PCA vs. MNF  主成分分析 vs. 最小噪声分离</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3 · Step 2 — Dimensionality Reduction</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36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Gautam et al., 2015</a:t>
            </a:r>
          </a:p>
        </p:txBody>
      </p:sp>
      <p:sp>
        <p:nvSpPr>
          <p:cNvPr id="9" name="TextBox 8"/>
          <p:cNvSpPr txBox="1"/>
          <p:nvPr/>
        </p:nvSpPr>
        <p:spPr>
          <a:xfrm>
            <a:off x="457200" y="1325880"/>
            <a:ext cx="11247120" cy="3200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300" b="1" i="0">
                <a:solidFill>
                  <a:srgbClr val="1B2A4A"/>
                </a:solidFill>
                <a:latin typeface="Calibri"/>
                <a:ea typeface="Microsoft YaHei"/>
              </a:rPr>
              <a:t>重点对比两个词：</a:t>
            </a:r>
          </a:p>
        </p:txBody>
      </p:sp>
      <p:sp>
        <p:nvSpPr>
          <p:cNvPr id="10" name="Rectangle 9"/>
          <p:cNvSpPr/>
          <p:nvPr/>
        </p:nvSpPr>
        <p:spPr>
          <a:xfrm>
            <a:off x="457200" y="1737360"/>
            <a:ext cx="5532120" cy="25146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5532120" cy="6400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901952"/>
            <a:ext cx="5120640" cy="228600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000" b="1" i="0">
                <a:solidFill>
                  <a:srgbClr val="1B2A4A"/>
                </a:solidFill>
                <a:latin typeface="Calibri"/>
                <a:ea typeface="Microsoft YaHei"/>
              </a:rPr>
              <a:t>PCA</a:t>
            </a:r>
          </a:p>
          <a:p>
            <a:pPr algn="l">
              <a:lnSpc>
                <a:spcPct val="120000"/>
              </a:lnSpc>
              <a:spcBef>
                <a:spcPts val="400"/>
              </a:spcBef>
              <a:spcAft>
                <a:spcPts val="200"/>
              </a:spcAft>
            </a:pPr>
            <a:r>
              <a:rPr sz="1250" b="0" i="0">
                <a:solidFill>
                  <a:srgbClr val="2D2D2D"/>
                </a:solidFill>
                <a:latin typeface="Calibri"/>
                <a:ea typeface="Microsoft YaHei"/>
              </a:rPr>
              <a:t>按 Variance（方差）大小排序。</a:t>
            </a:r>
          </a:p>
          <a:p>
            <a:pPr algn="l">
              <a:lnSpc>
                <a:spcPct val="120000"/>
              </a:lnSpc>
              <a:spcBef>
                <a:spcPts val="400"/>
              </a:spcBef>
              <a:spcAft>
                <a:spcPts val="200"/>
              </a:spcAft>
            </a:pPr>
            <a:r>
              <a:rPr sz="1150" b="0" i="0">
                <a:solidFill>
                  <a:srgbClr val="2D2D2D"/>
                </a:solidFill>
                <a:latin typeface="Calibri"/>
                <a:ea typeface="Microsoft YaHei"/>
              </a:rPr>
              <a:t>PCA 最大化方差，但不区分信号与噪声——高方差成分也可能只是噪声。</a:t>
            </a:r>
          </a:p>
        </p:txBody>
      </p:sp>
      <p:sp>
        <p:nvSpPr>
          <p:cNvPr id="13" name="Rectangle 12"/>
          <p:cNvSpPr/>
          <p:nvPr/>
        </p:nvSpPr>
        <p:spPr>
          <a:xfrm>
            <a:off x="6199632" y="1737360"/>
            <a:ext cx="5532120" cy="25146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9632" y="1737360"/>
            <a:ext cx="5532120" cy="64008"/>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8232" y="1901952"/>
            <a:ext cx="5120640" cy="228600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600" b="1" i="0">
                <a:solidFill>
                  <a:srgbClr val="F4A25F"/>
                </a:solidFill>
                <a:latin typeface="Calibri"/>
                <a:ea typeface="Microsoft YaHei"/>
              </a:rPr>
              <a:t>MNF（Minimum Noise Fraction，最小噪声分离）</a:t>
            </a:r>
          </a:p>
          <a:p>
            <a:pPr algn="l">
              <a:lnSpc>
                <a:spcPct val="120000"/>
              </a:lnSpc>
              <a:spcBef>
                <a:spcPts val="400"/>
              </a:spcBef>
              <a:spcAft>
                <a:spcPts val="200"/>
              </a:spcAft>
            </a:pPr>
            <a:r>
              <a:rPr sz="1250" b="0" i="0">
                <a:solidFill>
                  <a:srgbClr val="2D2D2D"/>
                </a:solidFill>
                <a:latin typeface="Calibri"/>
                <a:ea typeface="Microsoft YaHei"/>
              </a:rPr>
              <a:t>先把噪声“白化”（noise whitening），再做 PCA，按 Signal-to-Noise Ratio （SNR，信噪比）排序。</a:t>
            </a:r>
          </a:p>
          <a:p>
            <a:pPr algn="l">
              <a:lnSpc>
                <a:spcPct val="120000"/>
              </a:lnSpc>
              <a:spcBef>
                <a:spcPts val="400"/>
              </a:spcBef>
              <a:spcAft>
                <a:spcPts val="200"/>
              </a:spcAft>
            </a:pPr>
            <a:r>
              <a:rPr sz="1150" b="0" i="0">
                <a:solidFill>
                  <a:srgbClr val="2D2D2D"/>
                </a:solidFill>
                <a:latin typeface="Calibri"/>
                <a:ea typeface="Microsoft YaHei"/>
              </a:rPr>
              <a:t>高信噪比成分排在前面，噪声分离能力更强，高光谱里用得更多。</a:t>
            </a:r>
          </a:p>
        </p:txBody>
      </p:sp>
      <p:sp>
        <p:nvSpPr>
          <p:cNvPr id="16" name="Rectangle 15"/>
          <p:cNvSpPr/>
          <p:nvPr/>
        </p:nvSpPr>
        <p:spPr>
          <a:xfrm>
            <a:off x="457200" y="4434840"/>
            <a:ext cx="11274552" cy="9144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590288"/>
            <a:ext cx="10789920" cy="640080"/>
          </a:xfrm>
          <a:prstGeom prst="rect">
            <a:avLst/>
          </a:prstGeom>
          <a:noFill/>
        </p:spPr>
        <p:txBody>
          <a:bodyPr wrap="square" anchor="ctr" lIns="25400" rIns="25400" tIns="25400" bIns="25400">
            <a:spAutoFit/>
          </a:bodyPr>
          <a:lstStyle/>
          <a:p>
            <a:pPr algn="ctr">
              <a:lnSpc>
                <a:spcPct val="105000"/>
              </a:lnSpc>
              <a:spcBef>
                <a:spcPts val="0"/>
              </a:spcBef>
              <a:spcAft>
                <a:spcPts val="200"/>
              </a:spcAft>
            </a:pPr>
            <a:r>
              <a:rPr sz="1400" b="1" i="0">
                <a:solidFill>
                  <a:srgbClr val="FFFFFF"/>
                </a:solidFill>
                <a:latin typeface="Calibri"/>
                <a:ea typeface="Microsoft YaHei"/>
              </a:rPr>
              <a:t>一句话：PCA 看方差大不大，MNF 看信噪比高不高。高光谱里 MNF 用得更多。</a:t>
            </a:r>
          </a:p>
        </p:txBody>
      </p:sp>
      <p:sp>
        <p:nvSpPr>
          <p:cNvPr id="18" name="TextBox 17"/>
          <p:cNvSpPr txBox="1"/>
          <p:nvPr/>
        </p:nvSpPr>
        <p:spPr>
          <a:xfrm>
            <a:off x="457200" y="5532120"/>
            <a:ext cx="11247120" cy="640080"/>
          </a:xfrm>
          <a:prstGeom prst="rect">
            <a:avLst/>
          </a:prstGeom>
          <a:noFill/>
        </p:spPr>
        <p:txBody>
          <a:bodyPr wrap="square" anchor="t" lIns="25400" rIns="25400" tIns="25400" bIns="25400">
            <a:spAutoFit/>
          </a:bodyPr>
          <a:lstStyle/>
          <a:p>
            <a:pPr algn="ctr">
              <a:lnSpc>
                <a:spcPct val="115000"/>
              </a:lnSpc>
              <a:spcBef>
                <a:spcPts val="0"/>
              </a:spcBef>
              <a:spcAft>
                <a:spcPts val="200"/>
              </a:spcAft>
            </a:pPr>
            <a:r>
              <a:rPr sz="1100" b="1" i="0">
                <a:solidFill>
                  <a:srgbClr val="F4A25F"/>
                </a:solidFill>
                <a:latin typeface="Calibri"/>
                <a:ea typeface="Microsoft YaHei"/>
              </a:rPr>
              <a:t>【文献出处】Gautam 2015：PCA 按方差排序的局限；MNF 按 SNR 排序与噪声分离能力。</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Figures from the Literature · Preprocessed Spectra &amp; PCA Scores</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3 · Preprocessing &amp; Dimensionality Reduction</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37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Gautam et al., 2015</a:t>
            </a:r>
          </a:p>
        </p:txBody>
      </p:sp>
      <p:sp>
        <p:nvSpPr>
          <p:cNvPr id="9" name="Rectangle 8"/>
          <p:cNvSpPr/>
          <p:nvPr/>
        </p:nvSpPr>
        <p:spPr>
          <a:xfrm>
            <a:off x="457200" y="1325880"/>
            <a:ext cx="5212080" cy="452628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_raman_preproc.png"/>
          <p:cNvPicPr>
            <a:picLocks noChangeAspect="1"/>
          </p:cNvPicPr>
          <p:nvPr/>
        </p:nvPicPr>
        <p:blipFill>
          <a:blip r:embed="rId2"/>
          <a:stretch>
            <a:fillRect/>
          </a:stretch>
        </p:blipFill>
        <p:spPr>
          <a:xfrm>
            <a:off x="868823" y="1417320"/>
            <a:ext cx="4388833" cy="4343400"/>
          </a:xfrm>
          <a:prstGeom prst="rect">
            <a:avLst/>
          </a:prstGeom>
        </p:spPr>
      </p:pic>
      <p:sp>
        <p:nvSpPr>
          <p:cNvPr id="11" name="TextBox 10"/>
          <p:cNvSpPr txBox="1"/>
          <p:nvPr/>
        </p:nvSpPr>
        <p:spPr>
          <a:xfrm>
            <a:off x="457200" y="5870448"/>
            <a:ext cx="5212080" cy="777240"/>
          </a:xfrm>
          <a:prstGeom prst="rect">
            <a:avLst/>
          </a:prstGeom>
          <a:noFill/>
        </p:spPr>
        <p:txBody>
          <a:bodyPr wrap="square" anchor="t" lIns="25400" rIns="25400" tIns="25400" bIns="25400">
            <a:spAutoFit/>
          </a:bodyPr>
          <a:lstStyle/>
          <a:p>
            <a:pPr algn="ctr">
              <a:lnSpc>
                <a:spcPct val="108000"/>
              </a:lnSpc>
              <a:spcBef>
                <a:spcPts val="0"/>
              </a:spcBef>
              <a:spcAft>
                <a:spcPts val="200"/>
              </a:spcAft>
            </a:pPr>
            <a:r>
              <a:rPr sz="930" b="0" i="1">
                <a:solidFill>
                  <a:srgbClr val="5A5A5A"/>
                </a:solidFill>
                <a:latin typeface="Calibri"/>
                <a:ea typeface="Microsoft YaHei"/>
              </a:rPr>
              <a:t>Fig. 4. Raw (top) and preprocessed (bottom) Raman spectra of muscle tissue (control CS flies, 2 days old); shaded band = ±1 SD around the mean. Preprocessing enhances the diagnostic Raman features. (Gautam et al., 2015)</a:t>
            </a:r>
          </a:p>
        </p:txBody>
      </p:sp>
      <p:sp>
        <p:nvSpPr>
          <p:cNvPr id="12" name="Rectangle 11"/>
          <p:cNvSpPr/>
          <p:nvPr/>
        </p:nvSpPr>
        <p:spPr>
          <a:xfrm>
            <a:off x="5897880" y="1325880"/>
            <a:ext cx="5833872" cy="388620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fig_pca_scores.png"/>
          <p:cNvPicPr>
            <a:picLocks noChangeAspect="1"/>
          </p:cNvPicPr>
          <p:nvPr/>
        </p:nvPicPr>
        <p:blipFill>
          <a:blip r:embed="rId3"/>
          <a:stretch>
            <a:fillRect/>
          </a:stretch>
        </p:blipFill>
        <p:spPr>
          <a:xfrm>
            <a:off x="5989320" y="1590062"/>
            <a:ext cx="5650992" cy="3357835"/>
          </a:xfrm>
          <a:prstGeom prst="rect">
            <a:avLst/>
          </a:prstGeom>
        </p:spPr>
      </p:pic>
      <p:sp>
        <p:nvSpPr>
          <p:cNvPr id="14" name="TextBox 13"/>
          <p:cNvSpPr txBox="1"/>
          <p:nvPr/>
        </p:nvSpPr>
        <p:spPr>
          <a:xfrm>
            <a:off x="5897880" y="5230368"/>
            <a:ext cx="5833872" cy="777240"/>
          </a:xfrm>
          <a:prstGeom prst="rect">
            <a:avLst/>
          </a:prstGeom>
          <a:noFill/>
        </p:spPr>
        <p:txBody>
          <a:bodyPr wrap="square" anchor="t" lIns="25400" rIns="25400" tIns="25400" bIns="25400">
            <a:spAutoFit/>
          </a:bodyPr>
          <a:lstStyle/>
          <a:p>
            <a:pPr algn="ctr">
              <a:lnSpc>
                <a:spcPct val="108000"/>
              </a:lnSpc>
              <a:spcBef>
                <a:spcPts val="0"/>
              </a:spcBef>
              <a:spcAft>
                <a:spcPts val="200"/>
              </a:spcAft>
            </a:pPr>
            <a:r>
              <a:rPr sz="930" b="0" i="1">
                <a:solidFill>
                  <a:srgbClr val="5A5A5A"/>
                </a:solidFill>
                <a:latin typeface="Calibri"/>
                <a:ea typeface="Microsoft YaHei"/>
              </a:rPr>
              <a:t>Fig. 5. PC-LDA 3-D score plots of 2- and 12-day-old flies: upshed mutants (blue / magenta) separate well from control CS (black), whereas the two control age groups almost merge. (Gautam et al., 2015)</a:t>
            </a:r>
          </a:p>
        </p:txBody>
      </p:sp>
      <p:sp>
        <p:nvSpPr>
          <p:cNvPr id="15" name="Rectangle 14"/>
          <p:cNvSpPr/>
          <p:nvPr/>
        </p:nvSpPr>
        <p:spPr>
          <a:xfrm>
            <a:off x="5897880" y="5897880"/>
            <a:ext cx="5833872" cy="384048"/>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35040" y="5934456"/>
            <a:ext cx="5577840" cy="320040"/>
          </a:xfrm>
          <a:prstGeom prst="rect">
            <a:avLst/>
          </a:prstGeom>
          <a:noFill/>
        </p:spPr>
        <p:txBody>
          <a:bodyPr wrap="square" anchor="ctr" lIns="25400" rIns="25400" tIns="25400" bIns="25400">
            <a:spAutoFit/>
          </a:bodyPr>
          <a:lstStyle/>
          <a:p>
            <a:pPr algn="ctr">
              <a:lnSpc>
                <a:spcPct val="105000"/>
              </a:lnSpc>
              <a:spcBef>
                <a:spcPts val="0"/>
              </a:spcBef>
              <a:spcAft>
                <a:spcPts val="200"/>
              </a:spcAft>
            </a:pPr>
            <a:r>
              <a:rPr sz="1000" b="1" i="0">
                <a:solidFill>
                  <a:srgbClr val="1B2A4A"/>
                </a:solidFill>
                <a:latin typeface="Calibri"/>
                <a:ea typeface="Microsoft YaHei"/>
              </a:rPr>
              <a:t>Score plots visualise class separation — the goal of dimensionality reduction before classification.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Classification · Spectral Angle Mapper  分类：光谱角度匹配</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3 · Step 3 — Classification &amp; Recognition</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38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Roussel et al., 2017</a:t>
            </a:r>
          </a:p>
        </p:txBody>
      </p:sp>
      <p:sp>
        <p:nvSpPr>
          <p:cNvPr id="9" name="Rectangle 8"/>
          <p:cNvSpPr/>
          <p:nvPr/>
        </p:nvSpPr>
        <p:spPr>
          <a:xfrm>
            <a:off x="457200" y="1417320"/>
            <a:ext cx="5532120" cy="1645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417320"/>
            <a:ext cx="109728" cy="16459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545336"/>
            <a:ext cx="512064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1B2A4A"/>
                </a:solidFill>
                <a:latin typeface="Calibri"/>
                <a:ea typeface="Microsoft YaHei"/>
              </a:rPr>
              <a:t>SAM（Spectral Angle Mapper，光谱角度匹配）</a:t>
            </a:r>
          </a:p>
        </p:txBody>
      </p:sp>
      <p:sp>
        <p:nvSpPr>
          <p:cNvPr id="12" name="TextBox 11"/>
          <p:cNvSpPr txBox="1"/>
          <p:nvPr/>
        </p:nvSpPr>
        <p:spPr>
          <a:xfrm>
            <a:off x="713232" y="1965960"/>
            <a:ext cx="5120640" cy="1005840"/>
          </a:xfrm>
          <a:prstGeom prst="rect">
            <a:avLst/>
          </a:prstGeom>
          <a:noFill/>
        </p:spPr>
        <p:txBody>
          <a:bodyPr wrap="square" anchor="t" lIns="25400" rIns="25400" tIns="25400" bIns="25400">
            <a:spAutoFit/>
          </a:bodyPr>
          <a:lstStyle/>
          <a:p>
            <a:pPr algn="l">
              <a:lnSpc>
                <a:spcPct val="116000"/>
              </a:lnSpc>
              <a:spcBef>
                <a:spcPts val="0"/>
              </a:spcBef>
              <a:spcAft>
                <a:spcPts val="200"/>
              </a:spcAft>
            </a:pPr>
            <a:r>
              <a:rPr sz="1100" b="0" i="0">
                <a:solidFill>
                  <a:srgbClr val="2D2D2D"/>
                </a:solidFill>
                <a:latin typeface="Calibri"/>
                <a:ea typeface="Microsoft YaHei"/>
              </a:rPr>
              <a:t>把每条光谱看成一条向量，比较两条向量的夹角；夹角越小越像。</a:t>
            </a:r>
          </a:p>
        </p:txBody>
      </p:sp>
      <p:sp>
        <p:nvSpPr>
          <p:cNvPr id="13" name="Rectangle 12"/>
          <p:cNvSpPr/>
          <p:nvPr/>
        </p:nvSpPr>
        <p:spPr>
          <a:xfrm>
            <a:off x="6199632" y="1417320"/>
            <a:ext cx="5532120" cy="1645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9632" y="1417320"/>
            <a:ext cx="109728" cy="164592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1545336"/>
            <a:ext cx="512064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0096C7"/>
                </a:solidFill>
                <a:latin typeface="Calibri"/>
                <a:ea typeface="Microsoft YaHei"/>
              </a:rPr>
              <a:t>关键：只看形状，不看亮度</a:t>
            </a:r>
          </a:p>
        </p:txBody>
      </p:sp>
      <p:sp>
        <p:nvSpPr>
          <p:cNvPr id="16" name="TextBox 15"/>
          <p:cNvSpPr txBox="1"/>
          <p:nvPr/>
        </p:nvSpPr>
        <p:spPr>
          <a:xfrm>
            <a:off x="6455664" y="1965960"/>
            <a:ext cx="5120640" cy="1005840"/>
          </a:xfrm>
          <a:prstGeom prst="rect">
            <a:avLst/>
          </a:prstGeom>
          <a:noFill/>
        </p:spPr>
        <p:txBody>
          <a:bodyPr wrap="square" anchor="t" lIns="25400" rIns="25400" tIns="25400" bIns="25400">
            <a:spAutoFit/>
          </a:bodyPr>
          <a:lstStyle/>
          <a:p>
            <a:pPr algn="l">
              <a:lnSpc>
                <a:spcPct val="116000"/>
              </a:lnSpc>
              <a:spcBef>
                <a:spcPts val="0"/>
              </a:spcBef>
              <a:spcAft>
                <a:spcPts val="200"/>
              </a:spcAft>
            </a:pPr>
            <a:r>
              <a:rPr sz="1100" b="0" i="0">
                <a:solidFill>
                  <a:srgbClr val="2D2D2D"/>
                </a:solidFill>
                <a:latin typeface="Calibri"/>
                <a:ea typeface="Microsoft YaHei"/>
              </a:rPr>
              <a:t>阴影像素虽然整体变暗，但光谱形状没变，照样能和光照下的同类对上号。</a:t>
            </a:r>
          </a:p>
        </p:txBody>
      </p:sp>
      <p:sp>
        <p:nvSpPr>
          <p:cNvPr id="17" name="Rectangle 16"/>
          <p:cNvSpPr/>
          <p:nvPr/>
        </p:nvSpPr>
        <p:spPr>
          <a:xfrm>
            <a:off x="457200" y="3246120"/>
            <a:ext cx="5532120" cy="1645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3246120"/>
            <a:ext cx="109728" cy="1645920"/>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3374136"/>
            <a:ext cx="512064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F4A25F"/>
                </a:solidFill>
                <a:latin typeface="Calibri"/>
                <a:ea typeface="Microsoft YaHei"/>
              </a:rPr>
              <a:t>Sun-Shadow Strategy（光照-阴影分步策略）</a:t>
            </a:r>
          </a:p>
        </p:txBody>
      </p:sp>
      <p:sp>
        <p:nvSpPr>
          <p:cNvPr id="20" name="TextBox 19"/>
          <p:cNvSpPr txBox="1"/>
          <p:nvPr/>
        </p:nvSpPr>
        <p:spPr>
          <a:xfrm>
            <a:off x="713232" y="3794759"/>
            <a:ext cx="5120640" cy="1005840"/>
          </a:xfrm>
          <a:prstGeom prst="rect">
            <a:avLst/>
          </a:prstGeom>
          <a:noFill/>
        </p:spPr>
        <p:txBody>
          <a:bodyPr wrap="square" anchor="t" lIns="25400" rIns="25400" tIns="25400" bIns="25400">
            <a:spAutoFit/>
          </a:bodyPr>
          <a:lstStyle/>
          <a:p>
            <a:pPr algn="l">
              <a:lnSpc>
                <a:spcPct val="116000"/>
              </a:lnSpc>
              <a:spcBef>
                <a:spcPts val="0"/>
              </a:spcBef>
              <a:spcAft>
                <a:spcPts val="200"/>
              </a:spcAft>
            </a:pPr>
            <a:r>
              <a:rPr sz="1100" b="0" i="0">
                <a:solidFill>
                  <a:srgbClr val="2D2D2D"/>
                </a:solidFill>
                <a:latin typeface="Calibri"/>
                <a:ea typeface="Microsoft YaHei"/>
              </a:rPr>
              <a:t>先用光照像元（Sunlit Ground Truth, SGT）做分类（K-Means / SVM，SS-KM / SS-SVM），再用 SAM 去认阴影像元。</a:t>
            </a:r>
          </a:p>
        </p:txBody>
      </p:sp>
      <p:sp>
        <p:nvSpPr>
          <p:cNvPr id="21" name="Rectangle 20"/>
          <p:cNvSpPr/>
          <p:nvPr/>
        </p:nvSpPr>
        <p:spPr>
          <a:xfrm>
            <a:off x="6199632" y="3246120"/>
            <a:ext cx="5532120" cy="1645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99632" y="3246120"/>
            <a:ext cx="109728" cy="1645920"/>
          </a:xfrm>
          <a:prstGeom prst="rect">
            <a:avLst/>
          </a:prstGeom>
          <a:solidFill>
            <a:srgbClr val="C05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5664" y="3374136"/>
            <a:ext cx="512064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C05050"/>
                </a:solidFill>
                <a:latin typeface="Calibri"/>
                <a:ea typeface="Microsoft YaHei"/>
              </a:rPr>
              <a:t>【文献出处】Roussel 2017</a:t>
            </a:r>
          </a:p>
        </p:txBody>
      </p:sp>
      <p:sp>
        <p:nvSpPr>
          <p:cNvPr id="24" name="TextBox 23"/>
          <p:cNvSpPr txBox="1"/>
          <p:nvPr/>
        </p:nvSpPr>
        <p:spPr>
          <a:xfrm>
            <a:off x="6455664" y="3794759"/>
            <a:ext cx="5120640" cy="1005840"/>
          </a:xfrm>
          <a:prstGeom prst="rect">
            <a:avLst/>
          </a:prstGeom>
          <a:noFill/>
        </p:spPr>
        <p:txBody>
          <a:bodyPr wrap="square" anchor="t" lIns="25400" rIns="25400" tIns="25400" bIns="25400">
            <a:spAutoFit/>
          </a:bodyPr>
          <a:lstStyle/>
          <a:p>
            <a:pPr algn="l">
              <a:lnSpc>
                <a:spcPct val="116000"/>
              </a:lnSpc>
              <a:spcBef>
                <a:spcPts val="0"/>
              </a:spcBef>
              <a:spcAft>
                <a:spcPts val="200"/>
              </a:spcAft>
            </a:pPr>
            <a:r>
              <a:rPr sz="1100" b="0" i="0">
                <a:solidFill>
                  <a:srgbClr val="2D2D2D"/>
                </a:solidFill>
                <a:latin typeface="Calibri"/>
                <a:ea typeface="Microsoft YaHei"/>
              </a:rPr>
              <a:t>光照-阴影分步策略、用 SAM 匹配阴影像元、训练集只有光照像元（SGT）的真实城市场景。</a:t>
            </a:r>
          </a:p>
        </p:txBody>
      </p:sp>
      <p:sp>
        <p:nvSpPr>
          <p:cNvPr id="25" name="Rectangle 24"/>
          <p:cNvSpPr/>
          <p:nvPr/>
        </p:nvSpPr>
        <p:spPr>
          <a:xfrm>
            <a:off x="457200" y="5212080"/>
            <a:ext cx="11274552" cy="10058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5212080"/>
            <a:ext cx="109728" cy="100584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3232" y="5340096"/>
            <a:ext cx="10817352" cy="768096"/>
          </a:xfrm>
          <a:prstGeom prst="rect">
            <a:avLst/>
          </a:prstGeom>
          <a:noFill/>
        </p:spPr>
        <p:txBody>
          <a:bodyPr wrap="square" anchor="t" lIns="25400" rIns="25400" tIns="25400" bIns="25400">
            <a:spAutoFit/>
          </a:bodyPr>
          <a:lstStyle/>
          <a:p>
            <a:pPr algn="l">
              <a:lnSpc>
                <a:spcPct val="114000"/>
              </a:lnSpc>
              <a:spcBef>
                <a:spcPts val="0"/>
              </a:spcBef>
              <a:spcAft>
                <a:spcPts val="300"/>
              </a:spcAft>
            </a:pPr>
            <a:r>
              <a:rPr sz="1050" b="0" i="1">
                <a:solidFill>
                  <a:srgbClr val="404040"/>
                </a:solidFill>
                <a:latin typeface="Calibri"/>
                <a:ea typeface="Microsoft YaHei"/>
              </a:rPr>
              <a:t>“…a Spectral Angle Mapper (SAM) classification has been chosen for its ability to focus on the shape of spectra, which remains globally similar for a pair of pixels associated to the same material, even if one is located in a sunlit area and the other in a shadow area.”</a:t>
            </a:r>
          </a:p>
          <a:p>
            <a:pPr algn="r">
              <a:lnSpc>
                <a:spcPct val="105000"/>
              </a:lnSpc>
              <a:spcBef>
                <a:spcPts val="200"/>
              </a:spcBef>
              <a:spcAft>
                <a:spcPts val="200"/>
              </a:spcAft>
            </a:pPr>
            <a:r>
              <a:rPr sz="950" b="1" i="0">
                <a:solidFill>
                  <a:srgbClr val="0096C7"/>
                </a:solidFill>
                <a:latin typeface="Calibri"/>
                <a:ea typeface="Microsoft YaHei"/>
              </a:rPr>
              <a:t>— Roussel et al., 2017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Validation of Spectral Models  模型验证</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3 · Step 3 — Validation</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39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Gautam et al., 2015</a:t>
            </a:r>
          </a:p>
        </p:txBody>
      </p:sp>
      <p:sp>
        <p:nvSpPr>
          <p:cNvPr id="9" name="Rectangle 8"/>
          <p:cNvSpPr/>
          <p:nvPr/>
        </p:nvSpPr>
        <p:spPr>
          <a:xfrm>
            <a:off x="457200" y="1417320"/>
            <a:ext cx="5532120" cy="20574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417320"/>
            <a:ext cx="5532120" cy="6400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581912"/>
            <a:ext cx="512064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300" b="1" i="0">
                <a:solidFill>
                  <a:srgbClr val="1B2A4A"/>
                </a:solidFill>
                <a:latin typeface="Calibri"/>
                <a:ea typeface="Microsoft YaHei"/>
              </a:rPr>
              <a:t>Cross-Validation（交叉验证）</a:t>
            </a:r>
          </a:p>
        </p:txBody>
      </p:sp>
      <p:sp>
        <p:nvSpPr>
          <p:cNvPr id="12" name="TextBox 11"/>
          <p:cNvSpPr txBox="1"/>
          <p:nvPr/>
        </p:nvSpPr>
        <p:spPr>
          <a:xfrm>
            <a:off x="658368" y="2011680"/>
            <a:ext cx="5120640" cy="1371600"/>
          </a:xfrm>
          <a:prstGeom prst="rect">
            <a:avLst/>
          </a:prstGeom>
          <a:noFill/>
        </p:spPr>
        <p:txBody>
          <a:bodyPr wrap="square" anchor="t" lIns="25400" rIns="25400" tIns="25400" bIns="25400">
            <a:spAutoFit/>
          </a:bodyPr>
          <a:lstStyle/>
          <a:p>
            <a:pPr algn="l">
              <a:lnSpc>
                <a:spcPct val="122000"/>
              </a:lnSpc>
              <a:spcBef>
                <a:spcPts val="0"/>
              </a:spcBef>
              <a:spcAft>
                <a:spcPts val="200"/>
              </a:spcAft>
            </a:pPr>
            <a:r>
              <a:rPr sz="1130" b="0" i="0">
                <a:solidFill>
                  <a:srgbClr val="2D2D2D"/>
                </a:solidFill>
                <a:latin typeface="Calibri"/>
                <a:ea typeface="Microsoft YaHei"/>
              </a:rPr>
              <a:t>常用 K-fold（K 折交叉验证）轮换训练 / 验证子集，检验模型的泛化能力。</a:t>
            </a:r>
          </a:p>
        </p:txBody>
      </p:sp>
      <p:sp>
        <p:nvSpPr>
          <p:cNvPr id="13" name="Rectangle 12"/>
          <p:cNvSpPr/>
          <p:nvPr/>
        </p:nvSpPr>
        <p:spPr>
          <a:xfrm>
            <a:off x="6199632" y="1417320"/>
            <a:ext cx="5532120" cy="20574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9632" y="1417320"/>
            <a:ext cx="5532120" cy="6400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581912"/>
            <a:ext cx="512064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300" b="1" i="0">
                <a:solidFill>
                  <a:srgbClr val="0096C7"/>
                </a:solidFill>
                <a:latin typeface="Calibri"/>
                <a:ea typeface="Microsoft YaHei"/>
              </a:rPr>
              <a:t>Confusion Matrix（混淆矩阵）</a:t>
            </a:r>
          </a:p>
        </p:txBody>
      </p:sp>
      <p:sp>
        <p:nvSpPr>
          <p:cNvPr id="16" name="TextBox 15"/>
          <p:cNvSpPr txBox="1"/>
          <p:nvPr/>
        </p:nvSpPr>
        <p:spPr>
          <a:xfrm>
            <a:off x="6400800" y="2011680"/>
            <a:ext cx="5120640" cy="1371600"/>
          </a:xfrm>
          <a:prstGeom prst="rect">
            <a:avLst/>
          </a:prstGeom>
          <a:noFill/>
        </p:spPr>
        <p:txBody>
          <a:bodyPr wrap="square" anchor="t" lIns="25400" rIns="25400" tIns="25400" bIns="25400">
            <a:spAutoFit/>
          </a:bodyPr>
          <a:lstStyle/>
          <a:p>
            <a:pPr algn="l">
              <a:lnSpc>
                <a:spcPct val="122000"/>
              </a:lnSpc>
              <a:spcBef>
                <a:spcPts val="0"/>
              </a:spcBef>
              <a:spcAft>
                <a:spcPts val="200"/>
              </a:spcAft>
            </a:pPr>
            <a:r>
              <a:rPr sz="1130" b="0" i="0">
                <a:solidFill>
                  <a:srgbClr val="2D2D2D"/>
                </a:solidFill>
                <a:latin typeface="Calibri"/>
                <a:ea typeface="Microsoft YaHei"/>
              </a:rPr>
              <a:t>TP 真阳性、TN 真阴性、FP 假阳性、FN 假阴性；由此算出 Sensitivity（灵敏度）、Specificity（特异度）和 Overall Accuracy（总精度）。</a:t>
            </a:r>
          </a:p>
        </p:txBody>
      </p:sp>
      <p:sp>
        <p:nvSpPr>
          <p:cNvPr id="17" name="Rectangle 16"/>
          <p:cNvSpPr/>
          <p:nvPr/>
        </p:nvSpPr>
        <p:spPr>
          <a:xfrm>
            <a:off x="457200" y="3657600"/>
            <a:ext cx="5532120" cy="20574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3657600"/>
            <a:ext cx="5532120" cy="64008"/>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3822191"/>
            <a:ext cx="512064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300" b="1" i="0">
                <a:solidFill>
                  <a:srgbClr val="F4A25F"/>
                </a:solidFill>
                <a:latin typeface="Calibri"/>
                <a:ea typeface="Microsoft YaHei"/>
              </a:rPr>
              <a:t>ROC Curve &amp; AUC</a:t>
            </a:r>
          </a:p>
        </p:txBody>
      </p:sp>
      <p:sp>
        <p:nvSpPr>
          <p:cNvPr id="20" name="TextBox 19"/>
          <p:cNvSpPr txBox="1"/>
          <p:nvPr/>
        </p:nvSpPr>
        <p:spPr>
          <a:xfrm>
            <a:off x="658368" y="4251960"/>
            <a:ext cx="5120640" cy="1371600"/>
          </a:xfrm>
          <a:prstGeom prst="rect">
            <a:avLst/>
          </a:prstGeom>
          <a:noFill/>
        </p:spPr>
        <p:txBody>
          <a:bodyPr wrap="square" anchor="t" lIns="25400" rIns="25400" tIns="25400" bIns="25400">
            <a:spAutoFit/>
          </a:bodyPr>
          <a:lstStyle/>
          <a:p>
            <a:pPr algn="l">
              <a:lnSpc>
                <a:spcPct val="122000"/>
              </a:lnSpc>
              <a:spcBef>
                <a:spcPts val="0"/>
              </a:spcBef>
              <a:spcAft>
                <a:spcPts val="200"/>
              </a:spcAft>
            </a:pPr>
            <a:r>
              <a:rPr sz="1130" b="0" i="0">
                <a:solidFill>
                  <a:srgbClr val="2D2D2D"/>
                </a:solidFill>
                <a:latin typeface="Calibri"/>
                <a:ea typeface="Microsoft YaHei"/>
              </a:rPr>
              <a:t>ROC 曲线与曲线下面积 AUC，用于评价不同阈值下的分类性能。</a:t>
            </a:r>
          </a:p>
        </p:txBody>
      </p:sp>
      <p:sp>
        <p:nvSpPr>
          <p:cNvPr id="21" name="Rectangle 20"/>
          <p:cNvSpPr/>
          <p:nvPr/>
        </p:nvSpPr>
        <p:spPr>
          <a:xfrm>
            <a:off x="6199632" y="3657600"/>
            <a:ext cx="5532120" cy="20574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99632" y="3657600"/>
            <a:ext cx="5532120" cy="64008"/>
          </a:xfrm>
          <a:prstGeom prst="rect">
            <a:avLst/>
          </a:prstGeom>
          <a:solidFill>
            <a:srgbClr val="C05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3822191"/>
            <a:ext cx="512064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300" b="1" i="0">
                <a:solidFill>
                  <a:srgbClr val="C05050"/>
                </a:solidFill>
                <a:latin typeface="Calibri"/>
                <a:ea typeface="Microsoft YaHei"/>
              </a:rPr>
              <a:t>Overfitting &amp; Negative Controls</a:t>
            </a:r>
          </a:p>
        </p:txBody>
      </p:sp>
      <p:sp>
        <p:nvSpPr>
          <p:cNvPr id="24" name="TextBox 23"/>
          <p:cNvSpPr txBox="1"/>
          <p:nvPr/>
        </p:nvSpPr>
        <p:spPr>
          <a:xfrm>
            <a:off x="6400800" y="4251960"/>
            <a:ext cx="5120640" cy="1371600"/>
          </a:xfrm>
          <a:prstGeom prst="rect">
            <a:avLst/>
          </a:prstGeom>
          <a:noFill/>
        </p:spPr>
        <p:txBody>
          <a:bodyPr wrap="square" anchor="t" lIns="25400" rIns="25400" tIns="25400" bIns="25400">
            <a:spAutoFit/>
          </a:bodyPr>
          <a:lstStyle/>
          <a:p>
            <a:pPr algn="l">
              <a:lnSpc>
                <a:spcPct val="122000"/>
              </a:lnSpc>
              <a:spcBef>
                <a:spcPts val="0"/>
              </a:spcBef>
              <a:spcAft>
                <a:spcPts val="200"/>
              </a:spcAft>
            </a:pPr>
            <a:r>
              <a:rPr sz="1130" b="0" i="0">
                <a:solidFill>
                  <a:srgbClr val="2D2D2D"/>
                </a:solidFill>
                <a:latin typeface="Calibri"/>
                <a:ea typeface="Microsoft YaHei"/>
              </a:rPr>
              <a:t>警惕 Overfitting（过拟合）；用阴性对照（negative controls）防止伪相关。</a:t>
            </a:r>
          </a:p>
        </p:txBody>
      </p:sp>
      <p:sp>
        <p:nvSpPr>
          <p:cNvPr id="25" name="TextBox 24"/>
          <p:cNvSpPr txBox="1"/>
          <p:nvPr/>
        </p:nvSpPr>
        <p:spPr>
          <a:xfrm>
            <a:off x="457200" y="5989320"/>
            <a:ext cx="11247120" cy="32004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1050" b="1" i="0">
                <a:solidFill>
                  <a:srgbClr val="F4A25F"/>
                </a:solidFill>
                <a:latin typeface="Calibri"/>
                <a:ea typeface="Microsoft YaHei"/>
              </a:rPr>
              <a:t>【文献出处】Gautam 2015：交叉验证、混淆矩阵、灵敏度 / 特异度、ROC-AUC、阴性对照防止伪相关。</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Figures from the Literature · Classification Maps &amp; ROC Validation</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3 · Classification &amp; Validation</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40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Roussel et al., 2017 · Gautam et al., 2015</a:t>
            </a:r>
          </a:p>
        </p:txBody>
      </p:sp>
      <p:sp>
        <p:nvSpPr>
          <p:cNvPr id="9" name="Rectangle 8"/>
          <p:cNvSpPr/>
          <p:nvPr/>
        </p:nvSpPr>
        <p:spPr>
          <a:xfrm>
            <a:off x="457200" y="1280160"/>
            <a:ext cx="4023360" cy="461772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_roussel_classif.png"/>
          <p:cNvPicPr>
            <a:picLocks noChangeAspect="1"/>
          </p:cNvPicPr>
          <p:nvPr/>
        </p:nvPicPr>
        <p:blipFill>
          <a:blip r:embed="rId2"/>
          <a:stretch>
            <a:fillRect/>
          </a:stretch>
        </p:blipFill>
        <p:spPr>
          <a:xfrm>
            <a:off x="1031021" y="1371600"/>
            <a:ext cx="2875716" cy="4434840"/>
          </a:xfrm>
          <a:prstGeom prst="rect">
            <a:avLst/>
          </a:prstGeom>
        </p:spPr>
      </p:pic>
      <p:sp>
        <p:nvSpPr>
          <p:cNvPr id="11" name="TextBox 10"/>
          <p:cNvSpPr txBox="1"/>
          <p:nvPr/>
        </p:nvSpPr>
        <p:spPr>
          <a:xfrm>
            <a:off x="457200" y="5925312"/>
            <a:ext cx="4023360" cy="777240"/>
          </a:xfrm>
          <a:prstGeom prst="rect">
            <a:avLst/>
          </a:prstGeom>
          <a:noFill/>
        </p:spPr>
        <p:txBody>
          <a:bodyPr wrap="square" anchor="t" lIns="25400" rIns="25400" tIns="25400" bIns="25400">
            <a:spAutoFit/>
          </a:bodyPr>
          <a:lstStyle/>
          <a:p>
            <a:pPr algn="ctr">
              <a:lnSpc>
                <a:spcPct val="108000"/>
              </a:lnSpc>
              <a:spcBef>
                <a:spcPts val="0"/>
              </a:spcBef>
              <a:spcAft>
                <a:spcPts val="200"/>
              </a:spcAft>
            </a:pPr>
            <a:r>
              <a:rPr sz="930" b="0" i="1">
                <a:solidFill>
                  <a:srgbClr val="5A5A5A"/>
                </a:solidFill>
                <a:latin typeface="Calibri"/>
                <a:ea typeface="Microsoft YaHei"/>
              </a:rPr>
              <a:t>Figure 8. Classification results over four urban study areas for eight processing chains (CM/EM × KM, SS-KM, SVM, SS-SVM). (Roussel et al., 2017)</a:t>
            </a:r>
          </a:p>
        </p:txBody>
      </p:sp>
      <p:sp>
        <p:nvSpPr>
          <p:cNvPr id="12" name="Rectangle 11"/>
          <p:cNvSpPr/>
          <p:nvPr/>
        </p:nvSpPr>
        <p:spPr>
          <a:xfrm>
            <a:off x="4709160" y="1325880"/>
            <a:ext cx="4114800" cy="26517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fig_roc.png"/>
          <p:cNvPicPr>
            <a:picLocks noChangeAspect="1"/>
          </p:cNvPicPr>
          <p:nvPr/>
        </p:nvPicPr>
        <p:blipFill>
          <a:blip r:embed="rId3"/>
          <a:stretch>
            <a:fillRect/>
          </a:stretch>
        </p:blipFill>
        <p:spPr>
          <a:xfrm>
            <a:off x="4943846" y="1417320"/>
            <a:ext cx="3645426" cy="2468879"/>
          </a:xfrm>
          <a:prstGeom prst="rect">
            <a:avLst/>
          </a:prstGeom>
        </p:spPr>
      </p:pic>
      <p:sp>
        <p:nvSpPr>
          <p:cNvPr id="14" name="TextBox 13"/>
          <p:cNvSpPr txBox="1"/>
          <p:nvPr/>
        </p:nvSpPr>
        <p:spPr>
          <a:xfrm>
            <a:off x="4709160" y="3995928"/>
            <a:ext cx="7040880" cy="777240"/>
          </a:xfrm>
          <a:prstGeom prst="rect">
            <a:avLst/>
          </a:prstGeom>
          <a:noFill/>
        </p:spPr>
        <p:txBody>
          <a:bodyPr wrap="square" anchor="t" lIns="25400" rIns="25400" tIns="25400" bIns="25400">
            <a:spAutoFit/>
          </a:bodyPr>
          <a:lstStyle/>
          <a:p>
            <a:pPr algn="ctr">
              <a:lnSpc>
                <a:spcPct val="108000"/>
              </a:lnSpc>
              <a:spcBef>
                <a:spcPts val="0"/>
              </a:spcBef>
              <a:spcAft>
                <a:spcPts val="200"/>
              </a:spcAft>
            </a:pPr>
            <a:r>
              <a:rPr sz="930" b="0" i="1">
                <a:solidFill>
                  <a:srgbClr val="5A5A5A"/>
                </a:solidFill>
                <a:latin typeface="Calibri"/>
                <a:ea typeface="Microsoft YaHei"/>
              </a:rPr>
              <a:t>Fig. 9. Receiver-operating-characteristic (ROC) plot: ideal and moderate models vs. the line of no discrimination. (Gautam et al., 2015)</a:t>
            </a:r>
          </a:p>
        </p:txBody>
      </p:sp>
      <p:sp>
        <p:nvSpPr>
          <p:cNvPr id="15" name="Rectangle 14"/>
          <p:cNvSpPr/>
          <p:nvPr/>
        </p:nvSpPr>
        <p:spPr>
          <a:xfrm>
            <a:off x="9006840" y="1325880"/>
            <a:ext cx="2743200" cy="26517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006840" y="1325880"/>
            <a:ext cx="2743200" cy="64008"/>
          </a:xfrm>
          <a:prstGeom prst="rect">
            <a:avLst/>
          </a:prstGeom>
          <a:solidFill>
            <a:srgbClr val="C05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89720" y="1481328"/>
            <a:ext cx="2395728" cy="24231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150" b="1" i="0">
                <a:solidFill>
                  <a:srgbClr val="C05050"/>
                </a:solidFill>
                <a:latin typeface="Calibri"/>
                <a:ea typeface="Microsoft YaHei"/>
              </a:rPr>
              <a:t>Reading the ROC</a:t>
            </a:r>
          </a:p>
          <a:p>
            <a:pPr algn="l">
              <a:lnSpc>
                <a:spcPct val="112000"/>
              </a:lnSpc>
              <a:spcBef>
                <a:spcPts val="300"/>
              </a:spcBef>
              <a:spcAft>
                <a:spcPts val="200"/>
              </a:spcAft>
            </a:pPr>
            <a:r>
              <a:rPr sz="960" b="0" i="0">
                <a:solidFill>
                  <a:srgbClr val="2D2D2D"/>
                </a:solidFill>
                <a:latin typeface="Calibri"/>
                <a:ea typeface="Microsoft YaHei"/>
              </a:rPr>
              <a:t>•  Curve to the upper-left corner = 100 % sensitivity &amp; specificity (ideal model).</a:t>
            </a:r>
          </a:p>
          <a:p>
            <a:pPr algn="l">
              <a:lnSpc>
                <a:spcPct val="112000"/>
              </a:lnSpc>
              <a:spcBef>
                <a:spcPts val="300"/>
              </a:spcBef>
              <a:spcAft>
                <a:spcPts val="200"/>
              </a:spcAft>
            </a:pPr>
            <a:r>
              <a:rPr sz="960" b="0" i="0">
                <a:solidFill>
                  <a:srgbClr val="2D2D2D"/>
                </a:solidFill>
                <a:latin typeface="Calibri"/>
                <a:ea typeface="Microsoft YaHei"/>
              </a:rPr>
              <a:t>•  45° diagonal = line of no discrimination (random labels).</a:t>
            </a:r>
          </a:p>
          <a:p>
            <a:pPr algn="l">
              <a:lnSpc>
                <a:spcPct val="112000"/>
              </a:lnSpc>
              <a:spcBef>
                <a:spcPts val="300"/>
              </a:spcBef>
              <a:spcAft>
                <a:spcPts val="200"/>
              </a:spcAft>
            </a:pPr>
            <a:r>
              <a:rPr sz="960" b="0" i="0">
                <a:solidFill>
                  <a:srgbClr val="2D2D2D"/>
                </a:solidFill>
                <a:latin typeface="Calibri"/>
                <a:ea typeface="Microsoft YaHei"/>
              </a:rPr>
              <a:t>•  AUC near 1: strong model; below 0.5: worse than random.</a:t>
            </a:r>
          </a:p>
        </p:txBody>
      </p:sp>
      <p:sp>
        <p:nvSpPr>
          <p:cNvPr id="18" name="Rectangle 17"/>
          <p:cNvSpPr/>
          <p:nvPr/>
        </p:nvSpPr>
        <p:spPr>
          <a:xfrm>
            <a:off x="4709160" y="4617720"/>
            <a:ext cx="7040880" cy="16916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709160" y="4617720"/>
            <a:ext cx="109728" cy="169164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56048" y="4736592"/>
            <a:ext cx="6629400" cy="1508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150" b="1" i="0">
                <a:solidFill>
                  <a:srgbClr val="1B2A4A"/>
                </a:solidFill>
                <a:latin typeface="Calibri"/>
                <a:ea typeface="Microsoft YaHei"/>
              </a:rPr>
              <a:t>How to read these figures</a:t>
            </a:r>
          </a:p>
          <a:p>
            <a:pPr algn="l">
              <a:lnSpc>
                <a:spcPct val="112000"/>
              </a:lnSpc>
              <a:spcBef>
                <a:spcPts val="300"/>
              </a:spcBef>
              <a:spcAft>
                <a:spcPts val="200"/>
              </a:spcAft>
            </a:pPr>
            <a:r>
              <a:rPr sz="960" b="0" i="0">
                <a:solidFill>
                  <a:srgbClr val="2D2D2D"/>
                </a:solidFill>
                <a:latin typeface="Calibri"/>
                <a:ea typeface="Microsoft YaHei"/>
              </a:rPr>
              <a:t>•  Maps let us compare algorithms visually: classes are water, vegetation, tile, asphalt and gravel — SAM-based chains recover shadowed pixels trained only on sunlit spectra.</a:t>
            </a:r>
          </a:p>
          <a:p>
            <a:pPr algn="l">
              <a:lnSpc>
                <a:spcPct val="112000"/>
              </a:lnSpc>
              <a:spcBef>
                <a:spcPts val="300"/>
              </a:spcBef>
              <a:spcAft>
                <a:spcPts val="200"/>
              </a:spcAft>
            </a:pPr>
            <a:r>
              <a:rPr sz="960" b="0" i="0">
                <a:solidFill>
                  <a:srgbClr val="2D2D2D"/>
                </a:solidFill>
                <a:latin typeface="Calibri"/>
                <a:ea typeface="Microsoft YaHei"/>
              </a:rPr>
              <a:t>•  ROC curves trade sensitivity against false-positive rate across thresholds; AUC summarises overall discrimination in one number.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Paper Excerpt 1 · MSI Limitations &amp; Atmospheric Correction</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3 · Original Text — Roussel et al., 2017</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41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Roussel et al., 2017, Int. J. Remote Sensing</a:t>
            </a:r>
          </a:p>
        </p:txBody>
      </p:sp>
      <p:sp>
        <p:nvSpPr>
          <p:cNvPr id="9" name="Rectangle 8"/>
          <p:cNvSpPr/>
          <p:nvPr/>
        </p:nvSpPr>
        <p:spPr>
          <a:xfrm>
            <a:off x="457200" y="1417320"/>
            <a:ext cx="11274552" cy="17373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417320"/>
            <a:ext cx="109728" cy="17373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545336"/>
            <a:ext cx="10817352" cy="1499616"/>
          </a:xfrm>
          <a:prstGeom prst="rect">
            <a:avLst/>
          </a:prstGeom>
          <a:noFill/>
        </p:spPr>
        <p:txBody>
          <a:bodyPr wrap="square" anchor="t" lIns="25400" rIns="25400" tIns="25400" bIns="25400">
            <a:spAutoFit/>
          </a:bodyPr>
          <a:lstStyle/>
          <a:p>
            <a:pPr algn="l">
              <a:lnSpc>
                <a:spcPct val="114000"/>
              </a:lnSpc>
              <a:spcBef>
                <a:spcPts val="0"/>
              </a:spcBef>
              <a:spcAft>
                <a:spcPts val="300"/>
              </a:spcAft>
            </a:pPr>
            <a:r>
              <a:rPr sz="1050" b="0" i="1">
                <a:solidFill>
                  <a:srgbClr val="404040"/>
                </a:solidFill>
                <a:latin typeface="Calibri"/>
                <a:ea typeface="Microsoft YaHei"/>
              </a:rPr>
              <a:t>However, multispectral imagery is limited regarding spectral analysis. Its low spectral resolution does not allow the discrimination among the large variety of urban materials. Hyperspectral imagery, which is characterized by a very high spectral resolution and whose spatial resolution tends to improve (Briottet et al. 2011), has proved to be a promising tool to overcome this matter.</a:t>
            </a:r>
          </a:p>
        </p:txBody>
      </p:sp>
      <p:sp>
        <p:nvSpPr>
          <p:cNvPr id="12" name="Rectangle 11"/>
          <p:cNvSpPr/>
          <p:nvPr/>
        </p:nvSpPr>
        <p:spPr>
          <a:xfrm>
            <a:off x="457200" y="3291840"/>
            <a:ext cx="11274552" cy="23317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291840"/>
            <a:ext cx="109728" cy="2331720"/>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3419856"/>
            <a:ext cx="10817352" cy="2093976"/>
          </a:xfrm>
          <a:prstGeom prst="rect">
            <a:avLst/>
          </a:prstGeom>
          <a:noFill/>
        </p:spPr>
        <p:txBody>
          <a:bodyPr wrap="square" anchor="t" lIns="25400" rIns="25400" tIns="25400" bIns="25400">
            <a:spAutoFit/>
          </a:bodyPr>
          <a:lstStyle/>
          <a:p>
            <a:pPr algn="l">
              <a:lnSpc>
                <a:spcPct val="114000"/>
              </a:lnSpc>
              <a:spcBef>
                <a:spcPts val="0"/>
              </a:spcBef>
              <a:spcAft>
                <a:spcPts val="300"/>
              </a:spcAft>
            </a:pPr>
            <a:r>
              <a:rPr sz="1050" b="0" i="1">
                <a:solidFill>
                  <a:srgbClr val="404040"/>
                </a:solidFill>
                <a:latin typeface="Calibri"/>
                <a:ea typeface="Microsoft YaHei"/>
              </a:rPr>
              <a:t>One of the keypoints to achieve these applications is the atmospheric correction phase which aims to retrieve, from at-sensor radiance, the reflectance associated to the targeted surface, which is by nature independent of the irradiance conditions on the one hand and of the environment topography on the other hand. Different correction methods exist. ATREM (Goetz et al. 1997) for ‘Atmospheric REMoval program’ and ACORN (Miller 2002) for ‘Atmosphere CORrection Now’ assume a flat homogeneous ground hypothesis with a Lambertian surface.</a:t>
            </a:r>
          </a:p>
        </p:txBody>
      </p:sp>
      <p:sp>
        <p:nvSpPr>
          <p:cNvPr id="15" name="Rectangle 14"/>
          <p:cNvSpPr/>
          <p:nvPr/>
        </p:nvSpPr>
        <p:spPr>
          <a:xfrm>
            <a:off x="457200" y="5806440"/>
            <a:ext cx="3639312" cy="41148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5870448"/>
            <a:ext cx="3639312" cy="292608"/>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1150" b="1" i="0">
                <a:solidFill>
                  <a:srgbClr val="FFFFFF"/>
                </a:solidFill>
                <a:latin typeface="Calibri"/>
                <a:ea typeface="Microsoft YaHei"/>
              </a:rPr>
              <a:t>Briottet et al. 2011</a:t>
            </a:r>
          </a:p>
        </p:txBody>
      </p:sp>
      <p:sp>
        <p:nvSpPr>
          <p:cNvPr id="17" name="Rectangle 16"/>
          <p:cNvSpPr/>
          <p:nvPr/>
        </p:nvSpPr>
        <p:spPr>
          <a:xfrm>
            <a:off x="4261104" y="5806440"/>
            <a:ext cx="3639312" cy="41148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61104" y="5870448"/>
            <a:ext cx="3639312" cy="292608"/>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1150" b="1" i="0">
                <a:solidFill>
                  <a:srgbClr val="FFFFFF"/>
                </a:solidFill>
                <a:latin typeface="Calibri"/>
                <a:ea typeface="Microsoft YaHei"/>
              </a:rPr>
              <a:t>Goetz et al. 1997 · ATREM</a:t>
            </a:r>
          </a:p>
        </p:txBody>
      </p:sp>
      <p:sp>
        <p:nvSpPr>
          <p:cNvPr id="19" name="Rectangle 18"/>
          <p:cNvSpPr/>
          <p:nvPr/>
        </p:nvSpPr>
        <p:spPr>
          <a:xfrm>
            <a:off x="8065008" y="5806440"/>
            <a:ext cx="3639312" cy="411480"/>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65008" y="5870448"/>
            <a:ext cx="3639312" cy="292608"/>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1150" b="1" i="0">
                <a:solidFill>
                  <a:srgbClr val="FFFFFF"/>
                </a:solidFill>
                <a:latin typeface="Calibri"/>
                <a:ea typeface="Microsoft YaHei"/>
              </a:rPr>
              <a:t>Miller 2002 · ACORN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Paper Excerpt 2 · Principal Component Analysis (PCA)</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3 · Original Text — Gautam et al., 2015</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42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Gautam et al., EPJ Techniques and Instrumentation, 2015</a:t>
            </a:r>
          </a:p>
        </p:txBody>
      </p:sp>
      <p:sp>
        <p:nvSpPr>
          <p:cNvPr id="9" name="Rectangle 8"/>
          <p:cNvSpPr/>
          <p:nvPr/>
        </p:nvSpPr>
        <p:spPr>
          <a:xfrm>
            <a:off x="457200" y="1463040"/>
            <a:ext cx="11274552" cy="21031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463040"/>
            <a:ext cx="109728" cy="210312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591056"/>
            <a:ext cx="10817352" cy="1865376"/>
          </a:xfrm>
          <a:prstGeom prst="rect">
            <a:avLst/>
          </a:prstGeom>
          <a:noFill/>
        </p:spPr>
        <p:txBody>
          <a:bodyPr wrap="square" anchor="t" lIns="25400" rIns="25400" tIns="25400" bIns="25400">
            <a:spAutoFit/>
          </a:bodyPr>
          <a:lstStyle/>
          <a:p>
            <a:pPr algn="l">
              <a:lnSpc>
                <a:spcPct val="114000"/>
              </a:lnSpc>
              <a:spcBef>
                <a:spcPts val="0"/>
              </a:spcBef>
              <a:spcAft>
                <a:spcPts val="300"/>
              </a:spcAft>
            </a:pPr>
            <a:r>
              <a:rPr sz="1050" b="0" i="1">
                <a:solidFill>
                  <a:srgbClr val="404040"/>
                </a:solidFill>
                <a:latin typeface="Calibri"/>
                <a:ea typeface="Microsoft YaHei"/>
              </a:rPr>
              <a:t>Principal component analysis (PCA) is an unsupervised data transformation procedure of complex data sets. PCA is used for projecting a higher dimensional data matrix “X” onto a low component subspace. It reduces a set of variables into a smaller set of orthogonal, and therefore independent, principal components (PCs) in the direction of maximal variation — i.e. it reduces the dimensionality and retains the most significant information for further analysis.</a:t>
            </a:r>
          </a:p>
        </p:txBody>
      </p:sp>
      <p:sp>
        <p:nvSpPr>
          <p:cNvPr id="12" name="Rectangle 11"/>
          <p:cNvSpPr/>
          <p:nvPr/>
        </p:nvSpPr>
        <p:spPr>
          <a:xfrm>
            <a:off x="457200" y="3794760"/>
            <a:ext cx="5532120" cy="9601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794760"/>
            <a:ext cx="109728"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3913632"/>
            <a:ext cx="5120640" cy="3200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1B2A4A"/>
                </a:solidFill>
                <a:latin typeface="Calibri"/>
                <a:ea typeface="Microsoft YaHei"/>
              </a:rPr>
              <a:t>Unsupervised transform</a:t>
            </a:r>
          </a:p>
        </p:txBody>
      </p:sp>
      <p:sp>
        <p:nvSpPr>
          <p:cNvPr id="15" name="TextBox 14"/>
          <p:cNvSpPr txBox="1"/>
          <p:nvPr/>
        </p:nvSpPr>
        <p:spPr>
          <a:xfrm>
            <a:off x="713232" y="4251960"/>
            <a:ext cx="5120640" cy="41148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100" b="0" i="0">
                <a:solidFill>
                  <a:srgbClr val="5A5A5A"/>
                </a:solidFill>
                <a:latin typeface="Calibri"/>
                <a:ea typeface="Microsoft YaHei"/>
              </a:rPr>
              <a:t>of complex, high-dimensional data sets</a:t>
            </a:r>
          </a:p>
        </p:txBody>
      </p:sp>
      <p:sp>
        <p:nvSpPr>
          <p:cNvPr id="16" name="Rectangle 15"/>
          <p:cNvSpPr/>
          <p:nvPr/>
        </p:nvSpPr>
        <p:spPr>
          <a:xfrm>
            <a:off x="6199632" y="3794760"/>
            <a:ext cx="5532120" cy="9601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9632" y="3794760"/>
            <a:ext cx="109728" cy="96012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5664" y="3913632"/>
            <a:ext cx="5120640" cy="3200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0096C7"/>
                </a:solidFill>
                <a:latin typeface="Calibri"/>
                <a:ea typeface="Microsoft YaHei"/>
              </a:rPr>
              <a:t>X → low-dimensional subspace</a:t>
            </a:r>
          </a:p>
        </p:txBody>
      </p:sp>
      <p:sp>
        <p:nvSpPr>
          <p:cNvPr id="19" name="TextBox 18"/>
          <p:cNvSpPr txBox="1"/>
          <p:nvPr/>
        </p:nvSpPr>
        <p:spPr>
          <a:xfrm>
            <a:off x="6455664" y="4251960"/>
            <a:ext cx="5120640" cy="41148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100" b="0" i="0">
                <a:solidFill>
                  <a:srgbClr val="5A5A5A"/>
                </a:solidFill>
                <a:latin typeface="Calibri"/>
                <a:ea typeface="Microsoft YaHei"/>
              </a:rPr>
              <a:t>project the high-dimensional matrix X</a:t>
            </a:r>
          </a:p>
        </p:txBody>
      </p:sp>
      <p:sp>
        <p:nvSpPr>
          <p:cNvPr id="20" name="Rectangle 19"/>
          <p:cNvSpPr/>
          <p:nvPr/>
        </p:nvSpPr>
        <p:spPr>
          <a:xfrm>
            <a:off x="457200" y="4937760"/>
            <a:ext cx="5532120" cy="9601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4937760"/>
            <a:ext cx="109728" cy="960120"/>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5056632"/>
            <a:ext cx="5120640" cy="3200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F4A25F"/>
                </a:solidFill>
                <a:latin typeface="Calibri"/>
                <a:ea typeface="Microsoft YaHei"/>
              </a:rPr>
              <a:t>Orthogonal, independent PCs</a:t>
            </a:r>
          </a:p>
        </p:txBody>
      </p:sp>
      <p:sp>
        <p:nvSpPr>
          <p:cNvPr id="23" name="TextBox 22"/>
          <p:cNvSpPr txBox="1"/>
          <p:nvPr/>
        </p:nvSpPr>
        <p:spPr>
          <a:xfrm>
            <a:off x="713232" y="5394960"/>
            <a:ext cx="5120640" cy="41148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100" b="0" i="0">
                <a:solidFill>
                  <a:srgbClr val="5A5A5A"/>
                </a:solidFill>
                <a:latin typeface="Calibri"/>
                <a:ea typeface="Microsoft YaHei"/>
              </a:rPr>
              <a:t>smaller set of uncorrelated components</a:t>
            </a:r>
          </a:p>
        </p:txBody>
      </p:sp>
      <p:sp>
        <p:nvSpPr>
          <p:cNvPr id="24" name="Rectangle 23"/>
          <p:cNvSpPr/>
          <p:nvPr/>
        </p:nvSpPr>
        <p:spPr>
          <a:xfrm>
            <a:off x="6199632" y="4937760"/>
            <a:ext cx="5532120" cy="9601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9632" y="4937760"/>
            <a:ext cx="109728" cy="960120"/>
          </a:xfrm>
          <a:prstGeom prst="rect">
            <a:avLst/>
          </a:prstGeom>
          <a:solidFill>
            <a:srgbClr val="C05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55664" y="5056632"/>
            <a:ext cx="5120640" cy="3200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C05050"/>
                </a:solidFill>
                <a:latin typeface="Calibri"/>
                <a:ea typeface="Microsoft YaHei"/>
              </a:rPr>
              <a:t>Maximal-variance direction</a:t>
            </a:r>
          </a:p>
        </p:txBody>
      </p:sp>
      <p:sp>
        <p:nvSpPr>
          <p:cNvPr id="27" name="TextBox 26"/>
          <p:cNvSpPr txBox="1"/>
          <p:nvPr/>
        </p:nvSpPr>
        <p:spPr>
          <a:xfrm>
            <a:off x="6455664" y="5394960"/>
            <a:ext cx="5120640" cy="41148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100" b="0" i="0">
                <a:solidFill>
                  <a:srgbClr val="5A5A5A"/>
                </a:solidFill>
                <a:latin typeface="Calibri"/>
                <a:ea typeface="Microsoft YaHei"/>
              </a:rPr>
              <a:t>retains the most significant information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Paper Excerpt 3 · HISUI: Applications &amp; Calibration Need</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3 · Original Text — Yamamoto et al., 2022</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43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Yamamoto et al., IEEE TGRS, 60, 2022</a:t>
            </a:r>
          </a:p>
        </p:txBody>
      </p:sp>
      <p:sp>
        <p:nvSpPr>
          <p:cNvPr id="9" name="Rectangle 8"/>
          <p:cNvSpPr/>
          <p:nvPr/>
        </p:nvSpPr>
        <p:spPr>
          <a:xfrm>
            <a:off x="457200" y="1417320"/>
            <a:ext cx="11274552" cy="25146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417320"/>
            <a:ext cx="109728" cy="25146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545336"/>
            <a:ext cx="10817352" cy="2276856"/>
          </a:xfrm>
          <a:prstGeom prst="rect">
            <a:avLst/>
          </a:prstGeom>
          <a:noFill/>
        </p:spPr>
        <p:txBody>
          <a:bodyPr wrap="square" anchor="t" lIns="25400" rIns="25400" tIns="25400" bIns="25400">
            <a:spAutoFit/>
          </a:bodyPr>
          <a:lstStyle/>
          <a:p>
            <a:pPr algn="l">
              <a:lnSpc>
                <a:spcPct val="114000"/>
              </a:lnSpc>
              <a:spcBef>
                <a:spcPts val="0"/>
              </a:spcBef>
              <a:spcAft>
                <a:spcPts val="300"/>
              </a:spcAft>
            </a:pPr>
            <a:r>
              <a:rPr sz="1050" b="0" i="1">
                <a:solidFill>
                  <a:srgbClr val="404040"/>
                </a:solidFill>
                <a:latin typeface="Calibri"/>
                <a:ea typeface="Microsoft YaHei"/>
              </a:rPr>
              <a:t>Hyperspectral data can be used to extract various information from discrete absorption and reflection features of a target surface or atmosphere. Thus, HISUI data are expected to be useful in various fields, such as natural resources, agriculture, forestry, environmental monitoring, and Earth science [1]. For such applications, both an accurate spectral calibration and a radiometric calibration are necessary for the reliability of the information extracted from hyperspectral data (see, e.g., [2]–[4]). In particular, for push-broom-type sensors, it is important to evaluate and calibrate the spectral smile, which is a phenomenon showing a cross-track dependence in a deviation from the original wavelength assignment caused by optical distortions incident on the detector array.</a:t>
            </a:r>
          </a:p>
        </p:txBody>
      </p:sp>
      <p:sp>
        <p:nvSpPr>
          <p:cNvPr id="12" name="Rectangle 11"/>
          <p:cNvSpPr/>
          <p:nvPr/>
        </p:nvSpPr>
        <p:spPr>
          <a:xfrm>
            <a:off x="457200" y="4160520"/>
            <a:ext cx="2212848" cy="64008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4279392"/>
            <a:ext cx="2029968" cy="457200"/>
          </a:xfrm>
          <a:prstGeom prst="rect">
            <a:avLst/>
          </a:prstGeom>
          <a:noFill/>
        </p:spPr>
        <p:txBody>
          <a:bodyPr wrap="square" anchor="t" lIns="25400" rIns="25400" tIns="25400" bIns="25400">
            <a:spAutoFit/>
          </a:bodyPr>
          <a:lstStyle/>
          <a:p>
            <a:pPr algn="ctr">
              <a:lnSpc>
                <a:spcPct val="100000"/>
              </a:lnSpc>
              <a:spcBef>
                <a:spcPts val="0"/>
              </a:spcBef>
              <a:spcAft>
                <a:spcPts val="200"/>
              </a:spcAft>
            </a:pPr>
            <a:r>
              <a:rPr sz="1150" b="1" i="0">
                <a:solidFill>
                  <a:srgbClr val="FFFFFF"/>
                </a:solidFill>
                <a:latin typeface="Calibri"/>
                <a:ea typeface="Microsoft YaHei"/>
              </a:rPr>
              <a:t>Natural resources</a:t>
            </a:r>
          </a:p>
        </p:txBody>
      </p:sp>
      <p:sp>
        <p:nvSpPr>
          <p:cNvPr id="14" name="Rectangle 13"/>
          <p:cNvSpPr/>
          <p:nvPr/>
        </p:nvSpPr>
        <p:spPr>
          <a:xfrm>
            <a:off x="2752344" y="4160520"/>
            <a:ext cx="2212848" cy="64008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43784" y="4279392"/>
            <a:ext cx="2029968" cy="457200"/>
          </a:xfrm>
          <a:prstGeom prst="rect">
            <a:avLst/>
          </a:prstGeom>
          <a:noFill/>
        </p:spPr>
        <p:txBody>
          <a:bodyPr wrap="square" anchor="t" lIns="25400" rIns="25400" tIns="25400" bIns="25400">
            <a:spAutoFit/>
          </a:bodyPr>
          <a:lstStyle/>
          <a:p>
            <a:pPr algn="ctr">
              <a:lnSpc>
                <a:spcPct val="100000"/>
              </a:lnSpc>
              <a:spcBef>
                <a:spcPts val="0"/>
              </a:spcBef>
              <a:spcAft>
                <a:spcPts val="200"/>
              </a:spcAft>
            </a:pPr>
            <a:r>
              <a:rPr sz="1150" b="1" i="0">
                <a:solidFill>
                  <a:srgbClr val="FFFFFF"/>
                </a:solidFill>
                <a:latin typeface="Calibri"/>
                <a:ea typeface="Microsoft YaHei"/>
              </a:rPr>
              <a:t>Agriculture</a:t>
            </a:r>
          </a:p>
        </p:txBody>
      </p:sp>
      <p:sp>
        <p:nvSpPr>
          <p:cNvPr id="16" name="Rectangle 15"/>
          <p:cNvSpPr/>
          <p:nvPr/>
        </p:nvSpPr>
        <p:spPr>
          <a:xfrm>
            <a:off x="5047488" y="4160520"/>
            <a:ext cx="2212848" cy="640080"/>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38927" y="4279392"/>
            <a:ext cx="2029968" cy="457200"/>
          </a:xfrm>
          <a:prstGeom prst="rect">
            <a:avLst/>
          </a:prstGeom>
          <a:noFill/>
        </p:spPr>
        <p:txBody>
          <a:bodyPr wrap="square" anchor="t" lIns="25400" rIns="25400" tIns="25400" bIns="25400">
            <a:spAutoFit/>
          </a:bodyPr>
          <a:lstStyle/>
          <a:p>
            <a:pPr algn="ctr">
              <a:lnSpc>
                <a:spcPct val="100000"/>
              </a:lnSpc>
              <a:spcBef>
                <a:spcPts val="0"/>
              </a:spcBef>
              <a:spcAft>
                <a:spcPts val="200"/>
              </a:spcAft>
            </a:pPr>
            <a:r>
              <a:rPr sz="1150" b="1" i="0">
                <a:solidFill>
                  <a:srgbClr val="FFFFFF"/>
                </a:solidFill>
                <a:latin typeface="Calibri"/>
                <a:ea typeface="Microsoft YaHei"/>
              </a:rPr>
              <a:t>Forestry</a:t>
            </a:r>
          </a:p>
        </p:txBody>
      </p:sp>
      <p:sp>
        <p:nvSpPr>
          <p:cNvPr id="18" name="Rectangle 17"/>
          <p:cNvSpPr/>
          <p:nvPr/>
        </p:nvSpPr>
        <p:spPr>
          <a:xfrm>
            <a:off x="7342631" y="4160520"/>
            <a:ext cx="2212848" cy="64008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34071" y="4279392"/>
            <a:ext cx="2029968" cy="457200"/>
          </a:xfrm>
          <a:prstGeom prst="rect">
            <a:avLst/>
          </a:prstGeom>
          <a:noFill/>
        </p:spPr>
        <p:txBody>
          <a:bodyPr wrap="square" anchor="t" lIns="25400" rIns="25400" tIns="25400" bIns="25400">
            <a:spAutoFit/>
          </a:bodyPr>
          <a:lstStyle/>
          <a:p>
            <a:pPr algn="ctr">
              <a:lnSpc>
                <a:spcPct val="100000"/>
              </a:lnSpc>
              <a:spcBef>
                <a:spcPts val="0"/>
              </a:spcBef>
              <a:spcAft>
                <a:spcPts val="200"/>
              </a:spcAft>
            </a:pPr>
            <a:r>
              <a:rPr sz="1150" b="1" i="0">
                <a:solidFill>
                  <a:srgbClr val="FFFFFF"/>
                </a:solidFill>
                <a:latin typeface="Calibri"/>
                <a:ea typeface="Microsoft YaHei"/>
              </a:rPr>
              <a:t>Environmental monitoring</a:t>
            </a:r>
          </a:p>
        </p:txBody>
      </p:sp>
      <p:sp>
        <p:nvSpPr>
          <p:cNvPr id="20" name="Rectangle 19"/>
          <p:cNvSpPr/>
          <p:nvPr/>
        </p:nvSpPr>
        <p:spPr>
          <a:xfrm>
            <a:off x="9637776" y="4160520"/>
            <a:ext cx="2212848" cy="64008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29215" y="4279392"/>
            <a:ext cx="2029968" cy="457200"/>
          </a:xfrm>
          <a:prstGeom prst="rect">
            <a:avLst/>
          </a:prstGeom>
          <a:noFill/>
        </p:spPr>
        <p:txBody>
          <a:bodyPr wrap="square" anchor="t" lIns="25400" rIns="25400" tIns="25400" bIns="25400">
            <a:spAutoFit/>
          </a:bodyPr>
          <a:lstStyle/>
          <a:p>
            <a:pPr algn="ctr">
              <a:lnSpc>
                <a:spcPct val="100000"/>
              </a:lnSpc>
              <a:spcBef>
                <a:spcPts val="0"/>
              </a:spcBef>
              <a:spcAft>
                <a:spcPts val="200"/>
              </a:spcAft>
            </a:pPr>
            <a:r>
              <a:rPr sz="1150" b="1" i="0">
                <a:solidFill>
                  <a:srgbClr val="FFFFFF"/>
                </a:solidFill>
                <a:latin typeface="Calibri"/>
                <a:ea typeface="Microsoft YaHei"/>
              </a:rPr>
              <a:t>Earth science</a:t>
            </a:r>
          </a:p>
        </p:txBody>
      </p:sp>
      <p:sp>
        <p:nvSpPr>
          <p:cNvPr id="22" name="Rectangle 21"/>
          <p:cNvSpPr/>
          <p:nvPr/>
        </p:nvSpPr>
        <p:spPr>
          <a:xfrm>
            <a:off x="457200" y="5074920"/>
            <a:ext cx="11274552" cy="10972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5074920"/>
            <a:ext cx="109728" cy="1097280"/>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5212080"/>
            <a:ext cx="10881360" cy="91440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00" b="1" i="0">
                <a:solidFill>
                  <a:srgbClr val="F4A25F"/>
                </a:solidFill>
                <a:latin typeface="Calibri"/>
                <a:ea typeface="Microsoft YaHei"/>
              </a:rPr>
              <a:t>In-text numbered citations</a:t>
            </a:r>
          </a:p>
          <a:p>
            <a:pPr algn="l">
              <a:lnSpc>
                <a:spcPct val="120000"/>
              </a:lnSpc>
              <a:spcBef>
                <a:spcPts val="200"/>
              </a:spcBef>
              <a:spcAft>
                <a:spcPts val="200"/>
              </a:spcAft>
            </a:pPr>
            <a:r>
              <a:rPr sz="1100" b="0" i="0">
                <a:solidFill>
                  <a:srgbClr val="2D2D2D"/>
                </a:solidFill>
                <a:latin typeface="Calibri"/>
                <a:ea typeface="Microsoft YaHei"/>
              </a:rPr>
              <a:t>[1] HISUI mission overview  ·  [2]–[4] hyperspectral spectral &amp; radiometric calibration studies — accurate calibration is essential for the reliability of extracted information.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Paper Excerpt 4 · Evaluating Spectral Smile by Atmospheric Correction</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3 · Original Text — Yamamoto et al., 2022</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44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Yamamoto et al., IEEE TGRS, 60, 2022</a:t>
            </a:r>
          </a:p>
        </p:txBody>
      </p:sp>
      <p:sp>
        <p:nvSpPr>
          <p:cNvPr id="9" name="TextBox 8"/>
          <p:cNvSpPr txBox="1"/>
          <p:nvPr/>
        </p:nvSpPr>
        <p:spPr>
          <a:xfrm>
            <a:off x="457200" y="1280160"/>
            <a:ext cx="11247120" cy="3200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400" b="1" i="0">
                <a:solidFill>
                  <a:srgbClr val="1B2A4A"/>
                </a:solidFill>
                <a:latin typeface="Calibri"/>
                <a:ea typeface="Microsoft YaHei"/>
              </a:rPr>
              <a:t>B. Evaluation of the Spectral Smile by Atmospheric Correction</a:t>
            </a:r>
          </a:p>
        </p:txBody>
      </p:sp>
      <p:sp>
        <p:nvSpPr>
          <p:cNvPr id="10" name="Rectangle 9"/>
          <p:cNvSpPr/>
          <p:nvPr/>
        </p:nvSpPr>
        <p:spPr>
          <a:xfrm>
            <a:off x="457200" y="1645920"/>
            <a:ext cx="11274552" cy="26974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645920"/>
            <a:ext cx="109728" cy="269748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1773936"/>
            <a:ext cx="10817352" cy="2459736"/>
          </a:xfrm>
          <a:prstGeom prst="rect">
            <a:avLst/>
          </a:prstGeom>
          <a:noFill/>
        </p:spPr>
        <p:txBody>
          <a:bodyPr wrap="square" anchor="t" lIns="25400" rIns="25400" tIns="25400" bIns="25400">
            <a:spAutoFit/>
          </a:bodyPr>
          <a:lstStyle/>
          <a:p>
            <a:pPr algn="l">
              <a:lnSpc>
                <a:spcPct val="114000"/>
              </a:lnSpc>
              <a:spcBef>
                <a:spcPts val="0"/>
              </a:spcBef>
              <a:spcAft>
                <a:spcPts val="300"/>
              </a:spcAft>
            </a:pPr>
            <a:r>
              <a:rPr sz="1050" b="0" i="1">
                <a:solidFill>
                  <a:srgbClr val="404040"/>
                </a:solidFill>
                <a:latin typeface="Calibri"/>
                <a:ea typeface="Microsoft YaHei"/>
              </a:rPr>
              <a:t>The analytical procedure to evaluate the spectral smile by atmospheric correction was given as follows. In this analysis, we used the modeled radiance incident on HISUI from the target site, which was calculated using MODTRAN 6. MODTRAN calculations were performed using the U.S. Standard 1976 Atmospheric Profile, the desert aerosol model, and a Lambertian desert-barren surface type as representative parameter values. In addition, solar altitude, target latitude and longitude, ground height, and seasonal parameters were provided with values for each target and observation timing. These settings are a simple and efficient method for evaluating spectral smile for large numbers of pixels in a variety of HISUI scenes. Note that fine-tuning of MODTRAN parameters was not conducted for this analysis because the objective of this study was not to obtain accurate surface reflectance, but rather to estimate δλ using atmospheric absorption bands.</a:t>
            </a:r>
          </a:p>
        </p:txBody>
      </p:sp>
      <p:sp>
        <p:nvSpPr>
          <p:cNvPr id="13" name="Rectangle 12"/>
          <p:cNvSpPr/>
          <p:nvPr/>
        </p:nvSpPr>
        <p:spPr>
          <a:xfrm>
            <a:off x="457200" y="4526280"/>
            <a:ext cx="3639312" cy="749808"/>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4526280"/>
            <a:ext cx="3639312" cy="6400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599432"/>
            <a:ext cx="338328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100" b="1" i="0">
                <a:solidFill>
                  <a:srgbClr val="1B2A4A"/>
                </a:solidFill>
                <a:latin typeface="Calibri"/>
                <a:ea typeface="Microsoft YaHei"/>
              </a:rPr>
              <a:t>MODTRAN 6</a:t>
            </a:r>
          </a:p>
        </p:txBody>
      </p:sp>
      <p:sp>
        <p:nvSpPr>
          <p:cNvPr id="16" name="TextBox 15"/>
          <p:cNvSpPr txBox="1"/>
          <p:nvPr/>
        </p:nvSpPr>
        <p:spPr>
          <a:xfrm>
            <a:off x="594360" y="4892040"/>
            <a:ext cx="3383280" cy="3200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80" b="0" i="0">
                <a:solidFill>
                  <a:srgbClr val="5A5A5A"/>
                </a:solidFill>
                <a:latin typeface="Calibri"/>
                <a:ea typeface="Microsoft YaHei"/>
              </a:rPr>
              <a:t>radiative-transfer model</a:t>
            </a:r>
          </a:p>
        </p:txBody>
      </p:sp>
      <p:sp>
        <p:nvSpPr>
          <p:cNvPr id="17" name="Rectangle 16"/>
          <p:cNvSpPr/>
          <p:nvPr/>
        </p:nvSpPr>
        <p:spPr>
          <a:xfrm>
            <a:off x="4261104" y="4526280"/>
            <a:ext cx="3639312" cy="749808"/>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61104" y="4526280"/>
            <a:ext cx="3639312" cy="6400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98264" y="4599432"/>
            <a:ext cx="338328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100" b="1" i="0">
                <a:solidFill>
                  <a:srgbClr val="1B2A4A"/>
                </a:solidFill>
                <a:latin typeface="Calibri"/>
                <a:ea typeface="Microsoft YaHei"/>
              </a:rPr>
              <a:t>U.S. Standard 1976</a:t>
            </a:r>
          </a:p>
        </p:txBody>
      </p:sp>
      <p:sp>
        <p:nvSpPr>
          <p:cNvPr id="20" name="TextBox 19"/>
          <p:cNvSpPr txBox="1"/>
          <p:nvPr/>
        </p:nvSpPr>
        <p:spPr>
          <a:xfrm>
            <a:off x="4398264" y="4892040"/>
            <a:ext cx="3383280" cy="3200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80" b="0" i="0">
                <a:solidFill>
                  <a:srgbClr val="5A5A5A"/>
                </a:solidFill>
                <a:latin typeface="Calibri"/>
                <a:ea typeface="Microsoft YaHei"/>
              </a:rPr>
              <a:t>atmospheric profile</a:t>
            </a:r>
          </a:p>
        </p:txBody>
      </p:sp>
      <p:sp>
        <p:nvSpPr>
          <p:cNvPr id="21" name="Rectangle 20"/>
          <p:cNvSpPr/>
          <p:nvPr/>
        </p:nvSpPr>
        <p:spPr>
          <a:xfrm>
            <a:off x="8065008" y="4526280"/>
            <a:ext cx="3639312" cy="749808"/>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65008" y="4526280"/>
            <a:ext cx="3639312" cy="64008"/>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02168" y="4599432"/>
            <a:ext cx="338328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100" b="1" i="0">
                <a:solidFill>
                  <a:srgbClr val="1B2A4A"/>
                </a:solidFill>
                <a:latin typeface="Calibri"/>
                <a:ea typeface="Microsoft YaHei"/>
              </a:rPr>
              <a:t>Desert aerosol</a:t>
            </a:r>
          </a:p>
        </p:txBody>
      </p:sp>
      <p:sp>
        <p:nvSpPr>
          <p:cNvPr id="24" name="TextBox 23"/>
          <p:cNvSpPr txBox="1"/>
          <p:nvPr/>
        </p:nvSpPr>
        <p:spPr>
          <a:xfrm>
            <a:off x="8202168" y="4892040"/>
            <a:ext cx="3383280" cy="3200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80" b="0" i="0">
                <a:solidFill>
                  <a:srgbClr val="5A5A5A"/>
                </a:solidFill>
                <a:latin typeface="Calibri"/>
                <a:ea typeface="Microsoft YaHei"/>
              </a:rPr>
              <a:t>aerosol model</a:t>
            </a:r>
          </a:p>
        </p:txBody>
      </p:sp>
      <p:sp>
        <p:nvSpPr>
          <p:cNvPr id="25" name="Rectangle 24"/>
          <p:cNvSpPr/>
          <p:nvPr/>
        </p:nvSpPr>
        <p:spPr>
          <a:xfrm>
            <a:off x="457200" y="5394960"/>
            <a:ext cx="3639312" cy="749808"/>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5394960"/>
            <a:ext cx="3639312" cy="64008"/>
          </a:xfrm>
          <a:prstGeom prst="rect">
            <a:avLst/>
          </a:prstGeom>
          <a:solidFill>
            <a:srgbClr val="C05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360" y="5468112"/>
            <a:ext cx="338328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100" b="1" i="0">
                <a:solidFill>
                  <a:srgbClr val="1B2A4A"/>
                </a:solidFill>
                <a:latin typeface="Calibri"/>
                <a:ea typeface="Microsoft YaHei"/>
              </a:rPr>
              <a:t>Lambertian desert-barren</a:t>
            </a:r>
          </a:p>
        </p:txBody>
      </p:sp>
      <p:sp>
        <p:nvSpPr>
          <p:cNvPr id="28" name="TextBox 27"/>
          <p:cNvSpPr txBox="1"/>
          <p:nvPr/>
        </p:nvSpPr>
        <p:spPr>
          <a:xfrm>
            <a:off x="594360" y="5760720"/>
            <a:ext cx="3383280" cy="3200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80" b="0" i="0">
                <a:solidFill>
                  <a:srgbClr val="5A5A5A"/>
                </a:solidFill>
                <a:latin typeface="Calibri"/>
                <a:ea typeface="Microsoft YaHei"/>
              </a:rPr>
              <a:t>surface type</a:t>
            </a:r>
          </a:p>
        </p:txBody>
      </p:sp>
      <p:sp>
        <p:nvSpPr>
          <p:cNvPr id="29" name="Rectangle 28"/>
          <p:cNvSpPr/>
          <p:nvPr/>
        </p:nvSpPr>
        <p:spPr>
          <a:xfrm>
            <a:off x="4261104" y="5394960"/>
            <a:ext cx="3639312" cy="749808"/>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261104" y="5394960"/>
            <a:ext cx="3639312" cy="6400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98264" y="5468112"/>
            <a:ext cx="338328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100" b="1" i="0">
                <a:solidFill>
                  <a:srgbClr val="1B2A4A"/>
                </a:solidFill>
                <a:latin typeface="Calibri"/>
                <a:ea typeface="Microsoft YaHei"/>
              </a:rPr>
              <a:t>Solar altitude · lat/lon</a:t>
            </a:r>
          </a:p>
        </p:txBody>
      </p:sp>
      <p:sp>
        <p:nvSpPr>
          <p:cNvPr id="32" name="TextBox 31"/>
          <p:cNvSpPr txBox="1"/>
          <p:nvPr/>
        </p:nvSpPr>
        <p:spPr>
          <a:xfrm>
            <a:off x="4398264" y="5760720"/>
            <a:ext cx="3383280" cy="3200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80" b="0" i="0">
                <a:solidFill>
                  <a:srgbClr val="5A5A5A"/>
                </a:solidFill>
                <a:latin typeface="Calibri"/>
                <a:ea typeface="Microsoft YaHei"/>
              </a:rPr>
              <a:t>ground height · seasonal</a:t>
            </a:r>
          </a:p>
        </p:txBody>
      </p:sp>
      <p:sp>
        <p:nvSpPr>
          <p:cNvPr id="33" name="Rectangle 32"/>
          <p:cNvSpPr/>
          <p:nvPr/>
        </p:nvSpPr>
        <p:spPr>
          <a:xfrm>
            <a:off x="8065008" y="5394960"/>
            <a:ext cx="3639312" cy="749808"/>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065008" y="5394960"/>
            <a:ext cx="3639312" cy="6400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02168" y="5468112"/>
            <a:ext cx="338328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100" b="1" i="0">
                <a:solidFill>
                  <a:srgbClr val="1B2A4A"/>
                </a:solidFill>
                <a:latin typeface="Calibri"/>
                <a:ea typeface="Microsoft YaHei"/>
              </a:rPr>
              <a:t>No fine-tuning</a:t>
            </a:r>
          </a:p>
        </p:txBody>
      </p:sp>
      <p:sp>
        <p:nvSpPr>
          <p:cNvPr id="36" name="TextBox 35"/>
          <p:cNvSpPr txBox="1"/>
          <p:nvPr/>
        </p:nvSpPr>
        <p:spPr>
          <a:xfrm>
            <a:off x="8202168" y="5760720"/>
            <a:ext cx="3383280" cy="3200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80" b="0" i="0">
                <a:solidFill>
                  <a:srgbClr val="5A5A5A"/>
                </a:solidFill>
                <a:latin typeface="Calibri"/>
                <a:ea typeface="Microsoft YaHei"/>
              </a:rPr>
              <a:t>goal: estimate δλ, not reflectance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31720"/>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069080"/>
            <a:ext cx="12191695" cy="27432"/>
          </a:xfrm>
          <a:prstGeom prst="rect">
            <a:avLst/>
          </a:prstGeom>
          <a:solidFill>
            <a:srgbClr val="48C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98448"/>
            <a:ext cx="10725912" cy="45720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2000" b="1" i="0">
                <a:solidFill>
                  <a:srgbClr val="48CAE4"/>
                </a:solidFill>
                <a:latin typeface="Calibri"/>
                <a:ea typeface="Microsoft YaHei"/>
              </a:rPr>
              <a:t>PART 04</a:t>
            </a:r>
          </a:p>
        </p:txBody>
      </p:sp>
      <p:sp>
        <p:nvSpPr>
          <p:cNvPr id="6" name="TextBox 5"/>
          <p:cNvSpPr txBox="1"/>
          <p:nvPr/>
        </p:nvSpPr>
        <p:spPr>
          <a:xfrm>
            <a:off x="731520" y="2487168"/>
            <a:ext cx="10725912" cy="82296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3600" b="1" i="0">
                <a:solidFill>
                  <a:srgbClr val="FFFFFF"/>
                </a:solidFill>
                <a:latin typeface="Calibri"/>
                <a:ea typeface="Microsoft YaHei"/>
              </a:rPr>
              <a:t>Applications &amp; Future Trends</a:t>
            </a:r>
          </a:p>
        </p:txBody>
      </p:sp>
      <p:sp>
        <p:nvSpPr>
          <p:cNvPr id="7" name="TextBox 6"/>
          <p:cNvSpPr txBox="1"/>
          <p:nvPr/>
        </p:nvSpPr>
        <p:spPr>
          <a:xfrm>
            <a:off x="731520" y="3291840"/>
            <a:ext cx="10725912" cy="45720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2100" b="1" i="0">
                <a:solidFill>
                  <a:srgbClr val="F4A25F"/>
                </a:solidFill>
                <a:latin typeface="Calibri"/>
                <a:ea typeface="Microsoft YaHei"/>
              </a:rPr>
              <a:t>应用案例与未来趋势</a:t>
            </a:r>
          </a:p>
        </p:txBody>
      </p:sp>
      <p:sp>
        <p:nvSpPr>
          <p:cNvPr id="8" name="TextBox 7"/>
          <p:cNvSpPr txBox="1"/>
          <p:nvPr/>
        </p:nvSpPr>
        <p:spPr>
          <a:xfrm>
            <a:off x="1188720" y="4251960"/>
            <a:ext cx="9811512" cy="1463040"/>
          </a:xfrm>
          <a:prstGeom prst="rect">
            <a:avLst/>
          </a:prstGeom>
          <a:noFill/>
        </p:spPr>
        <p:txBody>
          <a:bodyPr wrap="square" anchor="t" lIns="25400" rIns="25400" tIns="25400" bIns="25400">
            <a:spAutoFit/>
          </a:bodyPr>
          <a:lstStyle/>
          <a:p>
            <a:pPr algn="ctr">
              <a:lnSpc>
                <a:spcPct val="145000"/>
              </a:lnSpc>
              <a:spcBef>
                <a:spcPts val="0"/>
              </a:spcBef>
              <a:spcAft>
                <a:spcPts val="200"/>
              </a:spcAft>
            </a:pPr>
            <a:r>
              <a:rPr sz="1400" b="0" i="0">
                <a:solidFill>
                  <a:srgbClr val="BBCCDD"/>
                </a:solidFill>
                <a:latin typeface="Calibri"/>
                <a:ea typeface="Microsoft YaHei"/>
              </a:rPr>
              <a:t>Remote Sensing · Environmental Monitoring · Precision Agriculture
Biomedical Imaging · Industrial Sorting
Miniaturization · Real-time AI · Future trends</a:t>
            </a:r>
          </a:p>
        </p:txBody>
      </p:sp>
      <p:sp>
        <p:nvSpPr>
          <p:cNvPr id="9" name="TextBox 8"/>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45 / 63</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Application 1 · Remote Sensing</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4 · Applications &amp; Future Trends</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46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Shaw &amp; Burke, 2003</a:t>
            </a:r>
          </a:p>
        </p:txBody>
      </p:sp>
      <p:sp>
        <p:nvSpPr>
          <p:cNvPr id="9" name="Rectangle 8"/>
          <p:cNvSpPr/>
          <p:nvPr/>
        </p:nvSpPr>
        <p:spPr>
          <a:xfrm>
            <a:off x="457200" y="1325880"/>
            <a:ext cx="6583680" cy="21945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109728" cy="2194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1463040"/>
            <a:ext cx="6172200" cy="19202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400" b="1" i="0">
                <a:solidFill>
                  <a:srgbClr val="1B2A4A"/>
                </a:solidFill>
                <a:latin typeface="Calibri"/>
                <a:ea typeface="Microsoft YaHei"/>
              </a:rPr>
              <a:t>Background &amp; Motivation</a:t>
            </a:r>
          </a:p>
          <a:p>
            <a:pPr algn="l">
              <a:lnSpc>
                <a:spcPct val="118000"/>
              </a:lnSpc>
              <a:spcBef>
                <a:spcPts val="400"/>
              </a:spcBef>
              <a:spcAft>
                <a:spcPts val="200"/>
              </a:spcAft>
            </a:pPr>
            <a:r>
              <a:rPr sz="1150" b="0" i="0">
                <a:solidFill>
                  <a:srgbClr val="2D2D2D"/>
                </a:solidFill>
                <a:latin typeface="Calibri"/>
                <a:ea typeface="Microsoft YaHei"/>
              </a:rPr>
              <a:t>Spectral imaging arose as an alternative to high-spatial-resolution, large-aperture satellite imaging systems, using spectral signatures rather than spatial shapes to classify ground cover.</a:t>
            </a:r>
          </a:p>
        </p:txBody>
      </p:sp>
      <p:sp>
        <p:nvSpPr>
          <p:cNvPr id="12" name="Rectangle 11"/>
          <p:cNvSpPr/>
          <p:nvPr/>
        </p:nvSpPr>
        <p:spPr>
          <a:xfrm>
            <a:off x="457200" y="3703320"/>
            <a:ext cx="2212848" cy="155448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3822191"/>
            <a:ext cx="1993392" cy="36576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1800" b="1" i="0">
                <a:solidFill>
                  <a:srgbClr val="FFFFFF"/>
                </a:solidFill>
                <a:latin typeface="Calibri"/>
                <a:ea typeface="Microsoft YaHei"/>
              </a:rPr>
              <a:t>1972</a:t>
            </a:r>
          </a:p>
        </p:txBody>
      </p:sp>
      <p:sp>
        <p:nvSpPr>
          <p:cNvPr id="14" name="TextBox 13"/>
          <p:cNvSpPr txBox="1"/>
          <p:nvPr/>
        </p:nvSpPr>
        <p:spPr>
          <a:xfrm>
            <a:off x="566928" y="4206240"/>
            <a:ext cx="1993392" cy="32004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1200" b="1" i="0">
                <a:solidFill>
                  <a:srgbClr val="FFFFFF"/>
                </a:solidFill>
                <a:latin typeface="Calibri"/>
                <a:ea typeface="Microsoft YaHei"/>
              </a:rPr>
              <a:t>Landsat-1</a:t>
            </a:r>
          </a:p>
        </p:txBody>
      </p:sp>
      <p:sp>
        <p:nvSpPr>
          <p:cNvPr id="15" name="TextBox 14"/>
          <p:cNvSpPr txBox="1"/>
          <p:nvPr/>
        </p:nvSpPr>
        <p:spPr>
          <a:xfrm>
            <a:off x="566928" y="4572000"/>
            <a:ext cx="1993392" cy="640080"/>
          </a:xfrm>
          <a:prstGeom prst="rect">
            <a:avLst/>
          </a:prstGeom>
          <a:noFill/>
        </p:spPr>
        <p:txBody>
          <a:bodyPr wrap="square" anchor="t" lIns="25400" rIns="25400" tIns="25400" bIns="25400">
            <a:spAutoFit/>
          </a:bodyPr>
          <a:lstStyle/>
          <a:p>
            <a:pPr algn="ctr">
              <a:lnSpc>
                <a:spcPct val="108000"/>
              </a:lnSpc>
              <a:spcBef>
                <a:spcPts val="0"/>
              </a:spcBef>
              <a:spcAft>
                <a:spcPts val="200"/>
              </a:spcAft>
            </a:pPr>
            <a:r>
              <a:rPr sz="950" b="0" i="0">
                <a:solidFill>
                  <a:srgbClr val="FFFFFF"/>
                </a:solidFill>
                <a:latin typeface="Calibri"/>
                <a:ea typeface="Microsoft YaHei"/>
              </a:rPr>
              <a:t>First spaceborne multispectral imager</a:t>
            </a:r>
          </a:p>
        </p:txBody>
      </p:sp>
      <p:sp>
        <p:nvSpPr>
          <p:cNvPr id="16" name="Rectangle 15"/>
          <p:cNvSpPr/>
          <p:nvPr/>
        </p:nvSpPr>
        <p:spPr>
          <a:xfrm>
            <a:off x="2752344" y="3703320"/>
            <a:ext cx="2212848" cy="155448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62072" y="3822191"/>
            <a:ext cx="1993392" cy="36576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1800" b="1" i="0">
                <a:solidFill>
                  <a:srgbClr val="FFFFFF"/>
                </a:solidFill>
                <a:latin typeface="Calibri"/>
                <a:ea typeface="Microsoft YaHei"/>
              </a:rPr>
              <a:t>1987</a:t>
            </a:r>
          </a:p>
        </p:txBody>
      </p:sp>
      <p:sp>
        <p:nvSpPr>
          <p:cNvPr id="18" name="TextBox 17"/>
          <p:cNvSpPr txBox="1"/>
          <p:nvPr/>
        </p:nvSpPr>
        <p:spPr>
          <a:xfrm>
            <a:off x="2862072" y="4206240"/>
            <a:ext cx="1993392" cy="32004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1200" b="1" i="0">
                <a:solidFill>
                  <a:srgbClr val="FFFFFF"/>
                </a:solidFill>
                <a:latin typeface="Calibri"/>
                <a:ea typeface="Microsoft YaHei"/>
              </a:rPr>
              <a:t>AVIRIS</a:t>
            </a:r>
          </a:p>
        </p:txBody>
      </p:sp>
      <p:sp>
        <p:nvSpPr>
          <p:cNvPr id="19" name="TextBox 18"/>
          <p:cNvSpPr txBox="1"/>
          <p:nvPr/>
        </p:nvSpPr>
        <p:spPr>
          <a:xfrm>
            <a:off x="2862072" y="4572000"/>
            <a:ext cx="1993392" cy="640080"/>
          </a:xfrm>
          <a:prstGeom prst="rect">
            <a:avLst/>
          </a:prstGeom>
          <a:noFill/>
        </p:spPr>
        <p:txBody>
          <a:bodyPr wrap="square" anchor="t" lIns="25400" rIns="25400" tIns="25400" bIns="25400">
            <a:spAutoFit/>
          </a:bodyPr>
          <a:lstStyle/>
          <a:p>
            <a:pPr algn="ctr">
              <a:lnSpc>
                <a:spcPct val="108000"/>
              </a:lnSpc>
              <a:spcBef>
                <a:spcPts val="0"/>
              </a:spcBef>
              <a:spcAft>
                <a:spcPts val="200"/>
              </a:spcAft>
            </a:pPr>
            <a:r>
              <a:rPr sz="950" b="0" i="0">
                <a:solidFill>
                  <a:srgbClr val="FFFFFF"/>
                </a:solidFill>
                <a:latin typeface="Calibri"/>
                <a:ea typeface="Microsoft YaHei"/>
              </a:rPr>
              <a:t>First airborne hyperspectral imager (full solar-reflective)</a:t>
            </a:r>
          </a:p>
        </p:txBody>
      </p:sp>
      <p:sp>
        <p:nvSpPr>
          <p:cNvPr id="20" name="Rectangle 19"/>
          <p:cNvSpPr/>
          <p:nvPr/>
        </p:nvSpPr>
        <p:spPr>
          <a:xfrm>
            <a:off x="5047488" y="3703320"/>
            <a:ext cx="2212848" cy="1554480"/>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6" y="3822191"/>
            <a:ext cx="1993392" cy="36576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1800" b="1" i="0">
                <a:solidFill>
                  <a:srgbClr val="FFFFFF"/>
                </a:solidFill>
                <a:latin typeface="Calibri"/>
                <a:ea typeface="Microsoft YaHei"/>
              </a:rPr>
              <a:t>2000</a:t>
            </a:r>
          </a:p>
        </p:txBody>
      </p:sp>
      <p:sp>
        <p:nvSpPr>
          <p:cNvPr id="22" name="TextBox 21"/>
          <p:cNvSpPr txBox="1"/>
          <p:nvPr/>
        </p:nvSpPr>
        <p:spPr>
          <a:xfrm>
            <a:off x="5157216" y="4206240"/>
            <a:ext cx="1993392" cy="32004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1200" b="1" i="0">
                <a:solidFill>
                  <a:srgbClr val="FFFFFF"/>
                </a:solidFill>
                <a:latin typeface="Calibri"/>
                <a:ea typeface="Microsoft YaHei"/>
              </a:rPr>
              <a:t>Hyperion</a:t>
            </a:r>
          </a:p>
        </p:txBody>
      </p:sp>
      <p:sp>
        <p:nvSpPr>
          <p:cNvPr id="23" name="TextBox 22"/>
          <p:cNvSpPr txBox="1"/>
          <p:nvPr/>
        </p:nvSpPr>
        <p:spPr>
          <a:xfrm>
            <a:off x="5157216" y="4572000"/>
            <a:ext cx="1993392" cy="640080"/>
          </a:xfrm>
          <a:prstGeom prst="rect">
            <a:avLst/>
          </a:prstGeom>
          <a:noFill/>
        </p:spPr>
        <p:txBody>
          <a:bodyPr wrap="square" anchor="t" lIns="25400" rIns="25400" tIns="25400" bIns="25400">
            <a:spAutoFit/>
          </a:bodyPr>
          <a:lstStyle/>
          <a:p>
            <a:pPr algn="ctr">
              <a:lnSpc>
                <a:spcPct val="108000"/>
              </a:lnSpc>
              <a:spcBef>
                <a:spcPts val="0"/>
              </a:spcBef>
              <a:spcAft>
                <a:spcPts val="200"/>
              </a:spcAft>
            </a:pPr>
            <a:r>
              <a:rPr sz="950" b="0" i="0">
                <a:solidFill>
                  <a:srgbClr val="FFFFFF"/>
                </a:solidFill>
                <a:latin typeface="Calibri"/>
                <a:ea typeface="Microsoft YaHei"/>
              </a:rPr>
              <a:t>First spaceborne HSI — 220 bands, 30 m GSD</a:t>
            </a:r>
          </a:p>
        </p:txBody>
      </p:sp>
      <p:sp>
        <p:nvSpPr>
          <p:cNvPr id="24" name="Rectangle 23"/>
          <p:cNvSpPr/>
          <p:nvPr/>
        </p:nvSpPr>
        <p:spPr>
          <a:xfrm>
            <a:off x="7269480" y="1325880"/>
            <a:ext cx="4462272" cy="48920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69480" y="1325880"/>
            <a:ext cx="4462272" cy="6400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79" y="1508760"/>
            <a:ext cx="402336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0096C7"/>
                </a:solidFill>
                <a:latin typeface="Calibri"/>
                <a:ea typeface="Microsoft YaHei"/>
              </a:rPr>
              <a:t>Three Major Application Categories</a:t>
            </a:r>
          </a:p>
        </p:txBody>
      </p:sp>
      <p:sp>
        <p:nvSpPr>
          <p:cNvPr id="27" name="TextBox 26"/>
          <p:cNvSpPr txBox="1"/>
          <p:nvPr/>
        </p:nvSpPr>
        <p:spPr>
          <a:xfrm>
            <a:off x="7498079" y="1965960"/>
            <a:ext cx="4023360" cy="3200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00" b="1" i="0">
                <a:solidFill>
                  <a:srgbClr val="1B2A4A"/>
                </a:solidFill>
                <a:latin typeface="Calibri"/>
                <a:ea typeface="Microsoft YaHei"/>
              </a:rPr>
              <a:t>Anomaly Detection</a:t>
            </a:r>
          </a:p>
        </p:txBody>
      </p:sp>
      <p:sp>
        <p:nvSpPr>
          <p:cNvPr id="28" name="TextBox 27"/>
          <p:cNvSpPr txBox="1"/>
          <p:nvPr/>
        </p:nvSpPr>
        <p:spPr>
          <a:xfrm>
            <a:off x="7498079" y="2313432"/>
            <a:ext cx="4023360" cy="640080"/>
          </a:xfrm>
          <a:prstGeom prst="rect">
            <a:avLst/>
          </a:prstGeom>
          <a:noFill/>
        </p:spPr>
        <p:txBody>
          <a:bodyPr wrap="square" anchor="t" lIns="25400" rIns="25400" tIns="25400" bIns="25400">
            <a:spAutoFit/>
          </a:bodyPr>
          <a:lstStyle/>
          <a:p>
            <a:pPr algn="l">
              <a:lnSpc>
                <a:spcPct val="112000"/>
              </a:lnSpc>
              <a:spcBef>
                <a:spcPts val="0"/>
              </a:spcBef>
              <a:spcAft>
                <a:spcPts val="200"/>
              </a:spcAft>
            </a:pPr>
            <a:r>
              <a:rPr sz="1019" b="0" i="0">
                <a:solidFill>
                  <a:srgbClr val="2D2D2D"/>
                </a:solidFill>
                <a:latin typeface="Calibri"/>
                <a:ea typeface="Microsoft YaHei"/>
              </a:rPr>
              <a:t>isolate uncommon features — e.g. man-made materials in natural backgrounds</a:t>
            </a:r>
          </a:p>
        </p:txBody>
      </p:sp>
      <p:sp>
        <p:nvSpPr>
          <p:cNvPr id="29" name="TextBox 28"/>
          <p:cNvSpPr txBox="1"/>
          <p:nvPr/>
        </p:nvSpPr>
        <p:spPr>
          <a:xfrm>
            <a:off x="7498079" y="3017520"/>
            <a:ext cx="4023360" cy="3200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00" b="1" i="0">
                <a:solidFill>
                  <a:srgbClr val="1B2A4A"/>
                </a:solidFill>
                <a:latin typeface="Calibri"/>
                <a:ea typeface="Microsoft YaHei"/>
              </a:rPr>
              <a:t>Target Recognition</a:t>
            </a:r>
          </a:p>
        </p:txBody>
      </p:sp>
      <p:sp>
        <p:nvSpPr>
          <p:cNvPr id="30" name="TextBox 29"/>
          <p:cNvSpPr txBox="1"/>
          <p:nvPr/>
        </p:nvSpPr>
        <p:spPr>
          <a:xfrm>
            <a:off x="7498079" y="3364991"/>
            <a:ext cx="4023360" cy="640080"/>
          </a:xfrm>
          <a:prstGeom prst="rect">
            <a:avLst/>
          </a:prstGeom>
          <a:noFill/>
        </p:spPr>
        <p:txBody>
          <a:bodyPr wrap="square" anchor="t" lIns="25400" rIns="25400" tIns="25400" bIns="25400">
            <a:spAutoFit/>
          </a:bodyPr>
          <a:lstStyle/>
          <a:p>
            <a:pPr algn="l">
              <a:lnSpc>
                <a:spcPct val="112000"/>
              </a:lnSpc>
              <a:spcBef>
                <a:spcPts val="0"/>
              </a:spcBef>
              <a:spcAft>
                <a:spcPts val="200"/>
              </a:spcAft>
            </a:pPr>
            <a:r>
              <a:rPr sz="1019" b="0" i="0">
                <a:solidFill>
                  <a:srgbClr val="2D2D2D"/>
                </a:solidFill>
                <a:latin typeface="Calibri"/>
                <a:ea typeface="Microsoft YaHei"/>
              </a:rPr>
              <a:t>identify specific materials using a priori spectral libraries</a:t>
            </a:r>
          </a:p>
        </p:txBody>
      </p:sp>
      <p:sp>
        <p:nvSpPr>
          <p:cNvPr id="31" name="TextBox 30"/>
          <p:cNvSpPr txBox="1"/>
          <p:nvPr/>
        </p:nvSpPr>
        <p:spPr>
          <a:xfrm>
            <a:off x="7498079" y="4069079"/>
            <a:ext cx="4023360" cy="3200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00" b="1" i="0">
                <a:solidFill>
                  <a:srgbClr val="1B2A4A"/>
                </a:solidFill>
                <a:latin typeface="Calibri"/>
                <a:ea typeface="Microsoft YaHei"/>
              </a:rPr>
              <a:t>Background Characterization</a:t>
            </a:r>
          </a:p>
        </p:txBody>
      </p:sp>
      <p:sp>
        <p:nvSpPr>
          <p:cNvPr id="32" name="TextBox 31"/>
          <p:cNvSpPr txBox="1"/>
          <p:nvPr/>
        </p:nvSpPr>
        <p:spPr>
          <a:xfrm>
            <a:off x="7498079" y="4416551"/>
            <a:ext cx="4023360" cy="640080"/>
          </a:xfrm>
          <a:prstGeom prst="rect">
            <a:avLst/>
          </a:prstGeom>
          <a:noFill/>
        </p:spPr>
        <p:txBody>
          <a:bodyPr wrap="square" anchor="t" lIns="25400" rIns="25400" tIns="25400" bIns="25400">
            <a:spAutoFit/>
          </a:bodyPr>
          <a:lstStyle/>
          <a:p>
            <a:pPr algn="l">
              <a:lnSpc>
                <a:spcPct val="112000"/>
              </a:lnSpc>
              <a:spcBef>
                <a:spcPts val="0"/>
              </a:spcBef>
              <a:spcAft>
                <a:spcPts val="200"/>
              </a:spcAft>
            </a:pPr>
            <a:r>
              <a:rPr sz="1019" b="0" i="0">
                <a:solidFill>
                  <a:srgbClr val="2D2D2D"/>
                </a:solidFill>
                <a:latin typeface="Calibri"/>
                <a:ea typeface="Microsoft YaHei"/>
              </a:rPr>
              <a:t>holistic scene analysis: land, ocean, and atmosphere</a:t>
            </a:r>
          </a:p>
        </p:txBody>
      </p:sp>
      <p:sp>
        <p:nvSpPr>
          <p:cNvPr id="33" name="TextBox 32"/>
          <p:cNvSpPr txBox="1"/>
          <p:nvPr/>
        </p:nvSpPr>
        <p:spPr>
          <a:xfrm>
            <a:off x="7498079" y="5852160"/>
            <a:ext cx="402336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1" i="1">
                <a:solidFill>
                  <a:srgbClr val="5A5A5A"/>
                </a:solidFill>
                <a:latin typeface="Calibri"/>
                <a:ea typeface="Microsoft YaHei"/>
              </a:rPr>
              <a:t>Shaw &amp; Burke, 2003, pp.1, 9, 13–14, 19–20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Application 2 · Environmental Monitoring</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4 · Applications &amp; Future Trends</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47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Tolentino et al., 2025</a:t>
            </a:r>
          </a:p>
        </p:txBody>
      </p:sp>
      <p:sp>
        <p:nvSpPr>
          <p:cNvPr id="9" name="Rectangle 8"/>
          <p:cNvSpPr/>
          <p:nvPr/>
        </p:nvSpPr>
        <p:spPr>
          <a:xfrm>
            <a:off x="457200" y="1325880"/>
            <a:ext cx="5532120" cy="18288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109728" cy="18288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1463040"/>
            <a:ext cx="5166360" cy="160020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300" b="1" i="0">
                <a:solidFill>
                  <a:srgbClr val="1B2A4A"/>
                </a:solidFill>
                <a:latin typeface="Calibri"/>
                <a:ea typeface="Microsoft YaHei"/>
              </a:rPr>
              <a:t>Case: Mary Kathleen Uranium Legacy Mine, Australia</a:t>
            </a:r>
          </a:p>
          <a:p>
            <a:pPr algn="l">
              <a:lnSpc>
                <a:spcPct val="116000"/>
              </a:lnSpc>
              <a:spcBef>
                <a:spcPts val="400"/>
              </a:spcBef>
              <a:spcAft>
                <a:spcPts val="200"/>
              </a:spcAft>
            </a:pPr>
            <a:r>
              <a:rPr sz="1080" b="0" i="0">
                <a:solidFill>
                  <a:srgbClr val="2D2D2D"/>
                </a:solidFill>
                <a:latin typeface="Calibri"/>
                <a:ea typeface="Microsoft YaHei"/>
              </a:rPr>
              <a:t>Tailings storage facility (~1.3 km², 5.5–7.5 Mt tailings) with acid mine drainage and heavy-metal / radionuclide migration risks.</a:t>
            </a:r>
          </a:p>
        </p:txBody>
      </p:sp>
      <p:sp>
        <p:nvSpPr>
          <p:cNvPr id="12" name="Rectangle 11"/>
          <p:cNvSpPr/>
          <p:nvPr/>
        </p:nvSpPr>
        <p:spPr>
          <a:xfrm>
            <a:off x="6199632" y="1325880"/>
            <a:ext cx="5532120" cy="18288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1325880"/>
            <a:ext cx="109728" cy="1828800"/>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1463040"/>
            <a:ext cx="5166360" cy="160020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300" b="1" i="0">
                <a:solidFill>
                  <a:srgbClr val="F4A25F"/>
                </a:solidFill>
                <a:latin typeface="Calibri"/>
                <a:ea typeface="Microsoft YaHei"/>
              </a:rPr>
              <a:t>Drone-Based HSI System</a:t>
            </a:r>
          </a:p>
          <a:p>
            <a:pPr algn="l">
              <a:lnSpc>
                <a:spcPct val="114000"/>
              </a:lnSpc>
              <a:spcBef>
                <a:spcPts val="400"/>
              </a:spcBef>
              <a:spcAft>
                <a:spcPts val="200"/>
              </a:spcAft>
            </a:pPr>
            <a:r>
              <a:rPr sz="1050" b="0" i="0">
                <a:solidFill>
                  <a:srgbClr val="2D2D2D"/>
                </a:solidFill>
                <a:latin typeface="Calibri"/>
                <a:ea typeface="Microsoft YaHei"/>
              </a:rPr>
              <a:t>Sensor: HySpex Mjolnir VS-620 · VNIR–SWIR 400–2500 nm, 410 bands · Spatial resolution 6–10 cm/pixel (120 m altitude). Centimetre GSD reduces mixed-pixel effects.</a:t>
            </a:r>
          </a:p>
        </p:txBody>
      </p:sp>
      <p:sp>
        <p:nvSpPr>
          <p:cNvPr id="15" name="Rectangle 14"/>
          <p:cNvSpPr/>
          <p:nvPr/>
        </p:nvSpPr>
        <p:spPr>
          <a:xfrm>
            <a:off x="457200" y="3310128"/>
            <a:ext cx="5532120" cy="14173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3310128"/>
            <a:ext cx="5532120" cy="6400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456432"/>
            <a:ext cx="5074920" cy="11887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0096C7"/>
                </a:solidFill>
                <a:latin typeface="Calibri"/>
                <a:ea typeface="Microsoft YaHei"/>
              </a:rPr>
              <a:t>Processing Methods</a:t>
            </a:r>
          </a:p>
          <a:p>
            <a:pPr algn="l">
              <a:lnSpc>
                <a:spcPct val="115000"/>
              </a:lnSpc>
              <a:spcBef>
                <a:spcPts val="300"/>
              </a:spcBef>
              <a:spcAft>
                <a:spcPts val="200"/>
              </a:spcAft>
            </a:pPr>
            <a:r>
              <a:rPr sz="1050" b="0" i="0">
                <a:solidFill>
                  <a:srgbClr val="2D2D2D"/>
                </a:solidFill>
                <a:latin typeface="Calibri"/>
                <a:ea typeface="Microsoft YaHei"/>
              </a:rPr>
              <a:t>•  SAM (Spectral Angle Mapper) — data-driven; classifies by spectral angle to endmembers</a:t>
            </a:r>
          </a:p>
          <a:p>
            <a:pPr algn="l">
              <a:lnSpc>
                <a:spcPct val="115000"/>
              </a:lnSpc>
              <a:spcBef>
                <a:spcPts val="200"/>
              </a:spcBef>
              <a:spcAft>
                <a:spcPts val="200"/>
              </a:spcAft>
            </a:pPr>
            <a:r>
              <a:rPr sz="1050" b="0" i="0">
                <a:solidFill>
                  <a:srgbClr val="2D2D2D"/>
                </a:solidFill>
                <a:latin typeface="Calibri"/>
                <a:ea typeface="Microsoft YaHei"/>
              </a:rPr>
              <a:t>•  BR (Band Ratios) — knowledge-driven; reactivity &amp; clay-mixture indices</a:t>
            </a:r>
          </a:p>
        </p:txBody>
      </p:sp>
      <p:sp>
        <p:nvSpPr>
          <p:cNvPr id="18" name="Rectangle 17"/>
          <p:cNvSpPr/>
          <p:nvPr/>
        </p:nvSpPr>
        <p:spPr>
          <a:xfrm>
            <a:off x="6199632" y="3310128"/>
            <a:ext cx="5532120" cy="14173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9632" y="3310128"/>
            <a:ext cx="5532120" cy="64008"/>
          </a:xfrm>
          <a:prstGeom prst="rect">
            <a:avLst/>
          </a:prstGeom>
          <a:solidFill>
            <a:srgbClr val="C05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28232" y="3456432"/>
            <a:ext cx="5074920" cy="11887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C05050"/>
                </a:solidFill>
                <a:latin typeface="Calibri"/>
                <a:ea typeface="Microsoft YaHei"/>
              </a:rPr>
              <a:t>Key Results</a:t>
            </a:r>
          </a:p>
          <a:p>
            <a:pPr algn="l">
              <a:lnSpc>
                <a:spcPct val="110000"/>
              </a:lnSpc>
              <a:spcBef>
                <a:spcPts val="300"/>
              </a:spcBef>
              <a:spcAft>
                <a:spcPts val="200"/>
              </a:spcAft>
            </a:pPr>
            <a:r>
              <a:rPr sz="1019" b="0" i="0">
                <a:solidFill>
                  <a:srgbClr val="2D2D2D"/>
                </a:solidFill>
                <a:latin typeface="Calibri"/>
                <a:ea typeface="Microsoft YaHei"/>
              </a:rPr>
              <a:t>•  SAM differentiated mineral endmembers (gypsum, chlorite, clay) in visually uniform areas</a:t>
            </a:r>
          </a:p>
          <a:p>
            <a:pPr algn="l">
              <a:lnSpc>
                <a:spcPct val="110000"/>
              </a:lnSpc>
              <a:spcBef>
                <a:spcPts val="200"/>
              </a:spcBef>
              <a:spcAft>
                <a:spcPts val="200"/>
              </a:spcAft>
            </a:pPr>
            <a:r>
              <a:rPr sz="1019" b="0" i="0">
                <a:solidFill>
                  <a:srgbClr val="2D2D2D"/>
                </a:solidFill>
                <a:latin typeface="Calibri"/>
                <a:ea typeface="Microsoft YaHei"/>
              </a:rPr>
              <a:t>•  Mapped evaporite salt pathways; identified EP &amp; tailings-barrier degradation points</a:t>
            </a:r>
          </a:p>
        </p:txBody>
      </p:sp>
      <p:sp>
        <p:nvSpPr>
          <p:cNvPr id="21" name="Rectangle 20"/>
          <p:cNvSpPr/>
          <p:nvPr/>
        </p:nvSpPr>
        <p:spPr>
          <a:xfrm>
            <a:off x="457200" y="4892040"/>
            <a:ext cx="11274552" cy="13258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4892040"/>
            <a:ext cx="109728" cy="132588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3232" y="5020055"/>
            <a:ext cx="10817352" cy="1088136"/>
          </a:xfrm>
          <a:prstGeom prst="rect">
            <a:avLst/>
          </a:prstGeom>
          <a:noFill/>
        </p:spPr>
        <p:txBody>
          <a:bodyPr wrap="square" anchor="t" lIns="25400" rIns="25400" tIns="25400" bIns="25400">
            <a:spAutoFit/>
          </a:bodyPr>
          <a:lstStyle/>
          <a:p>
            <a:pPr algn="l">
              <a:lnSpc>
                <a:spcPct val="114000"/>
              </a:lnSpc>
              <a:spcBef>
                <a:spcPts val="0"/>
              </a:spcBef>
              <a:spcAft>
                <a:spcPts val="300"/>
              </a:spcAft>
            </a:pPr>
            <a:r>
              <a:rPr sz="1050" b="0" i="1">
                <a:solidFill>
                  <a:srgbClr val="404040"/>
                </a:solidFill>
                <a:latin typeface="Calibri"/>
                <a:ea typeface="Microsoft YaHei"/>
              </a:rPr>
              <a:t>“The results indicate that drone-based HSI can capture and distinguish complex surface trends, demonstrating the technology's potential to enhance the assessment and monitoring of environmental conditions at a mine site.”</a:t>
            </a:r>
          </a:p>
          <a:p>
            <a:pPr algn="r">
              <a:lnSpc>
                <a:spcPct val="105000"/>
              </a:lnSpc>
              <a:spcBef>
                <a:spcPts val="200"/>
              </a:spcBef>
              <a:spcAft>
                <a:spcPts val="200"/>
              </a:spcAft>
            </a:pPr>
            <a:r>
              <a:rPr sz="950" b="1" i="0">
                <a:solidFill>
                  <a:srgbClr val="0096C7"/>
                </a:solidFill>
                <a:latin typeface="Calibri"/>
                <a:ea typeface="Microsoft YaHei"/>
              </a:rPr>
              <a:t>— Tolentino et al., 2025, Drones 9:313</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Figures from the Literature · Drone HSI at the Uranium Mine Site</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4 · Environmental Monitoring</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48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Tolentino et al., 2025</a:t>
            </a:r>
          </a:p>
        </p:txBody>
      </p:sp>
      <p:sp>
        <p:nvSpPr>
          <p:cNvPr id="9" name="Rectangle 8"/>
          <p:cNvSpPr/>
          <p:nvPr/>
        </p:nvSpPr>
        <p:spPr>
          <a:xfrm>
            <a:off x="411480" y="1371600"/>
            <a:ext cx="5577840" cy="406908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_uas_drone.png"/>
          <p:cNvPicPr>
            <a:picLocks noChangeAspect="1"/>
          </p:cNvPicPr>
          <p:nvPr/>
        </p:nvPicPr>
        <p:blipFill>
          <a:blip r:embed="rId2"/>
          <a:stretch>
            <a:fillRect/>
          </a:stretch>
        </p:blipFill>
        <p:spPr>
          <a:xfrm>
            <a:off x="502920" y="1981946"/>
            <a:ext cx="5394959" cy="2848387"/>
          </a:xfrm>
          <a:prstGeom prst="rect">
            <a:avLst/>
          </a:prstGeom>
        </p:spPr>
      </p:pic>
      <p:sp>
        <p:nvSpPr>
          <p:cNvPr id="11" name="TextBox 10"/>
          <p:cNvSpPr txBox="1"/>
          <p:nvPr/>
        </p:nvSpPr>
        <p:spPr>
          <a:xfrm>
            <a:off x="411480" y="5468112"/>
            <a:ext cx="5577840" cy="777240"/>
          </a:xfrm>
          <a:prstGeom prst="rect">
            <a:avLst/>
          </a:prstGeom>
          <a:noFill/>
        </p:spPr>
        <p:txBody>
          <a:bodyPr wrap="square" anchor="t" lIns="25400" rIns="25400" tIns="25400" bIns="25400">
            <a:spAutoFit/>
          </a:bodyPr>
          <a:lstStyle/>
          <a:p>
            <a:pPr algn="ctr">
              <a:lnSpc>
                <a:spcPct val="108000"/>
              </a:lnSpc>
              <a:spcBef>
                <a:spcPts val="0"/>
              </a:spcBef>
              <a:spcAft>
                <a:spcPts val="200"/>
              </a:spcAft>
            </a:pPr>
            <a:r>
              <a:rPr sz="930" b="0" i="1">
                <a:solidFill>
                  <a:srgbClr val="5A5A5A"/>
                </a:solidFill>
                <a:latin typeface="Calibri"/>
                <a:ea typeface="Microsoft YaHei"/>
              </a:rPr>
              <a:t>Figure 3. The hyperspectral UAS: BFD SE-8 octocopter carrying a HySpex Mjolnir VS-620 camera and Velodyne LiDAR on a Gremsy gimbal. (Tolentino et al., 2025)</a:t>
            </a:r>
          </a:p>
        </p:txBody>
      </p:sp>
      <p:sp>
        <p:nvSpPr>
          <p:cNvPr id="12" name="Rectangle 11"/>
          <p:cNvSpPr/>
          <p:nvPr/>
        </p:nvSpPr>
        <p:spPr>
          <a:xfrm>
            <a:off x="6172200" y="1371600"/>
            <a:ext cx="5577840" cy="406908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fig_reactivity_map.png"/>
          <p:cNvPicPr>
            <a:picLocks noChangeAspect="1"/>
          </p:cNvPicPr>
          <p:nvPr/>
        </p:nvPicPr>
        <p:blipFill>
          <a:blip r:embed="rId3"/>
          <a:stretch>
            <a:fillRect/>
          </a:stretch>
        </p:blipFill>
        <p:spPr>
          <a:xfrm>
            <a:off x="6263640" y="2042140"/>
            <a:ext cx="5394959" cy="2727999"/>
          </a:xfrm>
          <a:prstGeom prst="rect">
            <a:avLst/>
          </a:prstGeom>
        </p:spPr>
      </p:pic>
      <p:sp>
        <p:nvSpPr>
          <p:cNvPr id="14" name="TextBox 13"/>
          <p:cNvSpPr txBox="1"/>
          <p:nvPr/>
        </p:nvSpPr>
        <p:spPr>
          <a:xfrm>
            <a:off x="6172200" y="5468112"/>
            <a:ext cx="5577840" cy="777240"/>
          </a:xfrm>
          <a:prstGeom prst="rect">
            <a:avLst/>
          </a:prstGeom>
          <a:noFill/>
        </p:spPr>
        <p:txBody>
          <a:bodyPr wrap="square" anchor="t" lIns="25400" rIns="25400" tIns="25400" bIns="25400">
            <a:spAutoFit/>
          </a:bodyPr>
          <a:lstStyle/>
          <a:p>
            <a:pPr algn="ctr">
              <a:lnSpc>
                <a:spcPct val="108000"/>
              </a:lnSpc>
              <a:spcBef>
                <a:spcPts val="0"/>
              </a:spcBef>
              <a:spcAft>
                <a:spcPts val="200"/>
              </a:spcAft>
            </a:pPr>
            <a:r>
              <a:rPr sz="930" b="0" i="1">
                <a:solidFill>
                  <a:srgbClr val="5A5A5A"/>
                </a:solidFill>
                <a:latin typeface="Calibri"/>
                <a:ea typeface="Microsoft YaHei"/>
              </a:rPr>
              <a:t>Figure 11. Distinct spectral responses of reactive (red) and non-reactive (blue) surfaces captured by the “Reactivity” band ratio over a section of Site 2, with the resulting classification map. (Tolentino et al., 2025)</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Application 3 · Precision Agriculture</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4 · Applications &amp; Future Trends</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49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Raja et al., 2025</a:t>
            </a:r>
          </a:p>
        </p:txBody>
      </p:sp>
      <p:sp>
        <p:nvSpPr>
          <p:cNvPr id="9" name="Rectangle 8"/>
          <p:cNvSpPr/>
          <p:nvPr/>
        </p:nvSpPr>
        <p:spPr>
          <a:xfrm>
            <a:off x="457200" y="1325880"/>
            <a:ext cx="11274552" cy="15544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109728" cy="155448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1463040"/>
            <a:ext cx="10881360" cy="137160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400" b="1" i="0">
                <a:solidFill>
                  <a:srgbClr val="1B2A4A"/>
                </a:solidFill>
                <a:latin typeface="Calibri"/>
                <a:ea typeface="Microsoft YaHei"/>
              </a:rPr>
              <a:t>Challenge: Crop–Weed Differentiation in High-Density Fields</a:t>
            </a:r>
          </a:p>
          <a:p>
            <a:pPr algn="l">
              <a:lnSpc>
                <a:spcPct val="114000"/>
              </a:lnSpc>
              <a:spcBef>
                <a:spcPts val="400"/>
              </a:spcBef>
              <a:spcAft>
                <a:spcPts val="200"/>
              </a:spcAft>
            </a:pPr>
            <a:r>
              <a:rPr sz="1050" b="0" i="0">
                <a:solidFill>
                  <a:srgbClr val="2D2D2D"/>
                </a:solidFill>
                <a:latin typeface="Calibri"/>
                <a:ea typeface="Microsoft YaHei"/>
              </a:rPr>
              <a:t>In organic farming, crop and weed foliage intertwine, defeating conventional classifiers — especially in celery. Innovation: Crop Signalling — pre-transplantation treatment of celery seedlings with Rhodamine B (Rh-B), a fluorescent compound producing machine-readable signals. Imaging: photometric monochrome camera + green LEDs (523 nm) + bandpass filter (575/25 nm); conveyor speed 2.4 km/h mimics tractor field speed.</a:t>
            </a:r>
          </a:p>
        </p:txBody>
      </p:sp>
      <p:sp>
        <p:nvSpPr>
          <p:cNvPr id="12" name="Rectangle 11"/>
          <p:cNvSpPr/>
          <p:nvPr/>
        </p:nvSpPr>
        <p:spPr>
          <a:xfrm>
            <a:off x="457200" y="3063240"/>
            <a:ext cx="3639312" cy="237744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063240"/>
            <a:ext cx="3639312" cy="109728"/>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291840"/>
            <a:ext cx="3639312" cy="82296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3400" b="1" i="0">
                <a:solidFill>
                  <a:srgbClr val="2E7D5B"/>
                </a:solidFill>
                <a:latin typeface="Calibri"/>
                <a:ea typeface="Microsoft YaHei"/>
              </a:rPr>
              <a:t>100%</a:t>
            </a:r>
          </a:p>
        </p:txBody>
      </p:sp>
      <p:sp>
        <p:nvSpPr>
          <p:cNvPr id="15" name="TextBox 14"/>
          <p:cNvSpPr txBox="1"/>
          <p:nvPr/>
        </p:nvSpPr>
        <p:spPr>
          <a:xfrm>
            <a:off x="640080" y="4160520"/>
            <a:ext cx="3273552" cy="36576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1300" b="1" i="0">
                <a:solidFill>
                  <a:srgbClr val="1B2A4A"/>
                </a:solidFill>
                <a:latin typeface="Calibri"/>
                <a:ea typeface="Microsoft YaHei"/>
              </a:rPr>
              <a:t>Crop–Weed Accuracy</a:t>
            </a:r>
          </a:p>
        </p:txBody>
      </p:sp>
      <p:sp>
        <p:nvSpPr>
          <p:cNvPr id="16" name="TextBox 15"/>
          <p:cNvSpPr txBox="1"/>
          <p:nvPr/>
        </p:nvSpPr>
        <p:spPr>
          <a:xfrm>
            <a:off x="640080" y="4526280"/>
            <a:ext cx="3273552" cy="777240"/>
          </a:xfrm>
          <a:prstGeom prst="rect">
            <a:avLst/>
          </a:prstGeom>
          <a:noFill/>
        </p:spPr>
        <p:txBody>
          <a:bodyPr wrap="square" anchor="t" lIns="25400" rIns="25400" tIns="25400" bIns="25400">
            <a:spAutoFit/>
          </a:bodyPr>
          <a:lstStyle/>
          <a:p>
            <a:pPr algn="ctr">
              <a:lnSpc>
                <a:spcPct val="112000"/>
              </a:lnSpc>
              <a:spcBef>
                <a:spcPts val="0"/>
              </a:spcBef>
              <a:spcAft>
                <a:spcPts val="200"/>
              </a:spcAft>
            </a:pPr>
            <a:r>
              <a:rPr sz="1050" b="0" i="0">
                <a:solidFill>
                  <a:srgbClr val="5A5A5A"/>
                </a:solidFill>
                <a:latin typeface="Calibri"/>
                <a:ea typeface="Microsoft YaHei"/>
              </a:rPr>
              <a:t>No false positives across 313 images</a:t>
            </a:r>
          </a:p>
        </p:txBody>
      </p:sp>
      <p:sp>
        <p:nvSpPr>
          <p:cNvPr id="17" name="Rectangle 16"/>
          <p:cNvSpPr/>
          <p:nvPr/>
        </p:nvSpPr>
        <p:spPr>
          <a:xfrm>
            <a:off x="4261104" y="3063240"/>
            <a:ext cx="3639312" cy="237744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61104" y="3063240"/>
            <a:ext cx="3639312" cy="10972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61104" y="3291840"/>
            <a:ext cx="3639312" cy="82296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3400" b="1" i="0">
                <a:solidFill>
                  <a:srgbClr val="0096C7"/>
                </a:solidFill>
                <a:latin typeface="Calibri"/>
                <a:ea typeface="Microsoft YaHei"/>
              </a:rPr>
              <a:t>99.66%</a:t>
            </a:r>
          </a:p>
        </p:txBody>
      </p:sp>
      <p:sp>
        <p:nvSpPr>
          <p:cNvPr id="20" name="TextBox 19"/>
          <p:cNvSpPr txBox="1"/>
          <p:nvPr/>
        </p:nvSpPr>
        <p:spPr>
          <a:xfrm>
            <a:off x="4443984" y="4160520"/>
            <a:ext cx="3273552" cy="36576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1300" b="1" i="0">
                <a:solidFill>
                  <a:srgbClr val="1B2A4A"/>
                </a:solidFill>
                <a:latin typeface="Calibri"/>
                <a:ea typeface="Microsoft YaHei"/>
              </a:rPr>
              <a:t>Stem Location Precision</a:t>
            </a:r>
          </a:p>
        </p:txBody>
      </p:sp>
      <p:sp>
        <p:nvSpPr>
          <p:cNvPr id="21" name="TextBox 20"/>
          <p:cNvSpPr txBox="1"/>
          <p:nvPr/>
        </p:nvSpPr>
        <p:spPr>
          <a:xfrm>
            <a:off x="4443984" y="4526280"/>
            <a:ext cx="3273552" cy="777240"/>
          </a:xfrm>
          <a:prstGeom prst="rect">
            <a:avLst/>
          </a:prstGeom>
          <a:noFill/>
        </p:spPr>
        <p:txBody>
          <a:bodyPr wrap="square" anchor="t" lIns="25400" rIns="25400" tIns="25400" bIns="25400">
            <a:spAutoFit/>
          </a:bodyPr>
          <a:lstStyle/>
          <a:p>
            <a:pPr algn="ctr">
              <a:lnSpc>
                <a:spcPct val="112000"/>
              </a:lnSpc>
              <a:spcBef>
                <a:spcPts val="0"/>
              </a:spcBef>
              <a:spcAft>
                <a:spcPts val="200"/>
              </a:spcAft>
            </a:pPr>
            <a:r>
              <a:rPr sz="1050" b="0" i="0">
                <a:solidFill>
                  <a:srgbClr val="5A5A5A"/>
                </a:solidFill>
                <a:latin typeface="Calibri"/>
                <a:ea typeface="Microsoft YaHei"/>
              </a:rPr>
              <a:t>Avg. error 3.58 mm</a:t>
            </a:r>
          </a:p>
        </p:txBody>
      </p:sp>
      <p:sp>
        <p:nvSpPr>
          <p:cNvPr id="22" name="Rectangle 21"/>
          <p:cNvSpPr/>
          <p:nvPr/>
        </p:nvSpPr>
        <p:spPr>
          <a:xfrm>
            <a:off x="8065008" y="3063240"/>
            <a:ext cx="3639312" cy="237744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65008" y="3063240"/>
            <a:ext cx="3639312" cy="109728"/>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65008" y="3291840"/>
            <a:ext cx="3639312" cy="82296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3400" b="1" i="0">
                <a:solidFill>
                  <a:srgbClr val="F4A25F"/>
                </a:solidFill>
                <a:latin typeface="Calibri"/>
                <a:ea typeface="Microsoft YaHei"/>
              </a:rPr>
              <a:t>30 ms</a:t>
            </a:r>
          </a:p>
        </p:txBody>
      </p:sp>
      <p:sp>
        <p:nvSpPr>
          <p:cNvPr id="25" name="TextBox 24"/>
          <p:cNvSpPr txBox="1"/>
          <p:nvPr/>
        </p:nvSpPr>
        <p:spPr>
          <a:xfrm>
            <a:off x="8247888" y="4160520"/>
            <a:ext cx="3273552" cy="36576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1300" b="1" i="0">
                <a:solidFill>
                  <a:srgbClr val="1B2A4A"/>
                </a:solidFill>
                <a:latin typeface="Calibri"/>
                <a:ea typeface="Microsoft YaHei"/>
              </a:rPr>
              <a:t>Processing Time / Frame</a:t>
            </a:r>
          </a:p>
        </p:txBody>
      </p:sp>
      <p:sp>
        <p:nvSpPr>
          <p:cNvPr id="26" name="TextBox 25"/>
          <p:cNvSpPr txBox="1"/>
          <p:nvPr/>
        </p:nvSpPr>
        <p:spPr>
          <a:xfrm>
            <a:off x="8247888" y="4526280"/>
            <a:ext cx="3273552" cy="777240"/>
          </a:xfrm>
          <a:prstGeom prst="rect">
            <a:avLst/>
          </a:prstGeom>
          <a:noFill/>
        </p:spPr>
        <p:txBody>
          <a:bodyPr wrap="square" anchor="t" lIns="25400" rIns="25400" tIns="25400" bIns="25400">
            <a:spAutoFit/>
          </a:bodyPr>
          <a:lstStyle/>
          <a:p>
            <a:pPr algn="ctr">
              <a:lnSpc>
                <a:spcPct val="112000"/>
              </a:lnSpc>
              <a:spcBef>
                <a:spcPts val="0"/>
              </a:spcBef>
              <a:spcAft>
                <a:spcPts val="200"/>
              </a:spcAft>
            </a:pPr>
            <a:r>
              <a:rPr sz="1050" b="0" i="0">
                <a:solidFill>
                  <a:srgbClr val="5A5A5A"/>
                </a:solidFill>
                <a:latin typeface="Calibri"/>
                <a:ea typeface="Microsoft YaHei"/>
              </a:rPr>
              <a:t>Enables real-time robotic weeding</a:t>
            </a:r>
          </a:p>
        </p:txBody>
      </p:sp>
      <p:sp>
        <p:nvSpPr>
          <p:cNvPr id="27" name="Rectangle 26"/>
          <p:cNvSpPr/>
          <p:nvPr/>
        </p:nvSpPr>
        <p:spPr>
          <a:xfrm>
            <a:off x="457200" y="5577840"/>
            <a:ext cx="11274552" cy="7315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5577840"/>
            <a:ext cx="109728" cy="73152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3232" y="5705855"/>
            <a:ext cx="10817352" cy="493776"/>
          </a:xfrm>
          <a:prstGeom prst="rect">
            <a:avLst/>
          </a:prstGeom>
          <a:noFill/>
        </p:spPr>
        <p:txBody>
          <a:bodyPr wrap="square" anchor="t" lIns="25400" rIns="25400" tIns="25400" bIns="25400">
            <a:spAutoFit/>
          </a:bodyPr>
          <a:lstStyle/>
          <a:p>
            <a:pPr algn="l">
              <a:lnSpc>
                <a:spcPct val="114000"/>
              </a:lnSpc>
              <a:spcBef>
                <a:spcPts val="0"/>
              </a:spcBef>
              <a:spcAft>
                <a:spcPts val="300"/>
              </a:spcAft>
            </a:pPr>
            <a:r>
              <a:rPr sz="1050" b="0" i="1">
                <a:solidFill>
                  <a:srgbClr val="404040"/>
                </a:solidFill>
                <a:latin typeface="Calibri"/>
                <a:ea typeface="Microsoft YaHei"/>
              </a:rPr>
              <a:t>“…achieving a 100% accuracy rate in detecting and distinguishing crop plants from weeds in densely populated fields, with no instances of false positives.”</a:t>
            </a:r>
          </a:p>
          <a:p>
            <a:pPr algn="r">
              <a:lnSpc>
                <a:spcPct val="105000"/>
              </a:lnSpc>
              <a:spcBef>
                <a:spcPts val="200"/>
              </a:spcBef>
              <a:spcAft>
                <a:spcPts val="200"/>
              </a:spcAft>
            </a:pPr>
            <a:r>
              <a:rPr sz="950" b="1" i="0">
                <a:solidFill>
                  <a:srgbClr val="0096C7"/>
                </a:solidFill>
                <a:latin typeface="Calibri"/>
                <a:ea typeface="Microsoft YaHei"/>
              </a:rPr>
              <a:t>— Raja et al., 2025</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Figures from the Literature · Rh-B Fluorescence Imaging in the Field</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4 · Precision Agriculture</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50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Raja et al., 2025</a:t>
            </a:r>
          </a:p>
        </p:txBody>
      </p:sp>
      <p:sp>
        <p:nvSpPr>
          <p:cNvPr id="9" name="Rectangle 8"/>
          <p:cNvSpPr/>
          <p:nvPr/>
        </p:nvSpPr>
        <p:spPr>
          <a:xfrm>
            <a:off x="457200" y="1371600"/>
            <a:ext cx="6766560" cy="416052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_rhb_setup.png"/>
          <p:cNvPicPr>
            <a:picLocks noChangeAspect="1"/>
          </p:cNvPicPr>
          <p:nvPr/>
        </p:nvPicPr>
        <p:blipFill>
          <a:blip r:embed="rId2"/>
          <a:stretch>
            <a:fillRect/>
          </a:stretch>
        </p:blipFill>
        <p:spPr>
          <a:xfrm>
            <a:off x="777009" y="1463040"/>
            <a:ext cx="6126941" cy="3977639"/>
          </a:xfrm>
          <a:prstGeom prst="rect">
            <a:avLst/>
          </a:prstGeom>
        </p:spPr>
      </p:pic>
      <p:sp>
        <p:nvSpPr>
          <p:cNvPr id="11" name="TextBox 10"/>
          <p:cNvSpPr txBox="1"/>
          <p:nvPr/>
        </p:nvSpPr>
        <p:spPr>
          <a:xfrm>
            <a:off x="457200" y="5559552"/>
            <a:ext cx="6766560" cy="777240"/>
          </a:xfrm>
          <a:prstGeom prst="rect">
            <a:avLst/>
          </a:prstGeom>
          <a:noFill/>
        </p:spPr>
        <p:txBody>
          <a:bodyPr wrap="square" anchor="t" lIns="25400" rIns="25400" tIns="25400" bIns="25400">
            <a:spAutoFit/>
          </a:bodyPr>
          <a:lstStyle/>
          <a:p>
            <a:pPr algn="ctr">
              <a:lnSpc>
                <a:spcPct val="108000"/>
              </a:lnSpc>
              <a:spcBef>
                <a:spcPts val="0"/>
              </a:spcBef>
              <a:spcAft>
                <a:spcPts val="200"/>
              </a:spcAft>
            </a:pPr>
            <a:r>
              <a:rPr sz="930" b="0" i="1">
                <a:solidFill>
                  <a:srgbClr val="5A5A5A"/>
                </a:solidFill>
                <a:latin typeface="Calibri"/>
                <a:ea typeface="Microsoft YaHei"/>
              </a:rPr>
              <a:t>Fig. 1. Fluorescence macroscopic imaging system: photometric camera, bandpass filter-lens, 12 green LEDs (523 nm) and the treated plant sample, with a captured Rh-B fluorescence image. (Raja et al., 2025)</a:t>
            </a:r>
          </a:p>
        </p:txBody>
      </p:sp>
      <p:sp>
        <p:nvSpPr>
          <p:cNvPr id="12" name="Rectangle 11"/>
          <p:cNvSpPr/>
          <p:nvPr/>
        </p:nvSpPr>
        <p:spPr>
          <a:xfrm>
            <a:off x="7406640" y="1371600"/>
            <a:ext cx="4325112" cy="416052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fig_celery_fluoro.png"/>
          <p:cNvPicPr>
            <a:picLocks noChangeAspect="1"/>
          </p:cNvPicPr>
          <p:nvPr/>
        </p:nvPicPr>
        <p:blipFill>
          <a:blip r:embed="rId3"/>
          <a:stretch>
            <a:fillRect/>
          </a:stretch>
        </p:blipFill>
        <p:spPr>
          <a:xfrm>
            <a:off x="7498079" y="1742367"/>
            <a:ext cx="4142232" cy="3418985"/>
          </a:xfrm>
          <a:prstGeom prst="rect">
            <a:avLst/>
          </a:prstGeom>
        </p:spPr>
      </p:pic>
      <p:sp>
        <p:nvSpPr>
          <p:cNvPr id="14" name="TextBox 13"/>
          <p:cNvSpPr txBox="1"/>
          <p:nvPr/>
        </p:nvSpPr>
        <p:spPr>
          <a:xfrm>
            <a:off x="7406640" y="5559552"/>
            <a:ext cx="4325112" cy="777240"/>
          </a:xfrm>
          <a:prstGeom prst="rect">
            <a:avLst/>
          </a:prstGeom>
          <a:noFill/>
        </p:spPr>
        <p:txBody>
          <a:bodyPr wrap="square" anchor="t" lIns="25400" rIns="25400" tIns="25400" bIns="25400">
            <a:spAutoFit/>
          </a:bodyPr>
          <a:lstStyle/>
          <a:p>
            <a:pPr algn="ctr">
              <a:lnSpc>
                <a:spcPct val="108000"/>
              </a:lnSpc>
              <a:spcBef>
                <a:spcPts val="0"/>
              </a:spcBef>
              <a:spcAft>
                <a:spcPts val="200"/>
              </a:spcAft>
            </a:pPr>
            <a:r>
              <a:rPr sz="930" b="0" i="1">
                <a:solidFill>
                  <a:srgbClr val="5A5A5A"/>
                </a:solidFill>
                <a:latin typeface="Calibri"/>
                <a:ea typeface="Microsoft YaHei"/>
              </a:rPr>
              <a:t>Fig. 7. (a) Monochrome image under green-light illumination and (b) false-colour analysis highlighting celery crop among randomly placed weeds. (Raja et al., 2025)</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Application 4 · Biomedical Imaging</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4 · Applications &amp; Future Trends</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51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Tran &amp; Fei, 2023</a:t>
            </a:r>
          </a:p>
        </p:txBody>
      </p:sp>
      <p:sp>
        <p:nvSpPr>
          <p:cNvPr id="9" name="Rectangle 8"/>
          <p:cNvSpPr/>
          <p:nvPr/>
        </p:nvSpPr>
        <p:spPr>
          <a:xfrm>
            <a:off x="457200" y="1325880"/>
            <a:ext cx="11274552" cy="14173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109728" cy="14173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1444752"/>
            <a:ext cx="10835640" cy="12344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400" b="1" i="0">
                <a:solidFill>
                  <a:srgbClr val="1B2A4A"/>
                </a:solidFill>
                <a:latin typeface="Calibri"/>
                <a:ea typeface="Microsoft YaHei"/>
              </a:rPr>
              <a:t>Why Spectral Imaging in Biomedicine?</a:t>
            </a:r>
          </a:p>
          <a:p>
            <a:pPr algn="l">
              <a:lnSpc>
                <a:spcPct val="116000"/>
              </a:lnSpc>
              <a:spcBef>
                <a:spcPts val="300"/>
              </a:spcBef>
              <a:spcAft>
                <a:spcPts val="200"/>
              </a:spcAft>
            </a:pPr>
            <a:r>
              <a:rPr sz="1100" b="0" i="0">
                <a:solidFill>
                  <a:srgbClr val="2D2D2D"/>
                </a:solidFill>
                <a:latin typeface="Calibri"/>
                <a:ea typeface="Microsoft YaHei"/>
              </a:rPr>
              <a:t>Reveals physiological processes beyond RGB: metabolic processes, retinal oxygen saturation, tumours (skin / tongue / mucosa), and ischaemia (intestine &amp; brain). Non-ionising, minimally invasive (VIS-NIR, 400–1500 nm).</a:t>
            </a:r>
          </a:p>
        </p:txBody>
      </p:sp>
      <p:sp>
        <p:nvSpPr>
          <p:cNvPr id="12" name="Rectangle 11"/>
          <p:cNvSpPr/>
          <p:nvPr/>
        </p:nvSpPr>
        <p:spPr>
          <a:xfrm>
            <a:off x="457200" y="2880360"/>
            <a:ext cx="5394960" cy="10058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2880360"/>
            <a:ext cx="5394960" cy="6400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017520"/>
            <a:ext cx="4983480" cy="7772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0096C7"/>
                </a:solidFill>
                <a:latin typeface="Calibri"/>
                <a:ea typeface="Microsoft YaHei"/>
              </a:rPr>
              <a:t>Compact / Ultracompact Definition</a:t>
            </a:r>
          </a:p>
          <a:p>
            <a:pPr algn="l">
              <a:lnSpc>
                <a:spcPct val="110000"/>
              </a:lnSpc>
              <a:spcBef>
                <a:spcPts val="300"/>
              </a:spcBef>
              <a:spcAft>
                <a:spcPts val="200"/>
              </a:spcAft>
            </a:pPr>
            <a:r>
              <a:rPr sz="1050" b="0" i="0">
                <a:solidFill>
                  <a:srgbClr val="2D2D2D"/>
                </a:solidFill>
                <a:latin typeface="Calibri"/>
                <a:ea typeface="Microsoft YaHei"/>
              </a:rPr>
              <a:t>Compact: ≤ 5 kg (no external lens / cables)   ·   Ultracompact: &lt; 500 g</a:t>
            </a:r>
          </a:p>
        </p:txBody>
      </p:sp>
      <p:sp>
        <p:nvSpPr>
          <p:cNvPr id="15" name="Rectangle 14"/>
          <p:cNvSpPr/>
          <p:nvPr/>
        </p:nvSpPr>
        <p:spPr>
          <a:xfrm>
            <a:off x="457200" y="4069080"/>
            <a:ext cx="3639312" cy="21488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4069080"/>
            <a:ext cx="109728" cy="214884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4233672"/>
            <a:ext cx="324612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1B2A4A"/>
                </a:solidFill>
                <a:latin typeface="Calibri"/>
                <a:ea typeface="Microsoft YaHei"/>
              </a:rPr>
              <a:t>Skin Cancer Diagnosis</a:t>
            </a:r>
          </a:p>
        </p:txBody>
      </p:sp>
      <p:sp>
        <p:nvSpPr>
          <p:cNvPr id="18" name="TextBox 17"/>
          <p:cNvSpPr txBox="1"/>
          <p:nvPr/>
        </p:nvSpPr>
        <p:spPr>
          <a:xfrm>
            <a:off x="658368" y="4663440"/>
            <a:ext cx="3246120" cy="1371600"/>
          </a:xfrm>
          <a:prstGeom prst="rect">
            <a:avLst/>
          </a:prstGeom>
          <a:noFill/>
        </p:spPr>
        <p:txBody>
          <a:bodyPr wrap="square" anchor="t" lIns="25400" rIns="25400" tIns="25400" bIns="25400">
            <a:spAutoFit/>
          </a:bodyPr>
          <a:lstStyle/>
          <a:p>
            <a:pPr algn="l">
              <a:lnSpc>
                <a:spcPct val="118000"/>
              </a:lnSpc>
              <a:spcBef>
                <a:spcPts val="0"/>
              </a:spcBef>
              <a:spcAft>
                <a:spcPts val="200"/>
              </a:spcAft>
            </a:pPr>
            <a:r>
              <a:rPr sz="1050" b="0" i="0">
                <a:solidFill>
                  <a:srgbClr val="2D2D2D"/>
                </a:solidFill>
                <a:latin typeface="Calibri"/>
                <a:ea typeface="Microsoft YaHei"/>
              </a:rPr>
              <a:t>100% sensitivity, 85% specificity (10 bands, 63 melanoma + 183 nevi images)</a:t>
            </a:r>
          </a:p>
        </p:txBody>
      </p:sp>
      <p:sp>
        <p:nvSpPr>
          <p:cNvPr id="19" name="Rectangle 18"/>
          <p:cNvSpPr/>
          <p:nvPr/>
        </p:nvSpPr>
        <p:spPr>
          <a:xfrm>
            <a:off x="4261104" y="4069080"/>
            <a:ext cx="3639312" cy="21488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61104" y="4069080"/>
            <a:ext cx="109728" cy="214884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62272" y="4233672"/>
            <a:ext cx="324612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0096C7"/>
                </a:solidFill>
                <a:latin typeface="Calibri"/>
                <a:ea typeface="Microsoft YaHei"/>
              </a:rPr>
              <a:t>Wound &amp; Burn Healing</a:t>
            </a:r>
          </a:p>
        </p:txBody>
      </p:sp>
      <p:sp>
        <p:nvSpPr>
          <p:cNvPr id="22" name="TextBox 21"/>
          <p:cNvSpPr txBox="1"/>
          <p:nvPr/>
        </p:nvSpPr>
        <p:spPr>
          <a:xfrm>
            <a:off x="4462272" y="4663440"/>
            <a:ext cx="3246120" cy="1371600"/>
          </a:xfrm>
          <a:prstGeom prst="rect">
            <a:avLst/>
          </a:prstGeom>
          <a:noFill/>
        </p:spPr>
        <p:txBody>
          <a:bodyPr wrap="square" anchor="t" lIns="25400" rIns="25400" tIns="25400" bIns="25400">
            <a:spAutoFit/>
          </a:bodyPr>
          <a:lstStyle/>
          <a:p>
            <a:pPr algn="l">
              <a:lnSpc>
                <a:spcPct val="118000"/>
              </a:lnSpc>
              <a:spcBef>
                <a:spcPts val="0"/>
              </a:spcBef>
              <a:spcAft>
                <a:spcPts val="200"/>
              </a:spcAft>
            </a:pPr>
            <a:r>
              <a:rPr sz="1050" b="0" i="0">
                <a:solidFill>
                  <a:srgbClr val="2D2D2D"/>
                </a:solidFill>
                <a:latin typeface="Calibri"/>
                <a:ea typeface="Microsoft YaHei"/>
              </a:rPr>
              <a:t>Hemoglobin concentration &amp; oxygenation monitored over 2 weeks</a:t>
            </a:r>
          </a:p>
        </p:txBody>
      </p:sp>
      <p:sp>
        <p:nvSpPr>
          <p:cNvPr id="23" name="Rectangle 22"/>
          <p:cNvSpPr/>
          <p:nvPr/>
        </p:nvSpPr>
        <p:spPr>
          <a:xfrm>
            <a:off x="8065008" y="4069080"/>
            <a:ext cx="3639312" cy="21488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65008" y="4069080"/>
            <a:ext cx="109728" cy="2148840"/>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66176" y="4233672"/>
            <a:ext cx="324612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F4A25F"/>
                </a:solidFill>
                <a:latin typeface="Calibri"/>
                <a:ea typeface="Microsoft YaHei"/>
              </a:rPr>
              <a:t>Retinal Diseases</a:t>
            </a:r>
          </a:p>
        </p:txBody>
      </p:sp>
      <p:sp>
        <p:nvSpPr>
          <p:cNvPr id="26" name="TextBox 25"/>
          <p:cNvSpPr txBox="1"/>
          <p:nvPr/>
        </p:nvSpPr>
        <p:spPr>
          <a:xfrm>
            <a:off x="8266176" y="4663440"/>
            <a:ext cx="3246120" cy="1371600"/>
          </a:xfrm>
          <a:prstGeom prst="rect">
            <a:avLst/>
          </a:prstGeom>
          <a:noFill/>
        </p:spPr>
        <p:txBody>
          <a:bodyPr wrap="square" anchor="t" lIns="25400" rIns="25400" tIns="25400" bIns="25400">
            <a:spAutoFit/>
          </a:bodyPr>
          <a:lstStyle/>
          <a:p>
            <a:pPr algn="l">
              <a:lnSpc>
                <a:spcPct val="118000"/>
              </a:lnSpc>
              <a:spcBef>
                <a:spcPts val="0"/>
              </a:spcBef>
              <a:spcAft>
                <a:spcPts val="200"/>
              </a:spcAft>
            </a:pPr>
            <a:r>
              <a:rPr sz="1050" b="0" i="0">
                <a:solidFill>
                  <a:srgbClr val="2D2D2D"/>
                </a:solidFill>
                <a:latin typeface="Calibri"/>
                <a:ea typeface="Microsoft YaHei"/>
              </a:rPr>
              <a:t>Oxygen-saturation repeatability SD = 1.4% (fundus + compact SRDA/FPI)</a:t>
            </a:r>
          </a:p>
        </p:txBody>
      </p:sp>
      <p:sp>
        <p:nvSpPr>
          <p:cNvPr id="27" name="TextBox 26"/>
          <p:cNvSpPr txBox="1"/>
          <p:nvPr/>
        </p:nvSpPr>
        <p:spPr>
          <a:xfrm>
            <a:off x="457200" y="6355080"/>
            <a:ext cx="11247120" cy="22860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1" i="1">
                <a:solidFill>
                  <a:srgbClr val="5A5A5A"/>
                </a:solidFill>
                <a:latin typeface="Calibri"/>
                <a:ea typeface="Microsoft YaHei"/>
              </a:rPr>
              <a:t>Tran &amp; Fei, 2023, pp.2, 28–34</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Application 4 · Biomedical Imaging (cont.)</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4 · Applications &amp; Future Trends</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52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Tran &amp; Fei, 2023 · Mukhtar et al., 2025</a:t>
            </a:r>
          </a:p>
        </p:txBody>
      </p:sp>
      <p:sp>
        <p:nvSpPr>
          <p:cNvPr id="9" name="Rectangle 8"/>
          <p:cNvSpPr/>
          <p:nvPr/>
        </p:nvSpPr>
        <p:spPr>
          <a:xfrm>
            <a:off x="457200" y="1371600"/>
            <a:ext cx="5532120" cy="3931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5532120" cy="6400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554480"/>
            <a:ext cx="512064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500" b="1" i="0">
                <a:solidFill>
                  <a:srgbClr val="1B2A4A"/>
                </a:solidFill>
                <a:latin typeface="Calibri"/>
                <a:ea typeface="Microsoft YaHei"/>
              </a:rPr>
              <a:t>Surgical Guidance</a:t>
            </a:r>
          </a:p>
        </p:txBody>
      </p:sp>
      <p:sp>
        <p:nvSpPr>
          <p:cNvPr id="12" name="TextBox 11"/>
          <p:cNvSpPr txBox="1"/>
          <p:nvPr/>
        </p:nvSpPr>
        <p:spPr>
          <a:xfrm>
            <a:off x="685800" y="2011680"/>
            <a:ext cx="5074920" cy="315468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1B2A4A"/>
                </a:solidFill>
                <a:latin typeface="Calibri"/>
                <a:ea typeface="Microsoft YaHei"/>
              </a:rPr>
              <a:t>Laparoscopic HSI system</a:t>
            </a:r>
          </a:p>
          <a:p>
            <a:pPr algn="l">
              <a:lnSpc>
                <a:spcPct val="112000"/>
              </a:lnSpc>
              <a:spcBef>
                <a:spcPts val="300"/>
              </a:spcBef>
              <a:spcAft>
                <a:spcPts val="200"/>
              </a:spcAft>
            </a:pPr>
            <a:r>
              <a:rPr sz="1050" b="0" i="0">
                <a:solidFill>
                  <a:srgbClr val="2D2D2D"/>
                </a:solidFill>
                <a:latin typeface="Calibri"/>
                <a:ea typeface="Microsoft YaHei"/>
              </a:rPr>
              <a:t>Simultaneous high-resolution video + hyperspectral imaging.</a:t>
            </a:r>
          </a:p>
          <a:p>
            <a:pPr algn="l">
              <a:lnSpc>
                <a:spcPct val="112000"/>
              </a:lnSpc>
              <a:spcBef>
                <a:spcPts val="300"/>
              </a:spcBef>
              <a:spcAft>
                <a:spcPts val="200"/>
              </a:spcAft>
            </a:pPr>
            <a:r>
              <a:rPr sz="1050" b="0" i="0">
                <a:solidFill>
                  <a:srgbClr val="2D2D2D"/>
                </a:solidFill>
                <a:latin typeface="Calibri"/>
                <a:ea typeface="Microsoft YaHei"/>
              </a:rPr>
              <a:t>SNR 30–43 dB · acquisition as low as 4.6 s — overcomes motion artefacts of conventional pushbroom systems.</a:t>
            </a:r>
          </a:p>
          <a:p>
            <a:pPr algn="l">
              <a:lnSpc>
                <a:spcPct val="112000"/>
              </a:lnSpc>
              <a:spcBef>
                <a:spcPts val="300"/>
              </a:spcBef>
              <a:spcAft>
                <a:spcPts val="200"/>
              </a:spcAft>
            </a:pPr>
            <a:r>
              <a:rPr sz="1050" b="0" i="0">
                <a:solidFill>
                  <a:srgbClr val="2D2D2D"/>
                </a:solidFill>
                <a:latin typeface="Calibri"/>
                <a:ea typeface="Microsoft YaHei"/>
              </a:rPr>
              <a:t>Intraoperative HSI (iHSI): wide-field, real-time, seamlessly integrated with surgical workflow.</a:t>
            </a:r>
          </a:p>
        </p:txBody>
      </p:sp>
      <p:sp>
        <p:nvSpPr>
          <p:cNvPr id="13" name="Rectangle 12"/>
          <p:cNvSpPr/>
          <p:nvPr/>
        </p:nvSpPr>
        <p:spPr>
          <a:xfrm>
            <a:off x="6199632" y="1371600"/>
            <a:ext cx="5532120" cy="3931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9632" y="1371600"/>
            <a:ext cx="5532120" cy="64008"/>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8232" y="1554480"/>
            <a:ext cx="512064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500" b="1" i="0">
                <a:solidFill>
                  <a:srgbClr val="F4A25F"/>
                </a:solidFill>
                <a:latin typeface="Calibri"/>
                <a:ea typeface="Microsoft YaHei"/>
              </a:rPr>
              <a:t>Tumour Diagnosis</a:t>
            </a:r>
          </a:p>
        </p:txBody>
      </p:sp>
      <p:sp>
        <p:nvSpPr>
          <p:cNvPr id="16" name="TextBox 15"/>
          <p:cNvSpPr txBox="1"/>
          <p:nvPr/>
        </p:nvSpPr>
        <p:spPr>
          <a:xfrm>
            <a:off x="6428232" y="2011680"/>
            <a:ext cx="5074920" cy="315468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F4A25F"/>
                </a:solidFill>
                <a:latin typeface="Calibri"/>
                <a:ea typeface="Microsoft YaHei"/>
              </a:rPr>
              <a:t>Colorectal, head &amp; neck, breast cancers</a:t>
            </a:r>
          </a:p>
          <a:p>
            <a:pPr algn="l">
              <a:lnSpc>
                <a:spcPct val="112000"/>
              </a:lnSpc>
              <a:spcBef>
                <a:spcPts val="300"/>
              </a:spcBef>
              <a:spcAft>
                <a:spcPts val="200"/>
              </a:spcAft>
            </a:pPr>
            <a:r>
              <a:rPr sz="1050" b="0" i="0">
                <a:solidFill>
                  <a:srgbClr val="2D2D2D"/>
                </a:solidFill>
                <a:latin typeface="Calibri"/>
                <a:ea typeface="Microsoft YaHei"/>
              </a:rPr>
              <a:t>Normal mucosa vs. adenocarcinoma differ significantly in absorbance at 525 nm; in-vivo sensitivity up to 75%.</a:t>
            </a:r>
          </a:p>
          <a:p>
            <a:pPr algn="l">
              <a:lnSpc>
                <a:spcPct val="112000"/>
              </a:lnSpc>
              <a:spcBef>
                <a:spcPts val="300"/>
              </a:spcBef>
              <a:spcAft>
                <a:spcPts val="200"/>
              </a:spcAft>
            </a:pPr>
            <a:r>
              <a:rPr sz="1050" b="0" i="0">
                <a:solidFill>
                  <a:srgbClr val="2D2D2D"/>
                </a:solidFill>
                <a:latin typeface="Calibri"/>
                <a:ea typeface="Microsoft YaHei"/>
              </a:rPr>
              <a:t>NIR-II (1000–1700 nm) imaging significantly enhances tumour-to-background ratio, enabling deeper tissue localisation — e.g. liver cancer surgery.</a:t>
            </a:r>
          </a:p>
        </p:txBody>
      </p:sp>
      <p:sp>
        <p:nvSpPr>
          <p:cNvPr id="17" name="Rectangle 16"/>
          <p:cNvSpPr/>
          <p:nvPr/>
        </p:nvSpPr>
        <p:spPr>
          <a:xfrm>
            <a:off x="457200" y="5440680"/>
            <a:ext cx="11274552" cy="9601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5440680"/>
            <a:ext cx="109728" cy="96012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5568696"/>
            <a:ext cx="10817352" cy="722376"/>
          </a:xfrm>
          <a:prstGeom prst="rect">
            <a:avLst/>
          </a:prstGeom>
          <a:noFill/>
        </p:spPr>
        <p:txBody>
          <a:bodyPr wrap="square" anchor="t" lIns="25400" rIns="25400" tIns="25400" bIns="25400">
            <a:spAutoFit/>
          </a:bodyPr>
          <a:lstStyle/>
          <a:p>
            <a:pPr algn="l">
              <a:lnSpc>
                <a:spcPct val="114000"/>
              </a:lnSpc>
              <a:spcBef>
                <a:spcPts val="0"/>
              </a:spcBef>
              <a:spcAft>
                <a:spcPts val="300"/>
              </a:spcAft>
            </a:pPr>
            <a:r>
              <a:rPr sz="1050" b="0" i="1">
                <a:solidFill>
                  <a:srgbClr val="404040"/>
                </a:solidFill>
                <a:latin typeface="Calibri"/>
                <a:ea typeface="Microsoft YaHei"/>
              </a:rPr>
              <a:t>“a signal-to-noise ratio of 30–43 dB and acquisition times as low as 4.6 seconds.”   —   “Their intraoperative application in liver cancer surgeries showed that NIR-II imaging significantly enhanced tumour-to-background ratio…”</a:t>
            </a:r>
          </a:p>
          <a:p>
            <a:pPr algn="r">
              <a:lnSpc>
                <a:spcPct val="105000"/>
              </a:lnSpc>
              <a:spcBef>
                <a:spcPts val="200"/>
              </a:spcBef>
              <a:spcAft>
                <a:spcPts val="200"/>
              </a:spcAft>
            </a:pPr>
            <a:r>
              <a:rPr sz="950" b="1" i="0">
                <a:solidFill>
                  <a:srgbClr val="0096C7"/>
                </a:solidFill>
                <a:latin typeface="Calibri"/>
                <a:ea typeface="Microsoft YaHei"/>
              </a:rPr>
              <a:t>— Mukhtar et al., 2025; Tran &amp; Fei, 2023</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Figures from the Literature · Oxygenation Maps &amp; Cancer Heat Maps</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4 · Biomedical Imaging</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53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Lu &amp; Fei, 2014 · Tran &amp; Fei, 2023</a:t>
            </a:r>
          </a:p>
        </p:txBody>
      </p:sp>
      <p:sp>
        <p:nvSpPr>
          <p:cNvPr id="9" name="Rectangle 8"/>
          <p:cNvSpPr/>
          <p:nvPr/>
        </p:nvSpPr>
        <p:spPr>
          <a:xfrm>
            <a:off x="457200" y="1325880"/>
            <a:ext cx="5029200" cy="457200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_retina_sat.png"/>
          <p:cNvPicPr>
            <a:picLocks noChangeAspect="1"/>
          </p:cNvPicPr>
          <p:nvPr/>
        </p:nvPicPr>
        <p:blipFill>
          <a:blip r:embed="rId2"/>
          <a:stretch>
            <a:fillRect/>
          </a:stretch>
        </p:blipFill>
        <p:spPr>
          <a:xfrm>
            <a:off x="717327" y="1417320"/>
            <a:ext cx="4508944" cy="4389120"/>
          </a:xfrm>
          <a:prstGeom prst="rect">
            <a:avLst/>
          </a:prstGeom>
        </p:spPr>
      </p:pic>
      <p:sp>
        <p:nvSpPr>
          <p:cNvPr id="11" name="TextBox 10"/>
          <p:cNvSpPr txBox="1"/>
          <p:nvPr/>
        </p:nvSpPr>
        <p:spPr>
          <a:xfrm>
            <a:off x="457200" y="5925312"/>
            <a:ext cx="5029200" cy="777240"/>
          </a:xfrm>
          <a:prstGeom prst="rect">
            <a:avLst/>
          </a:prstGeom>
          <a:noFill/>
        </p:spPr>
        <p:txBody>
          <a:bodyPr wrap="square" anchor="t" lIns="25400" rIns="25400" tIns="25400" bIns="25400">
            <a:spAutoFit/>
          </a:bodyPr>
          <a:lstStyle/>
          <a:p>
            <a:pPr algn="ctr">
              <a:lnSpc>
                <a:spcPct val="108000"/>
              </a:lnSpc>
              <a:spcBef>
                <a:spcPts val="0"/>
              </a:spcBef>
              <a:spcAft>
                <a:spcPts val="200"/>
              </a:spcAft>
            </a:pPr>
            <a:r>
              <a:rPr sz="930" b="0" i="1">
                <a:solidFill>
                  <a:srgbClr val="5A5A5A"/>
                </a:solidFill>
                <a:latin typeface="Calibri"/>
                <a:ea typeface="Microsoft YaHei"/>
              </a:rPr>
              <a:t>Fig. 4. Retinal oxygen-saturation maps of a healthy eye (a, c) with the corresponding general retinal images (b, d); vessels are separated from the background. (Lu &amp; Fei, 2014)</a:t>
            </a:r>
          </a:p>
        </p:txBody>
      </p:sp>
      <p:sp>
        <p:nvSpPr>
          <p:cNvPr id="12" name="Rectangle 11"/>
          <p:cNvSpPr/>
          <p:nvPr/>
        </p:nvSpPr>
        <p:spPr>
          <a:xfrm>
            <a:off x="5669280" y="1325880"/>
            <a:ext cx="6062472" cy="35661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fig_skin_cancer.png"/>
          <p:cNvPicPr>
            <a:picLocks noChangeAspect="1"/>
          </p:cNvPicPr>
          <p:nvPr/>
        </p:nvPicPr>
        <p:blipFill>
          <a:blip r:embed="rId3"/>
          <a:stretch>
            <a:fillRect/>
          </a:stretch>
        </p:blipFill>
        <p:spPr>
          <a:xfrm>
            <a:off x="6297080" y="1417320"/>
            <a:ext cx="4806870" cy="3383279"/>
          </a:xfrm>
          <a:prstGeom prst="rect">
            <a:avLst/>
          </a:prstGeom>
        </p:spPr>
      </p:pic>
      <p:sp>
        <p:nvSpPr>
          <p:cNvPr id="14" name="TextBox 13"/>
          <p:cNvSpPr txBox="1"/>
          <p:nvPr/>
        </p:nvSpPr>
        <p:spPr>
          <a:xfrm>
            <a:off x="5669280" y="4937760"/>
            <a:ext cx="6062472" cy="777240"/>
          </a:xfrm>
          <a:prstGeom prst="rect">
            <a:avLst/>
          </a:prstGeom>
          <a:noFill/>
        </p:spPr>
        <p:txBody>
          <a:bodyPr wrap="square" anchor="t" lIns="25400" rIns="25400" tIns="25400" bIns="25400">
            <a:spAutoFit/>
          </a:bodyPr>
          <a:lstStyle/>
          <a:p>
            <a:pPr algn="ctr">
              <a:lnSpc>
                <a:spcPct val="108000"/>
              </a:lnSpc>
              <a:spcBef>
                <a:spcPts val="0"/>
              </a:spcBef>
              <a:spcAft>
                <a:spcPts val="200"/>
              </a:spcAft>
            </a:pPr>
            <a:r>
              <a:rPr sz="930" b="0" i="1">
                <a:solidFill>
                  <a:srgbClr val="5A5A5A"/>
                </a:solidFill>
                <a:latin typeface="Calibri"/>
                <a:ea typeface="Microsoft YaHei"/>
              </a:rPr>
              <a:t>Fig. 12. (a) Compact hyperspectral Snapscan camera on a microscope; (b) synthesised-RGB pathology images and machine-learning probability heat maps of squamous head-and-neck carcinoma. (Tran &amp; Fei, 2023)</a:t>
            </a:r>
          </a:p>
        </p:txBody>
      </p:sp>
      <p:sp>
        <p:nvSpPr>
          <p:cNvPr id="15" name="Rectangle 14"/>
          <p:cNvSpPr/>
          <p:nvPr/>
        </p:nvSpPr>
        <p:spPr>
          <a:xfrm>
            <a:off x="5669280" y="5705856"/>
            <a:ext cx="6062472" cy="566928"/>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833872" y="5760720"/>
            <a:ext cx="5760720" cy="475488"/>
          </a:xfrm>
          <a:prstGeom prst="rect">
            <a:avLst/>
          </a:prstGeom>
          <a:noFill/>
        </p:spPr>
        <p:txBody>
          <a:bodyPr wrap="square" anchor="ctr" lIns="25400" rIns="25400" tIns="25400" bIns="25400">
            <a:spAutoFit/>
          </a:bodyPr>
          <a:lstStyle/>
          <a:p>
            <a:pPr algn="ctr">
              <a:lnSpc>
                <a:spcPct val="112000"/>
              </a:lnSpc>
              <a:spcBef>
                <a:spcPts val="0"/>
              </a:spcBef>
              <a:spcAft>
                <a:spcPts val="200"/>
              </a:spcAft>
            </a:pPr>
            <a:r>
              <a:rPr sz="1000" b="1" i="0">
                <a:solidFill>
                  <a:srgbClr val="1B2A4A"/>
                </a:solidFill>
                <a:latin typeface="Calibri"/>
                <a:ea typeface="Microsoft YaHei"/>
              </a:rPr>
              <a:t>HSI cubes are converted into physiological maps (saturation) and probability maps (cancer / normal tissue).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Figures from the Literature · NIR Spectral Imaging in the OR</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4 · Biomedical Imaging · Image-Guided Surgery</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54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Mukhtar et al., 2025 (Laser &amp; Photonics Reviews)</a:t>
            </a:r>
          </a:p>
        </p:txBody>
      </p:sp>
      <p:sp>
        <p:nvSpPr>
          <p:cNvPr id="9" name="Rectangle 8"/>
          <p:cNvSpPr/>
          <p:nvPr/>
        </p:nvSpPr>
        <p:spPr>
          <a:xfrm>
            <a:off x="822960" y="1325880"/>
            <a:ext cx="10543032" cy="37947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_biomed_surgery.png"/>
          <p:cNvPicPr>
            <a:picLocks noChangeAspect="1"/>
          </p:cNvPicPr>
          <p:nvPr/>
        </p:nvPicPr>
        <p:blipFill>
          <a:blip r:embed="rId2"/>
          <a:stretch>
            <a:fillRect/>
          </a:stretch>
        </p:blipFill>
        <p:spPr>
          <a:xfrm>
            <a:off x="2058942" y="1417320"/>
            <a:ext cx="8071067" cy="3611880"/>
          </a:xfrm>
          <a:prstGeom prst="rect">
            <a:avLst/>
          </a:prstGeom>
        </p:spPr>
      </p:pic>
      <p:sp>
        <p:nvSpPr>
          <p:cNvPr id="11" name="TextBox 10"/>
          <p:cNvSpPr txBox="1"/>
          <p:nvPr/>
        </p:nvSpPr>
        <p:spPr>
          <a:xfrm>
            <a:off x="822960" y="5138928"/>
            <a:ext cx="10543032" cy="777240"/>
          </a:xfrm>
          <a:prstGeom prst="rect">
            <a:avLst/>
          </a:prstGeom>
          <a:noFill/>
        </p:spPr>
        <p:txBody>
          <a:bodyPr wrap="square" anchor="t" lIns="25400" rIns="25400" tIns="25400" bIns="25400">
            <a:spAutoFit/>
          </a:bodyPr>
          <a:lstStyle/>
          <a:p>
            <a:pPr algn="ctr">
              <a:lnSpc>
                <a:spcPct val="108000"/>
              </a:lnSpc>
              <a:spcBef>
                <a:spcPts val="0"/>
              </a:spcBef>
              <a:spcAft>
                <a:spcPts val="200"/>
              </a:spcAft>
            </a:pPr>
            <a:r>
              <a:rPr sz="930" b="0" i="1">
                <a:solidFill>
                  <a:srgbClr val="5A5A5A"/>
                </a:solidFill>
                <a:latin typeface="Calibri"/>
                <a:ea typeface="Microsoft YaHei"/>
              </a:rPr>
              <a:t>Figure 3 (I). Liver-surface examination of a liver-cancer patient with an integrated NIR-I/NIR-II and visible spectral instrument, and the resected tumours acquired during the first MS-fluorescence-guided liver-tumour surgery. (Mukhtar et al., 2025)</a:t>
            </a:r>
          </a:p>
        </p:txBody>
      </p:sp>
      <p:sp>
        <p:nvSpPr>
          <p:cNvPr id="12" name="Rectangle 11"/>
          <p:cNvSpPr/>
          <p:nvPr/>
        </p:nvSpPr>
        <p:spPr>
          <a:xfrm>
            <a:off x="822960" y="5779008"/>
            <a:ext cx="10543032" cy="5486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5833872"/>
            <a:ext cx="10058400" cy="457200"/>
          </a:xfrm>
          <a:prstGeom prst="rect">
            <a:avLst/>
          </a:prstGeom>
          <a:noFill/>
        </p:spPr>
        <p:txBody>
          <a:bodyPr wrap="square" anchor="ctr" lIns="25400" rIns="25400" tIns="25400" bIns="25400">
            <a:spAutoFit/>
          </a:bodyPr>
          <a:lstStyle/>
          <a:p>
            <a:pPr algn="ctr">
              <a:lnSpc>
                <a:spcPct val="105000"/>
              </a:lnSpc>
              <a:spcBef>
                <a:spcPts val="0"/>
              </a:spcBef>
              <a:spcAft>
                <a:spcPts val="200"/>
              </a:spcAft>
            </a:pPr>
            <a:r>
              <a:rPr sz="1050" b="1" i="0">
                <a:solidFill>
                  <a:srgbClr val="1B2A4A"/>
                </a:solidFill>
                <a:latin typeface="Calibri"/>
                <a:ea typeface="Microsoft YaHei"/>
              </a:rPr>
              <a:t>Excitation laser + visible / NIR-I / NIR-II detectors deliver real-time wide-field guidance; resected slices are validated by pathological analysis.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Application 5 · Industrial Sorting</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4 · Applications &amp; Future Trends</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55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Romaniello et al., 2024</a:t>
            </a:r>
          </a:p>
        </p:txBody>
      </p:sp>
      <p:sp>
        <p:nvSpPr>
          <p:cNvPr id="9" name="Rectangle 8"/>
          <p:cNvSpPr/>
          <p:nvPr/>
        </p:nvSpPr>
        <p:spPr>
          <a:xfrm>
            <a:off x="457200" y="1325880"/>
            <a:ext cx="5532120" cy="16916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109728" cy="169164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1463040"/>
            <a:ext cx="5166360" cy="14630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1B2A4A"/>
                </a:solidFill>
                <a:latin typeface="Calibri"/>
                <a:ea typeface="Microsoft YaHei"/>
              </a:rPr>
              <a:t>Problem: Separating Gluten Contaminants from Legumes</a:t>
            </a:r>
          </a:p>
          <a:p>
            <a:pPr algn="l">
              <a:lnSpc>
                <a:spcPct val="113000"/>
              </a:lnSpc>
              <a:spcBef>
                <a:spcPts val="300"/>
              </a:spcBef>
              <a:spcAft>
                <a:spcPts val="200"/>
              </a:spcAft>
            </a:pPr>
            <a:r>
              <a:rPr sz="1019" b="0" i="0">
                <a:solidFill>
                  <a:srgbClr val="2D2D2D"/>
                </a:solidFill>
                <a:latin typeface="Calibri"/>
                <a:ea typeface="Microsoft YaHei"/>
              </a:rPr>
              <a:t>Coeliac disease drives demand for gluten-free food. Must fully remove wheat / barley / oat from faba beans, chickpeas, and lentils — mechanical separation fails due to uneven shape &amp; colour.</a:t>
            </a:r>
          </a:p>
        </p:txBody>
      </p:sp>
      <p:sp>
        <p:nvSpPr>
          <p:cNvPr id="12" name="Rectangle 11"/>
          <p:cNvSpPr/>
          <p:nvPr/>
        </p:nvSpPr>
        <p:spPr>
          <a:xfrm>
            <a:off x="6199632" y="1325880"/>
            <a:ext cx="5532120" cy="16916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1325880"/>
            <a:ext cx="109728" cy="1691640"/>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1463040"/>
            <a:ext cx="5166360" cy="14630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F4A25F"/>
                </a:solidFill>
                <a:latin typeface="Calibri"/>
                <a:ea typeface="Microsoft YaHei"/>
              </a:rPr>
              <a:t>Why HSI in the Food Industry?</a:t>
            </a:r>
          </a:p>
          <a:p>
            <a:pPr algn="l">
              <a:lnSpc>
                <a:spcPct val="113000"/>
              </a:lnSpc>
              <a:spcBef>
                <a:spcPts val="300"/>
              </a:spcBef>
              <a:spcAft>
                <a:spcPts val="200"/>
              </a:spcAft>
            </a:pPr>
            <a:r>
              <a:rPr sz="1050" b="0" i="0">
                <a:solidFill>
                  <a:srgbClr val="2D2D2D"/>
                </a:solidFill>
                <a:latin typeface="Calibri"/>
                <a:ea typeface="Microsoft YaHei"/>
              </a:rPr>
              <a:t>Speed, objectivity, low cost, and non-destructive — enables analysis of the entire production batch.</a:t>
            </a:r>
          </a:p>
        </p:txBody>
      </p:sp>
      <p:sp>
        <p:nvSpPr>
          <p:cNvPr id="15" name="Rectangle 14"/>
          <p:cNvSpPr/>
          <p:nvPr/>
        </p:nvSpPr>
        <p:spPr>
          <a:xfrm>
            <a:off x="457200" y="3182112"/>
            <a:ext cx="5532120" cy="16002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3182112"/>
            <a:ext cx="5532120" cy="6400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337560"/>
            <a:ext cx="5074920" cy="137160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0096C7"/>
                </a:solidFill>
                <a:latin typeface="Calibri"/>
                <a:ea typeface="Microsoft YaHei"/>
              </a:rPr>
              <a:t>Lab HSI System &amp; Classifier</a:t>
            </a:r>
          </a:p>
          <a:p>
            <a:pPr algn="l">
              <a:lnSpc>
                <a:spcPct val="110000"/>
              </a:lnSpc>
              <a:spcBef>
                <a:spcPts val="300"/>
              </a:spcBef>
              <a:spcAft>
                <a:spcPts val="200"/>
              </a:spcAft>
            </a:pPr>
            <a:r>
              <a:rPr sz="1019" b="0" i="0">
                <a:solidFill>
                  <a:srgbClr val="2D2D2D"/>
                </a:solidFill>
                <a:latin typeface="Calibri"/>
                <a:ea typeface="Microsoft YaHei"/>
              </a:rPr>
              <a:t>•  VIS/NIR: 400–1000 nm · SWIR: 1000–1700 nm (InGaAs)</a:t>
            </a:r>
          </a:p>
          <a:p>
            <a:pPr algn="l">
              <a:lnSpc>
                <a:spcPct val="110000"/>
              </a:lnSpc>
              <a:spcBef>
                <a:spcPts val="200"/>
              </a:spcBef>
              <a:spcAft>
                <a:spcPts val="200"/>
              </a:spcAft>
            </a:pPr>
            <a:r>
              <a:rPr sz="1019" b="0" i="0">
                <a:solidFill>
                  <a:srgbClr val="2D2D2D"/>
                </a:solidFill>
                <a:latin typeface="Calibri"/>
                <a:ea typeface="Microsoft YaHei"/>
              </a:rPr>
              <a:t>•  FS-MRMR feature selection + SVM-linear classifier</a:t>
            </a:r>
          </a:p>
          <a:p>
            <a:pPr algn="l">
              <a:lnSpc>
                <a:spcPct val="110000"/>
              </a:lnSpc>
              <a:spcBef>
                <a:spcPts val="200"/>
              </a:spcBef>
              <a:spcAft>
                <a:spcPts val="200"/>
              </a:spcAft>
            </a:pPr>
            <a:r>
              <a:rPr sz="1019" b="1" i="0">
                <a:solidFill>
                  <a:srgbClr val="2E7D5B"/>
                </a:solidFill>
                <a:latin typeface="Calibri"/>
                <a:ea typeface="Microsoft YaHei"/>
              </a:rPr>
              <a:t>•  100% Correct Classification Rate (CCR) across all 6 datasets</a:t>
            </a:r>
          </a:p>
        </p:txBody>
      </p:sp>
      <p:sp>
        <p:nvSpPr>
          <p:cNvPr id="18" name="Rectangle 17"/>
          <p:cNvSpPr/>
          <p:nvPr/>
        </p:nvSpPr>
        <p:spPr>
          <a:xfrm>
            <a:off x="6199632" y="3182112"/>
            <a:ext cx="5532120" cy="16002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9632" y="3182112"/>
            <a:ext cx="5532120" cy="64008"/>
          </a:xfrm>
          <a:prstGeom prst="rect">
            <a:avLst/>
          </a:prstGeom>
          <a:solidFill>
            <a:srgbClr val="C05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28232" y="3337560"/>
            <a:ext cx="5074920" cy="137160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C05050"/>
                </a:solidFill>
                <a:latin typeface="Calibri"/>
                <a:ea typeface="Microsoft YaHei"/>
              </a:rPr>
              <a:t>Industrial Sorter Validation</a:t>
            </a:r>
          </a:p>
          <a:p>
            <a:pPr algn="l">
              <a:lnSpc>
                <a:spcPct val="110000"/>
              </a:lnSpc>
              <a:spcBef>
                <a:spcPts val="300"/>
              </a:spcBef>
              <a:spcAft>
                <a:spcPts val="200"/>
              </a:spcAft>
            </a:pPr>
            <a:r>
              <a:rPr sz="1019" b="0" i="0">
                <a:solidFill>
                  <a:srgbClr val="2D2D2D"/>
                </a:solidFill>
                <a:latin typeface="Calibri"/>
                <a:ea typeface="Microsoft YaHei"/>
              </a:rPr>
              <a:t>•  2× NIR cameras (15,000 Hz, 0.06 mm) + 2× RGB (16 M colours)</a:t>
            </a:r>
          </a:p>
          <a:p>
            <a:pPr algn="l">
              <a:lnSpc>
                <a:spcPct val="110000"/>
              </a:lnSpc>
              <a:spcBef>
                <a:spcPts val="200"/>
              </a:spcBef>
              <a:spcAft>
                <a:spcPts val="200"/>
              </a:spcAft>
            </a:pPr>
            <a:r>
              <a:rPr sz="1019" b="0" i="0">
                <a:solidFill>
                  <a:srgbClr val="2D2D2D"/>
                </a:solidFill>
                <a:latin typeface="Calibri"/>
                <a:ea typeface="Microsoft YaHei"/>
              </a:rPr>
              <a:t>•  Free-fall detection + compressed-air ejection of contaminants</a:t>
            </a:r>
          </a:p>
        </p:txBody>
      </p:sp>
      <p:sp>
        <p:nvSpPr>
          <p:cNvPr id="21" name="Rectangle 20"/>
          <p:cNvSpPr/>
          <p:nvPr/>
        </p:nvSpPr>
        <p:spPr>
          <a:xfrm>
            <a:off x="457200" y="4937760"/>
            <a:ext cx="3639312" cy="141732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4937760"/>
            <a:ext cx="3639312" cy="91440"/>
          </a:xfrm>
          <a:prstGeom prst="rect">
            <a:avLst/>
          </a:prstGeom>
          <a:solidFill>
            <a:srgbClr val="C05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5074920"/>
            <a:ext cx="3639312" cy="50292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1900" b="1" i="0">
                <a:solidFill>
                  <a:srgbClr val="C05050"/>
                </a:solidFill>
                <a:latin typeface="Calibri"/>
                <a:ea typeface="Microsoft YaHei"/>
              </a:rPr>
              <a:t>FPR = 0%</a:t>
            </a:r>
          </a:p>
        </p:txBody>
      </p:sp>
      <p:sp>
        <p:nvSpPr>
          <p:cNvPr id="24" name="TextBox 23"/>
          <p:cNvSpPr txBox="1"/>
          <p:nvPr/>
        </p:nvSpPr>
        <p:spPr>
          <a:xfrm>
            <a:off x="594360" y="5596128"/>
            <a:ext cx="3364992" cy="32004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1100" b="1" i="0">
                <a:solidFill>
                  <a:srgbClr val="1B2A4A"/>
                </a:solidFill>
                <a:latin typeface="Calibri"/>
                <a:ea typeface="Microsoft YaHei"/>
              </a:rPr>
              <a:t>False Positive Rate</a:t>
            </a:r>
          </a:p>
        </p:txBody>
      </p:sp>
      <p:sp>
        <p:nvSpPr>
          <p:cNvPr id="25" name="TextBox 24"/>
          <p:cNvSpPr txBox="1"/>
          <p:nvPr/>
        </p:nvSpPr>
        <p:spPr>
          <a:xfrm>
            <a:off x="594360" y="5897880"/>
            <a:ext cx="3364992" cy="36576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950" b="0" i="0">
                <a:solidFill>
                  <a:srgbClr val="5A5A5A"/>
                </a:solidFill>
                <a:latin typeface="Calibri"/>
                <a:ea typeface="Microsoft YaHei"/>
              </a:rPr>
              <a:t>No contaminants pass to product</a:t>
            </a:r>
          </a:p>
        </p:txBody>
      </p:sp>
      <p:sp>
        <p:nvSpPr>
          <p:cNvPr id="26" name="Rectangle 25"/>
          <p:cNvSpPr/>
          <p:nvPr/>
        </p:nvSpPr>
        <p:spPr>
          <a:xfrm>
            <a:off x="4261104" y="4937760"/>
            <a:ext cx="3639312" cy="141732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261104" y="4937760"/>
            <a:ext cx="3639312" cy="9144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261104" y="5074920"/>
            <a:ext cx="3639312" cy="50292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1900" b="1" i="0">
                <a:solidFill>
                  <a:srgbClr val="2E7D5B"/>
                </a:solidFill>
                <a:latin typeface="Calibri"/>
                <a:ea typeface="Microsoft YaHei"/>
              </a:rPr>
              <a:t>TPR &gt; 99%</a:t>
            </a:r>
          </a:p>
        </p:txBody>
      </p:sp>
      <p:sp>
        <p:nvSpPr>
          <p:cNvPr id="29" name="TextBox 28"/>
          <p:cNvSpPr txBox="1"/>
          <p:nvPr/>
        </p:nvSpPr>
        <p:spPr>
          <a:xfrm>
            <a:off x="4398264" y="5596128"/>
            <a:ext cx="3364992" cy="32004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1100" b="1" i="0">
                <a:solidFill>
                  <a:srgbClr val="1B2A4A"/>
                </a:solidFill>
                <a:latin typeface="Calibri"/>
                <a:ea typeface="Microsoft YaHei"/>
              </a:rPr>
              <a:t>True Positive Rate</a:t>
            </a:r>
          </a:p>
        </p:txBody>
      </p:sp>
      <p:sp>
        <p:nvSpPr>
          <p:cNvPr id="30" name="TextBox 29"/>
          <p:cNvSpPr txBox="1"/>
          <p:nvPr/>
        </p:nvSpPr>
        <p:spPr>
          <a:xfrm>
            <a:off x="4398264" y="5897880"/>
            <a:ext cx="3364992" cy="36576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950" b="0" i="0">
                <a:solidFill>
                  <a:srgbClr val="5A5A5A"/>
                </a:solidFill>
                <a:latin typeface="Calibri"/>
                <a:ea typeface="Microsoft YaHei"/>
              </a:rPr>
              <a:t>Legumes correctly identified</a:t>
            </a:r>
          </a:p>
        </p:txBody>
      </p:sp>
      <p:sp>
        <p:nvSpPr>
          <p:cNvPr id="31" name="Rectangle 30"/>
          <p:cNvSpPr/>
          <p:nvPr/>
        </p:nvSpPr>
        <p:spPr>
          <a:xfrm>
            <a:off x="8065008" y="4937760"/>
            <a:ext cx="3639312" cy="141732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65008" y="4937760"/>
            <a:ext cx="3639312" cy="91440"/>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65008" y="5074920"/>
            <a:ext cx="3639312" cy="50292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1900" b="1" i="0">
                <a:solidFill>
                  <a:srgbClr val="F4A25F"/>
                </a:solidFill>
                <a:latin typeface="Calibri"/>
                <a:ea typeface="Microsoft YaHei"/>
              </a:rPr>
              <a:t>FNR 0.33–0.64%</a:t>
            </a:r>
          </a:p>
        </p:txBody>
      </p:sp>
      <p:sp>
        <p:nvSpPr>
          <p:cNvPr id="34" name="TextBox 33"/>
          <p:cNvSpPr txBox="1"/>
          <p:nvPr/>
        </p:nvSpPr>
        <p:spPr>
          <a:xfrm>
            <a:off x="8202168" y="5596128"/>
            <a:ext cx="3364992" cy="32004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1100" b="1" i="0">
                <a:solidFill>
                  <a:srgbClr val="1B2A4A"/>
                </a:solidFill>
                <a:latin typeface="Calibri"/>
                <a:ea typeface="Microsoft YaHei"/>
              </a:rPr>
              <a:t>False Negative Rate</a:t>
            </a:r>
          </a:p>
        </p:txBody>
      </p:sp>
      <p:sp>
        <p:nvSpPr>
          <p:cNvPr id="35" name="TextBox 34"/>
          <p:cNvSpPr txBox="1"/>
          <p:nvPr/>
        </p:nvSpPr>
        <p:spPr>
          <a:xfrm>
            <a:off x="8202168" y="5897880"/>
            <a:ext cx="3364992" cy="36576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950" b="0" i="0">
                <a:solidFill>
                  <a:srgbClr val="5A5A5A"/>
                </a:solidFill>
                <a:latin typeface="Calibri"/>
                <a:ea typeface="Microsoft YaHei"/>
              </a:rPr>
              <a:t>Minimal product waste only</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Figures from the Literature · From Lab HSI to the Optical Sorter</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4 · Industrial Sorting</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56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Romaniello et al., 2024</a:t>
            </a:r>
          </a:p>
        </p:txBody>
      </p:sp>
      <p:sp>
        <p:nvSpPr>
          <p:cNvPr id="9" name="Rectangle 8"/>
          <p:cNvSpPr/>
          <p:nvPr/>
        </p:nvSpPr>
        <p:spPr>
          <a:xfrm>
            <a:off x="457200" y="1371600"/>
            <a:ext cx="5486400" cy="420624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_lab_hsi.png"/>
          <p:cNvPicPr>
            <a:picLocks noChangeAspect="1"/>
          </p:cNvPicPr>
          <p:nvPr/>
        </p:nvPicPr>
        <p:blipFill>
          <a:blip r:embed="rId2"/>
          <a:stretch>
            <a:fillRect/>
          </a:stretch>
        </p:blipFill>
        <p:spPr>
          <a:xfrm>
            <a:off x="807300" y="1463040"/>
            <a:ext cx="4786198" cy="4023359"/>
          </a:xfrm>
          <a:prstGeom prst="rect">
            <a:avLst/>
          </a:prstGeom>
        </p:spPr>
      </p:pic>
      <p:sp>
        <p:nvSpPr>
          <p:cNvPr id="11" name="TextBox 10"/>
          <p:cNvSpPr txBox="1"/>
          <p:nvPr/>
        </p:nvSpPr>
        <p:spPr>
          <a:xfrm>
            <a:off x="457200" y="5596128"/>
            <a:ext cx="5486400" cy="777240"/>
          </a:xfrm>
          <a:prstGeom prst="rect">
            <a:avLst/>
          </a:prstGeom>
          <a:noFill/>
        </p:spPr>
        <p:txBody>
          <a:bodyPr wrap="square" anchor="t" lIns="25400" rIns="25400" tIns="25400" bIns="25400">
            <a:spAutoFit/>
          </a:bodyPr>
          <a:lstStyle/>
          <a:p>
            <a:pPr algn="ctr">
              <a:lnSpc>
                <a:spcPct val="108000"/>
              </a:lnSpc>
              <a:spcBef>
                <a:spcPts val="0"/>
              </a:spcBef>
              <a:spcAft>
                <a:spcPts val="200"/>
              </a:spcAft>
            </a:pPr>
            <a:r>
              <a:rPr sz="930" b="0" i="1">
                <a:solidFill>
                  <a:srgbClr val="5A5A5A"/>
                </a:solidFill>
                <a:latin typeface="Calibri"/>
                <a:ea typeface="Microsoft YaHei"/>
              </a:rPr>
              <a:t>Figure 2. Pushbroom hyperspectral imaging system: (a) the VIS/NIR and SWIR sensors with 45° mirrors, (b) fibre optics and light collimators, (c) pseudo-image of the VIS/NIR camera, (d) reflectance spectra of the segmented legumes. (Romaniello et al., 2024)</a:t>
            </a:r>
          </a:p>
        </p:txBody>
      </p:sp>
      <p:sp>
        <p:nvSpPr>
          <p:cNvPr id="12" name="Rectangle 11"/>
          <p:cNvSpPr/>
          <p:nvPr/>
        </p:nvSpPr>
        <p:spPr>
          <a:xfrm>
            <a:off x="6172200" y="1371600"/>
            <a:ext cx="5559552" cy="420624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fig_sorter.png"/>
          <p:cNvPicPr>
            <a:picLocks noChangeAspect="1"/>
          </p:cNvPicPr>
          <p:nvPr/>
        </p:nvPicPr>
        <p:blipFill>
          <a:blip r:embed="rId3"/>
          <a:stretch>
            <a:fillRect/>
          </a:stretch>
        </p:blipFill>
        <p:spPr>
          <a:xfrm>
            <a:off x="7431597" y="1463040"/>
            <a:ext cx="3040757" cy="4023359"/>
          </a:xfrm>
          <a:prstGeom prst="rect">
            <a:avLst/>
          </a:prstGeom>
        </p:spPr>
      </p:pic>
      <p:sp>
        <p:nvSpPr>
          <p:cNvPr id="14" name="TextBox 13"/>
          <p:cNvSpPr txBox="1"/>
          <p:nvPr/>
        </p:nvSpPr>
        <p:spPr>
          <a:xfrm>
            <a:off x="6172200" y="5596128"/>
            <a:ext cx="5559552" cy="777240"/>
          </a:xfrm>
          <a:prstGeom prst="rect">
            <a:avLst/>
          </a:prstGeom>
          <a:noFill/>
        </p:spPr>
        <p:txBody>
          <a:bodyPr wrap="square" anchor="t" lIns="25400" rIns="25400" tIns="25400" bIns="25400">
            <a:spAutoFit/>
          </a:bodyPr>
          <a:lstStyle/>
          <a:p>
            <a:pPr algn="ctr">
              <a:lnSpc>
                <a:spcPct val="108000"/>
              </a:lnSpc>
              <a:spcBef>
                <a:spcPts val="0"/>
              </a:spcBef>
              <a:spcAft>
                <a:spcPts val="200"/>
              </a:spcAft>
            </a:pPr>
            <a:r>
              <a:rPr sz="930" b="0" i="1">
                <a:solidFill>
                  <a:srgbClr val="5A5A5A"/>
                </a:solidFill>
                <a:latin typeface="Calibri"/>
                <a:ea typeface="Microsoft YaHei"/>
              </a:rPr>
              <a:t>Figure 4. The five-channel industrial hyperspectral sorter: products fall from the hopper past VIS and NIR classification stations, which trigger compressed-air ejection into separate final boxes. (Romaniello et al., 2024)</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Future Trend 1 · Miniaturization</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4 · Future Trends</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57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Mukhtar et al., 2025</a:t>
            </a:r>
          </a:p>
        </p:txBody>
      </p:sp>
      <p:sp>
        <p:nvSpPr>
          <p:cNvPr id="9" name="Rectangle 8"/>
          <p:cNvSpPr/>
          <p:nvPr/>
        </p:nvSpPr>
        <p:spPr>
          <a:xfrm>
            <a:off x="457200" y="1371600"/>
            <a:ext cx="5532120" cy="20574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09728" cy="20574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499616"/>
            <a:ext cx="5120640" cy="347472"/>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500" b="1" i="0">
                <a:solidFill>
                  <a:srgbClr val="1B2A4A"/>
                </a:solidFill>
                <a:latin typeface="Calibri"/>
                <a:ea typeface="Microsoft YaHei"/>
              </a:rPr>
              <a:t>DIY</a:t>
            </a:r>
          </a:p>
        </p:txBody>
      </p:sp>
      <p:sp>
        <p:nvSpPr>
          <p:cNvPr id="12" name="TextBox 11"/>
          <p:cNvSpPr txBox="1"/>
          <p:nvPr/>
        </p:nvSpPr>
        <p:spPr>
          <a:xfrm>
            <a:off x="658368" y="1883664"/>
            <a:ext cx="5120640" cy="502920"/>
          </a:xfrm>
          <a:prstGeom prst="rect">
            <a:avLst/>
          </a:prstGeom>
          <a:noFill/>
        </p:spPr>
        <p:txBody>
          <a:bodyPr wrap="square" anchor="t" lIns="25400" rIns="25400" tIns="25400" bIns="25400">
            <a:spAutoFit/>
          </a:bodyPr>
          <a:lstStyle/>
          <a:p>
            <a:pPr algn="l">
              <a:lnSpc>
                <a:spcPct val="110000"/>
              </a:lnSpc>
              <a:spcBef>
                <a:spcPts val="0"/>
              </a:spcBef>
              <a:spcAft>
                <a:spcPts val="200"/>
              </a:spcAft>
            </a:pPr>
            <a:r>
              <a:rPr sz="1019" b="0" i="0">
                <a:solidFill>
                  <a:srgbClr val="2D2D2D"/>
                </a:solidFill>
                <a:latin typeface="Calibri"/>
                <a:ea typeface="Microsoft YaHei"/>
              </a:rPr>
              <a:t>COTS camera + off-the-shelf optics + 3D printing</a:t>
            </a:r>
          </a:p>
        </p:txBody>
      </p:sp>
      <p:sp>
        <p:nvSpPr>
          <p:cNvPr id="13" name="TextBox 12"/>
          <p:cNvSpPr txBox="1"/>
          <p:nvPr/>
        </p:nvSpPr>
        <p:spPr>
          <a:xfrm>
            <a:off x="658368" y="2450591"/>
            <a:ext cx="512064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000" b="1" i="0">
                <a:solidFill>
                  <a:srgbClr val="2E7D5B"/>
                </a:solidFill>
                <a:latin typeface="Calibri"/>
                <a:ea typeface="Microsoft YaHei"/>
              </a:rPr>
              <a:t>✓  Low-cost, customisable</a:t>
            </a:r>
          </a:p>
        </p:txBody>
      </p:sp>
      <p:sp>
        <p:nvSpPr>
          <p:cNvPr id="14" name="TextBox 13"/>
          <p:cNvSpPr txBox="1"/>
          <p:nvPr/>
        </p:nvSpPr>
        <p:spPr>
          <a:xfrm>
            <a:off x="658368" y="2743200"/>
            <a:ext cx="5120640" cy="5029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000" b="1" i="0">
                <a:solidFill>
                  <a:srgbClr val="C05050"/>
                </a:solidFill>
                <a:latin typeface="Calibri"/>
                <a:ea typeface="Microsoft YaHei"/>
              </a:rPr>
              <a:t>✗  Large mechanical tolerance, tedious calibration</a:t>
            </a:r>
          </a:p>
        </p:txBody>
      </p:sp>
      <p:sp>
        <p:nvSpPr>
          <p:cNvPr id="15" name="Rectangle 14"/>
          <p:cNvSpPr/>
          <p:nvPr/>
        </p:nvSpPr>
        <p:spPr>
          <a:xfrm>
            <a:off x="6199632" y="1371600"/>
            <a:ext cx="5532120" cy="20574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9632" y="1371600"/>
            <a:ext cx="109728" cy="205740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499616"/>
            <a:ext cx="5120640" cy="347472"/>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500" b="1" i="0">
                <a:solidFill>
                  <a:srgbClr val="0096C7"/>
                </a:solidFill>
                <a:latin typeface="Calibri"/>
                <a:ea typeface="Microsoft YaHei"/>
              </a:rPr>
              <a:t>Freeform Optics</a:t>
            </a:r>
          </a:p>
        </p:txBody>
      </p:sp>
      <p:sp>
        <p:nvSpPr>
          <p:cNvPr id="18" name="TextBox 17"/>
          <p:cNvSpPr txBox="1"/>
          <p:nvPr/>
        </p:nvSpPr>
        <p:spPr>
          <a:xfrm>
            <a:off x="6400800" y="1883664"/>
            <a:ext cx="5120640" cy="502920"/>
          </a:xfrm>
          <a:prstGeom prst="rect">
            <a:avLst/>
          </a:prstGeom>
          <a:noFill/>
        </p:spPr>
        <p:txBody>
          <a:bodyPr wrap="square" anchor="t" lIns="25400" rIns="25400" tIns="25400" bIns="25400">
            <a:spAutoFit/>
          </a:bodyPr>
          <a:lstStyle/>
          <a:p>
            <a:pPr algn="l">
              <a:lnSpc>
                <a:spcPct val="110000"/>
              </a:lnSpc>
              <a:spcBef>
                <a:spcPts val="0"/>
              </a:spcBef>
              <a:spcAft>
                <a:spcPts val="200"/>
              </a:spcAft>
            </a:pPr>
            <a:r>
              <a:rPr sz="1019" b="0" i="0">
                <a:solidFill>
                  <a:srgbClr val="2D2D2D"/>
                </a:solidFill>
                <a:latin typeface="Calibri"/>
                <a:ea typeface="Microsoft YaHei"/>
              </a:rPr>
              <a:t>Dispersion + aberration + focusing in one non-axisymmetric surface</a:t>
            </a:r>
          </a:p>
        </p:txBody>
      </p:sp>
      <p:sp>
        <p:nvSpPr>
          <p:cNvPr id="19" name="TextBox 18"/>
          <p:cNvSpPr txBox="1"/>
          <p:nvPr/>
        </p:nvSpPr>
        <p:spPr>
          <a:xfrm>
            <a:off x="6400800" y="2450591"/>
            <a:ext cx="512064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000" b="1" i="0">
                <a:solidFill>
                  <a:srgbClr val="2E7D5B"/>
                </a:solidFill>
                <a:latin typeface="Calibri"/>
                <a:ea typeface="Microsoft YaHei"/>
              </a:rPr>
              <a:t>✓  Wide FOV, high fidelity, meets CubeSat / UAV limits</a:t>
            </a:r>
          </a:p>
        </p:txBody>
      </p:sp>
      <p:sp>
        <p:nvSpPr>
          <p:cNvPr id="20" name="TextBox 19"/>
          <p:cNvSpPr txBox="1"/>
          <p:nvPr/>
        </p:nvSpPr>
        <p:spPr>
          <a:xfrm>
            <a:off x="6400800" y="2743200"/>
            <a:ext cx="5120640" cy="5029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000" b="1" i="0">
                <a:solidFill>
                  <a:srgbClr val="C05050"/>
                </a:solidFill>
                <a:latin typeface="Calibri"/>
                <a:ea typeface="Microsoft YaHei"/>
              </a:rPr>
              <a:t>✗  High manufacturing cost, long lead time</a:t>
            </a:r>
          </a:p>
        </p:txBody>
      </p:sp>
      <p:sp>
        <p:nvSpPr>
          <p:cNvPr id="21" name="Rectangle 20"/>
          <p:cNvSpPr/>
          <p:nvPr/>
        </p:nvSpPr>
        <p:spPr>
          <a:xfrm>
            <a:off x="457200" y="3611880"/>
            <a:ext cx="5532120" cy="20574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3611880"/>
            <a:ext cx="109728" cy="2057400"/>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 y="3739896"/>
            <a:ext cx="5120640" cy="347472"/>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500" b="1" i="0">
                <a:solidFill>
                  <a:srgbClr val="F4A25F"/>
                </a:solidFill>
                <a:latin typeface="Calibri"/>
                <a:ea typeface="Microsoft YaHei"/>
              </a:rPr>
              <a:t>Filter-on-Chip</a:t>
            </a:r>
          </a:p>
        </p:txBody>
      </p:sp>
      <p:sp>
        <p:nvSpPr>
          <p:cNvPr id="24" name="TextBox 23"/>
          <p:cNvSpPr txBox="1"/>
          <p:nvPr/>
        </p:nvSpPr>
        <p:spPr>
          <a:xfrm>
            <a:off x="658368" y="4123944"/>
            <a:ext cx="5120640" cy="502920"/>
          </a:xfrm>
          <a:prstGeom prst="rect">
            <a:avLst/>
          </a:prstGeom>
          <a:noFill/>
        </p:spPr>
        <p:txBody>
          <a:bodyPr wrap="square" anchor="t" lIns="25400" rIns="25400" tIns="25400" bIns="25400">
            <a:spAutoFit/>
          </a:bodyPr>
          <a:lstStyle/>
          <a:p>
            <a:pPr algn="l">
              <a:lnSpc>
                <a:spcPct val="110000"/>
              </a:lnSpc>
              <a:spcBef>
                <a:spcPts val="0"/>
              </a:spcBef>
              <a:spcAft>
                <a:spcPts val="200"/>
              </a:spcAft>
            </a:pPr>
            <a:r>
              <a:rPr sz="1019" b="0" i="0">
                <a:solidFill>
                  <a:srgbClr val="2D2D2D"/>
                </a:solidFill>
                <a:latin typeface="Calibri"/>
                <a:ea typeface="Microsoft YaHei"/>
              </a:rPr>
              <a:t>Fabry-Pérot / photonic-crystal filters monolithically on CMOS</a:t>
            </a:r>
          </a:p>
        </p:txBody>
      </p:sp>
      <p:sp>
        <p:nvSpPr>
          <p:cNvPr id="25" name="TextBox 24"/>
          <p:cNvSpPr txBox="1"/>
          <p:nvPr/>
        </p:nvSpPr>
        <p:spPr>
          <a:xfrm>
            <a:off x="658368" y="4690872"/>
            <a:ext cx="512064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000" b="1" i="0">
                <a:solidFill>
                  <a:srgbClr val="2E7D5B"/>
                </a:solidFill>
                <a:latin typeface="Calibri"/>
                <a:ea typeface="Microsoft YaHei"/>
              </a:rPr>
              <a:t>✓  No moving parts, true snapshot, high SWaP efficiency</a:t>
            </a:r>
          </a:p>
        </p:txBody>
      </p:sp>
      <p:sp>
        <p:nvSpPr>
          <p:cNvPr id="26" name="TextBox 25"/>
          <p:cNvSpPr txBox="1"/>
          <p:nvPr/>
        </p:nvSpPr>
        <p:spPr>
          <a:xfrm>
            <a:off x="658368" y="4983480"/>
            <a:ext cx="5120640" cy="5029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000" b="1" i="0">
                <a:solidFill>
                  <a:srgbClr val="C05050"/>
                </a:solidFill>
                <a:latin typeface="Calibri"/>
                <a:ea typeface="Microsoft YaHei"/>
              </a:rPr>
              <a:t>✗  Difficult large-area nanofabrication</a:t>
            </a:r>
          </a:p>
        </p:txBody>
      </p:sp>
      <p:sp>
        <p:nvSpPr>
          <p:cNvPr id="27" name="Rectangle 26"/>
          <p:cNvSpPr/>
          <p:nvPr/>
        </p:nvSpPr>
        <p:spPr>
          <a:xfrm>
            <a:off x="6199632" y="3611880"/>
            <a:ext cx="5532120" cy="20574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99632" y="3611880"/>
            <a:ext cx="109728" cy="2057400"/>
          </a:xfrm>
          <a:prstGeom prst="rect">
            <a:avLst/>
          </a:prstGeom>
          <a:solidFill>
            <a:srgbClr val="C05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0" y="3739896"/>
            <a:ext cx="5120640" cy="347472"/>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500" b="1" i="0">
                <a:solidFill>
                  <a:srgbClr val="C05050"/>
                </a:solidFill>
                <a:latin typeface="Calibri"/>
                <a:ea typeface="Microsoft YaHei"/>
              </a:rPr>
              <a:t>Metasurface</a:t>
            </a:r>
          </a:p>
        </p:txBody>
      </p:sp>
      <p:sp>
        <p:nvSpPr>
          <p:cNvPr id="30" name="TextBox 29"/>
          <p:cNvSpPr txBox="1"/>
          <p:nvPr/>
        </p:nvSpPr>
        <p:spPr>
          <a:xfrm>
            <a:off x="6400800" y="4123944"/>
            <a:ext cx="5120640" cy="502920"/>
          </a:xfrm>
          <a:prstGeom prst="rect">
            <a:avLst/>
          </a:prstGeom>
          <a:noFill/>
        </p:spPr>
        <p:txBody>
          <a:bodyPr wrap="square" anchor="t" lIns="25400" rIns="25400" tIns="25400" bIns="25400">
            <a:spAutoFit/>
          </a:bodyPr>
          <a:lstStyle/>
          <a:p>
            <a:pPr algn="l">
              <a:lnSpc>
                <a:spcPct val="110000"/>
              </a:lnSpc>
              <a:spcBef>
                <a:spcPts val="0"/>
              </a:spcBef>
              <a:spcAft>
                <a:spcPts val="200"/>
              </a:spcAft>
            </a:pPr>
            <a:r>
              <a:rPr sz="1019" b="0" i="0">
                <a:solidFill>
                  <a:srgbClr val="2D2D2D"/>
                </a:solidFill>
                <a:latin typeface="Calibri"/>
                <a:ea typeface="Microsoft YaHei"/>
              </a:rPr>
              <a:t>Subwavelength meta-atoms for spectral / polarisation / computational control</a:t>
            </a:r>
          </a:p>
        </p:txBody>
      </p:sp>
      <p:sp>
        <p:nvSpPr>
          <p:cNvPr id="31" name="TextBox 30"/>
          <p:cNvSpPr txBox="1"/>
          <p:nvPr/>
        </p:nvSpPr>
        <p:spPr>
          <a:xfrm>
            <a:off x="6400800" y="4690872"/>
            <a:ext cx="512064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000" b="1" i="0">
                <a:solidFill>
                  <a:srgbClr val="2E7D5B"/>
                </a:solidFill>
                <a:latin typeface="Calibri"/>
                <a:ea typeface="Microsoft YaHei"/>
              </a:rPr>
              <a:t>✓  Ultrathin, multifunctional, video-rate HSI</a:t>
            </a:r>
          </a:p>
        </p:txBody>
      </p:sp>
      <p:sp>
        <p:nvSpPr>
          <p:cNvPr id="32" name="TextBox 31"/>
          <p:cNvSpPr txBox="1"/>
          <p:nvPr/>
        </p:nvSpPr>
        <p:spPr>
          <a:xfrm>
            <a:off x="6400800" y="4983480"/>
            <a:ext cx="5120640" cy="5029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000" b="1" i="0">
                <a:solidFill>
                  <a:srgbClr val="C05050"/>
                </a:solidFill>
                <a:latin typeface="Calibri"/>
                <a:ea typeface="Microsoft YaHei"/>
              </a:rPr>
              <a:t>✗  nm-precision fabrication across cm apertures</a:t>
            </a:r>
          </a:p>
        </p:txBody>
      </p:sp>
      <p:sp>
        <p:nvSpPr>
          <p:cNvPr id="33" name="Rectangle 32"/>
          <p:cNvSpPr/>
          <p:nvPr/>
        </p:nvSpPr>
        <p:spPr>
          <a:xfrm>
            <a:off x="457200" y="5989320"/>
            <a:ext cx="11274552" cy="41148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6053328"/>
            <a:ext cx="10789920" cy="320040"/>
          </a:xfrm>
          <a:prstGeom prst="rect">
            <a:avLst/>
          </a:prstGeom>
          <a:noFill/>
        </p:spPr>
        <p:txBody>
          <a:bodyPr wrap="square" anchor="ctr" lIns="25400" rIns="25400" tIns="25400" bIns="25400">
            <a:spAutoFit/>
          </a:bodyPr>
          <a:lstStyle/>
          <a:p>
            <a:pPr algn="ctr">
              <a:lnSpc>
                <a:spcPct val="105000"/>
              </a:lnSpc>
              <a:spcBef>
                <a:spcPts val="0"/>
              </a:spcBef>
              <a:spcAft>
                <a:spcPts val="200"/>
              </a:spcAft>
            </a:pPr>
            <a:r>
              <a:rPr sz="1150" b="1" i="0">
                <a:solidFill>
                  <a:srgbClr val="FFFFFF"/>
                </a:solidFill>
                <a:latin typeface="Calibri"/>
                <a:ea typeface="Microsoft YaHei"/>
              </a:rPr>
              <a:t>From 48 kg (1972 MSS) to &lt; 30 g snapshot cameras — progress driven by manufacturing maturity, not new optical architectures.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Figures from the Literature · Spectrometer Paradigms &amp; 50 Years of Shrinking</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4 · Future Trend · Miniaturization</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58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Mukhtar et al., 2025 · Tran &amp; Fei, 2023</a:t>
            </a:r>
          </a:p>
        </p:txBody>
      </p:sp>
      <p:sp>
        <p:nvSpPr>
          <p:cNvPr id="9" name="Rectangle 8"/>
          <p:cNvSpPr/>
          <p:nvPr/>
        </p:nvSpPr>
        <p:spPr>
          <a:xfrm>
            <a:off x="411480" y="1325880"/>
            <a:ext cx="6858000" cy="489204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_4paradigms.png"/>
          <p:cNvPicPr>
            <a:picLocks noChangeAspect="1"/>
          </p:cNvPicPr>
          <p:nvPr/>
        </p:nvPicPr>
        <p:blipFill>
          <a:blip r:embed="rId2"/>
          <a:stretch>
            <a:fillRect/>
          </a:stretch>
        </p:blipFill>
        <p:spPr>
          <a:xfrm>
            <a:off x="502920" y="1889108"/>
            <a:ext cx="6675120" cy="3765582"/>
          </a:xfrm>
          <a:prstGeom prst="rect">
            <a:avLst/>
          </a:prstGeom>
        </p:spPr>
      </p:pic>
      <p:sp>
        <p:nvSpPr>
          <p:cNvPr id="11" name="TextBox 10"/>
          <p:cNvSpPr txBox="1"/>
          <p:nvPr/>
        </p:nvSpPr>
        <p:spPr>
          <a:xfrm>
            <a:off x="411480" y="5870448"/>
            <a:ext cx="6858000" cy="777240"/>
          </a:xfrm>
          <a:prstGeom prst="rect">
            <a:avLst/>
          </a:prstGeom>
          <a:noFill/>
        </p:spPr>
        <p:txBody>
          <a:bodyPr wrap="square" anchor="t" lIns="25400" rIns="25400" tIns="25400" bIns="25400">
            <a:spAutoFit/>
          </a:bodyPr>
          <a:lstStyle/>
          <a:p>
            <a:pPr algn="ctr">
              <a:lnSpc>
                <a:spcPct val="108000"/>
              </a:lnSpc>
              <a:spcBef>
                <a:spcPts val="0"/>
              </a:spcBef>
              <a:spcAft>
                <a:spcPts val="200"/>
              </a:spcAft>
            </a:pPr>
            <a:r>
              <a:rPr sz="930" b="0" i="1">
                <a:solidFill>
                  <a:srgbClr val="5A5A5A"/>
                </a:solidFill>
                <a:latin typeface="Calibri"/>
                <a:ea typeface="Microsoft YaHei"/>
              </a:rPr>
              <a:t>Figure 15. Three decades of compact / miniaturized spectrometers: (A) dispersive optics, (B) narrowband filters, (C) Fourier-transform interferometers and (D) computational spectral reconstruction. (Mukhtar et al., 2025)</a:t>
            </a:r>
          </a:p>
        </p:txBody>
      </p:sp>
      <p:sp>
        <p:nvSpPr>
          <p:cNvPr id="12" name="Rectangle 11"/>
          <p:cNvSpPr/>
          <p:nvPr/>
        </p:nvSpPr>
        <p:spPr>
          <a:xfrm>
            <a:off x="7452360" y="1325880"/>
            <a:ext cx="4297680" cy="315468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fig_mini_timeline.png"/>
          <p:cNvPicPr>
            <a:picLocks noChangeAspect="1"/>
          </p:cNvPicPr>
          <p:nvPr/>
        </p:nvPicPr>
        <p:blipFill>
          <a:blip r:embed="rId3"/>
          <a:stretch>
            <a:fillRect/>
          </a:stretch>
        </p:blipFill>
        <p:spPr>
          <a:xfrm>
            <a:off x="7543800" y="1800399"/>
            <a:ext cx="4114800" cy="2205640"/>
          </a:xfrm>
          <a:prstGeom prst="rect">
            <a:avLst/>
          </a:prstGeom>
        </p:spPr>
      </p:pic>
      <p:sp>
        <p:nvSpPr>
          <p:cNvPr id="14" name="TextBox 13"/>
          <p:cNvSpPr txBox="1"/>
          <p:nvPr/>
        </p:nvSpPr>
        <p:spPr>
          <a:xfrm>
            <a:off x="7452360" y="4498848"/>
            <a:ext cx="4297680" cy="777240"/>
          </a:xfrm>
          <a:prstGeom prst="rect">
            <a:avLst/>
          </a:prstGeom>
          <a:noFill/>
        </p:spPr>
        <p:txBody>
          <a:bodyPr wrap="square" anchor="t" lIns="25400" rIns="25400" tIns="25400" bIns="25400">
            <a:spAutoFit/>
          </a:bodyPr>
          <a:lstStyle/>
          <a:p>
            <a:pPr algn="ctr">
              <a:lnSpc>
                <a:spcPct val="108000"/>
              </a:lnSpc>
              <a:spcBef>
                <a:spcPts val="0"/>
              </a:spcBef>
              <a:spcAft>
                <a:spcPts val="200"/>
              </a:spcAft>
            </a:pPr>
            <a:r>
              <a:rPr sz="930" b="0" i="1">
                <a:solidFill>
                  <a:srgbClr val="5A5A5A"/>
                </a:solidFill>
                <a:latin typeface="Calibri"/>
                <a:ea typeface="Microsoft YaHei"/>
              </a:rPr>
              <a:t>Fig. 1. System mass vs. year of spectral imagers, from MSS-1 (1972) to Specim IQ (2018). (Tran &amp; Fei, 2023)</a:t>
            </a:r>
          </a:p>
        </p:txBody>
      </p:sp>
      <p:sp>
        <p:nvSpPr>
          <p:cNvPr id="15" name="Rectangle 14"/>
          <p:cNvSpPr/>
          <p:nvPr/>
        </p:nvSpPr>
        <p:spPr>
          <a:xfrm>
            <a:off x="7452360" y="5230368"/>
            <a:ext cx="4297680" cy="1078992"/>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52360" y="5230368"/>
            <a:ext cx="109728" cy="1078992"/>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62672" y="5330952"/>
            <a:ext cx="3931920" cy="91440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100" b="1" i="0">
                <a:solidFill>
                  <a:srgbClr val="F4A25F"/>
                </a:solidFill>
                <a:latin typeface="Calibri"/>
                <a:ea typeface="Microsoft YaHei"/>
              </a:rPr>
              <a:t>The shrinking trend</a:t>
            </a:r>
          </a:p>
          <a:p>
            <a:pPr algn="l">
              <a:lnSpc>
                <a:spcPct val="110000"/>
              </a:lnSpc>
              <a:spcBef>
                <a:spcPts val="200"/>
              </a:spcBef>
              <a:spcAft>
                <a:spcPts val="200"/>
              </a:spcAft>
            </a:pPr>
            <a:r>
              <a:rPr sz="950" b="0" i="0">
                <a:solidFill>
                  <a:srgbClr val="2D2D2D"/>
                </a:solidFill>
                <a:latin typeface="Calibri"/>
                <a:ea typeface="Microsoft YaHei"/>
              </a:rPr>
              <a:t>After 2000, manufacturing advances made systems dramatically smaller — down to &lt; 30 g snapshot cameras.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Future Trend 2 · Real-time Processing &amp; AI</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4 · Future Trends</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59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Mukhtar et al., 2025</a:t>
            </a:r>
          </a:p>
        </p:txBody>
      </p:sp>
      <p:sp>
        <p:nvSpPr>
          <p:cNvPr id="9" name="Rectangle 8"/>
          <p:cNvSpPr/>
          <p:nvPr/>
        </p:nvSpPr>
        <p:spPr>
          <a:xfrm>
            <a:off x="457200" y="1371600"/>
            <a:ext cx="3639312" cy="16916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3639312" cy="6400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36192"/>
            <a:ext cx="3273552"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350" b="1" i="0">
                <a:solidFill>
                  <a:srgbClr val="1B2A4A"/>
                </a:solidFill>
                <a:latin typeface="Calibri"/>
                <a:ea typeface="Microsoft YaHei"/>
              </a:rPr>
              <a:t>Industrial Sorting</a:t>
            </a:r>
          </a:p>
        </p:txBody>
      </p:sp>
      <p:sp>
        <p:nvSpPr>
          <p:cNvPr id="12" name="TextBox 11"/>
          <p:cNvSpPr txBox="1"/>
          <p:nvPr/>
        </p:nvSpPr>
        <p:spPr>
          <a:xfrm>
            <a:off x="640080" y="1965960"/>
            <a:ext cx="3273552" cy="640080"/>
          </a:xfrm>
          <a:prstGeom prst="rect">
            <a:avLst/>
          </a:prstGeom>
          <a:noFill/>
        </p:spPr>
        <p:txBody>
          <a:bodyPr wrap="square" anchor="t" lIns="25400" rIns="25400" tIns="25400" bIns="25400">
            <a:spAutoFit/>
          </a:bodyPr>
          <a:lstStyle/>
          <a:p>
            <a:pPr algn="l">
              <a:lnSpc>
                <a:spcPct val="112000"/>
              </a:lnSpc>
              <a:spcBef>
                <a:spcPts val="0"/>
              </a:spcBef>
              <a:spcAft>
                <a:spcPts val="200"/>
              </a:spcAft>
            </a:pPr>
            <a:r>
              <a:rPr sz="1050" b="0" i="0">
                <a:solidFill>
                  <a:srgbClr val="2D2D2D"/>
                </a:solidFill>
                <a:latin typeface="Calibri"/>
                <a:ea typeface="Microsoft YaHei"/>
              </a:rPr>
              <a:t>NIR cameras at 15,000 Hz · free-fall detection</a:t>
            </a:r>
          </a:p>
        </p:txBody>
      </p:sp>
      <p:sp>
        <p:nvSpPr>
          <p:cNvPr id="13" name="TextBox 12"/>
          <p:cNvSpPr txBox="1"/>
          <p:nvPr/>
        </p:nvSpPr>
        <p:spPr>
          <a:xfrm>
            <a:off x="640080" y="2697480"/>
            <a:ext cx="3273552"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50" b="1" i="1">
                <a:solidFill>
                  <a:srgbClr val="5A5A5A"/>
                </a:solidFill>
                <a:latin typeface="Calibri"/>
                <a:ea typeface="Microsoft YaHei"/>
              </a:rPr>
              <a:t>Romaniello et al.</a:t>
            </a:r>
          </a:p>
        </p:txBody>
      </p:sp>
      <p:sp>
        <p:nvSpPr>
          <p:cNvPr id="14" name="Rectangle 13"/>
          <p:cNvSpPr/>
          <p:nvPr/>
        </p:nvSpPr>
        <p:spPr>
          <a:xfrm>
            <a:off x="4261104" y="1371600"/>
            <a:ext cx="3639312" cy="16916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61104" y="1371600"/>
            <a:ext cx="3639312" cy="6400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3984" y="1536192"/>
            <a:ext cx="3273552"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350" b="1" i="0">
                <a:solidFill>
                  <a:srgbClr val="0096C7"/>
                </a:solidFill>
                <a:latin typeface="Calibri"/>
                <a:ea typeface="Microsoft YaHei"/>
              </a:rPr>
              <a:t>Precision Weeding</a:t>
            </a:r>
          </a:p>
        </p:txBody>
      </p:sp>
      <p:sp>
        <p:nvSpPr>
          <p:cNvPr id="17" name="TextBox 16"/>
          <p:cNvSpPr txBox="1"/>
          <p:nvPr/>
        </p:nvSpPr>
        <p:spPr>
          <a:xfrm>
            <a:off x="4443984" y="1965960"/>
            <a:ext cx="3273552" cy="640080"/>
          </a:xfrm>
          <a:prstGeom prst="rect">
            <a:avLst/>
          </a:prstGeom>
          <a:noFill/>
        </p:spPr>
        <p:txBody>
          <a:bodyPr wrap="square" anchor="t" lIns="25400" rIns="25400" tIns="25400" bIns="25400">
            <a:spAutoFit/>
          </a:bodyPr>
          <a:lstStyle/>
          <a:p>
            <a:pPr algn="l">
              <a:lnSpc>
                <a:spcPct val="112000"/>
              </a:lnSpc>
              <a:spcBef>
                <a:spcPts val="0"/>
              </a:spcBef>
              <a:spcAft>
                <a:spcPts val="200"/>
              </a:spcAft>
            </a:pPr>
            <a:r>
              <a:rPr sz="1050" b="0" i="0">
                <a:solidFill>
                  <a:srgbClr val="2D2D2D"/>
                </a:solidFill>
                <a:latin typeface="Calibri"/>
                <a:ea typeface="Microsoft YaHei"/>
              </a:rPr>
              <a:t>30 ms per frame · real-time robotic control</a:t>
            </a:r>
          </a:p>
        </p:txBody>
      </p:sp>
      <p:sp>
        <p:nvSpPr>
          <p:cNvPr id="18" name="TextBox 17"/>
          <p:cNvSpPr txBox="1"/>
          <p:nvPr/>
        </p:nvSpPr>
        <p:spPr>
          <a:xfrm>
            <a:off x="4443984" y="2697480"/>
            <a:ext cx="3273552"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50" b="1" i="1">
                <a:solidFill>
                  <a:srgbClr val="5A5A5A"/>
                </a:solidFill>
                <a:latin typeface="Calibri"/>
                <a:ea typeface="Microsoft YaHei"/>
              </a:rPr>
              <a:t>Raja et al.</a:t>
            </a:r>
          </a:p>
        </p:txBody>
      </p:sp>
      <p:sp>
        <p:nvSpPr>
          <p:cNvPr id="19" name="Rectangle 18"/>
          <p:cNvSpPr/>
          <p:nvPr/>
        </p:nvSpPr>
        <p:spPr>
          <a:xfrm>
            <a:off x="8065008" y="1371600"/>
            <a:ext cx="3639312" cy="16916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65008" y="1371600"/>
            <a:ext cx="3639312" cy="64008"/>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47888" y="1536192"/>
            <a:ext cx="3273552"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350" b="1" i="0">
                <a:solidFill>
                  <a:srgbClr val="F4A25F"/>
                </a:solidFill>
                <a:latin typeface="Calibri"/>
                <a:ea typeface="Microsoft YaHei"/>
              </a:rPr>
              <a:t>Surgical Guidance</a:t>
            </a:r>
          </a:p>
        </p:txBody>
      </p:sp>
      <p:sp>
        <p:nvSpPr>
          <p:cNvPr id="22" name="TextBox 21"/>
          <p:cNvSpPr txBox="1"/>
          <p:nvPr/>
        </p:nvSpPr>
        <p:spPr>
          <a:xfrm>
            <a:off x="8247888" y="1965960"/>
            <a:ext cx="3273552" cy="640080"/>
          </a:xfrm>
          <a:prstGeom prst="rect">
            <a:avLst/>
          </a:prstGeom>
          <a:noFill/>
        </p:spPr>
        <p:txBody>
          <a:bodyPr wrap="square" anchor="t" lIns="25400" rIns="25400" tIns="25400" bIns="25400">
            <a:spAutoFit/>
          </a:bodyPr>
          <a:lstStyle/>
          <a:p>
            <a:pPr algn="l">
              <a:lnSpc>
                <a:spcPct val="112000"/>
              </a:lnSpc>
              <a:spcBef>
                <a:spcPts val="0"/>
              </a:spcBef>
              <a:spcAft>
                <a:spcPts val="200"/>
              </a:spcAft>
            </a:pPr>
            <a:r>
              <a:rPr sz="1050" b="0" i="0">
                <a:solidFill>
                  <a:srgbClr val="2D2D2D"/>
                </a:solidFill>
                <a:latin typeface="Calibri"/>
                <a:ea typeface="Microsoft YaHei"/>
              </a:rPr>
              <a:t>Acquisition as low as 4.6 s · SNR 30–43 dB</a:t>
            </a:r>
          </a:p>
        </p:txBody>
      </p:sp>
      <p:sp>
        <p:nvSpPr>
          <p:cNvPr id="23" name="TextBox 22"/>
          <p:cNvSpPr txBox="1"/>
          <p:nvPr/>
        </p:nvSpPr>
        <p:spPr>
          <a:xfrm>
            <a:off x="8247888" y="2697480"/>
            <a:ext cx="3273552"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50" b="1" i="1">
                <a:solidFill>
                  <a:srgbClr val="5A5A5A"/>
                </a:solidFill>
                <a:latin typeface="Calibri"/>
                <a:ea typeface="Microsoft YaHei"/>
              </a:rPr>
              <a:t>Mukhtar et al.</a:t>
            </a:r>
          </a:p>
        </p:txBody>
      </p:sp>
      <p:sp>
        <p:nvSpPr>
          <p:cNvPr id="24" name="TextBox 23"/>
          <p:cNvSpPr txBox="1"/>
          <p:nvPr/>
        </p:nvSpPr>
        <p:spPr>
          <a:xfrm>
            <a:off x="457200" y="3291840"/>
            <a:ext cx="11247120" cy="32004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400" b="1" i="0">
                <a:solidFill>
                  <a:srgbClr val="1B2A4A"/>
                </a:solidFill>
                <a:latin typeface="Calibri"/>
                <a:ea typeface="Microsoft YaHei"/>
              </a:rPr>
              <a:t>AI &amp; Computational Imaging Integration</a:t>
            </a:r>
          </a:p>
        </p:txBody>
      </p:sp>
      <p:sp>
        <p:nvSpPr>
          <p:cNvPr id="25" name="Rectangle 24"/>
          <p:cNvSpPr/>
          <p:nvPr/>
        </p:nvSpPr>
        <p:spPr>
          <a:xfrm>
            <a:off x="457200" y="3703320"/>
            <a:ext cx="11274552" cy="749808"/>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3703320"/>
            <a:ext cx="109728" cy="749808"/>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3776472"/>
            <a:ext cx="4114800" cy="594360"/>
          </a:xfrm>
          <a:prstGeom prst="rect">
            <a:avLst/>
          </a:prstGeom>
          <a:noFill/>
        </p:spPr>
        <p:txBody>
          <a:bodyPr wrap="square" anchor="ctr" lIns="25400" rIns="25400" tIns="25400" bIns="25400">
            <a:spAutoFit/>
          </a:bodyPr>
          <a:lstStyle/>
          <a:p>
            <a:pPr algn="l">
              <a:lnSpc>
                <a:spcPct val="105000"/>
              </a:lnSpc>
              <a:spcBef>
                <a:spcPts val="0"/>
              </a:spcBef>
              <a:spcAft>
                <a:spcPts val="200"/>
              </a:spcAft>
            </a:pPr>
            <a:r>
              <a:rPr sz="1200" b="1" i="0">
                <a:solidFill>
                  <a:srgbClr val="1B2A4A"/>
                </a:solidFill>
                <a:latin typeface="Calibri"/>
                <a:ea typeface="Microsoft YaHei"/>
              </a:rPr>
              <a:t>Computational Spectral Reconstruction</a:t>
            </a:r>
          </a:p>
        </p:txBody>
      </p:sp>
      <p:sp>
        <p:nvSpPr>
          <p:cNvPr id="28" name="TextBox 27"/>
          <p:cNvSpPr txBox="1"/>
          <p:nvPr/>
        </p:nvSpPr>
        <p:spPr>
          <a:xfrm>
            <a:off x="4983480" y="3776472"/>
            <a:ext cx="6583680" cy="594360"/>
          </a:xfrm>
          <a:prstGeom prst="rect">
            <a:avLst/>
          </a:prstGeom>
          <a:noFill/>
        </p:spPr>
        <p:txBody>
          <a:bodyPr wrap="square" anchor="ctr" lIns="25400" rIns="25400" tIns="25400" bIns="25400">
            <a:spAutoFit/>
          </a:bodyPr>
          <a:lstStyle/>
          <a:p>
            <a:pPr algn="l">
              <a:lnSpc>
                <a:spcPct val="112000"/>
              </a:lnSpc>
              <a:spcBef>
                <a:spcPts val="0"/>
              </a:spcBef>
              <a:spcAft>
                <a:spcPts val="200"/>
              </a:spcAft>
            </a:pPr>
            <a:r>
              <a:rPr sz="1050" b="0" i="0">
                <a:solidFill>
                  <a:srgbClr val="2D2D2D"/>
                </a:solidFill>
                <a:latin typeface="Calibri"/>
                <a:ea typeface="Microsoft YaHei"/>
              </a:rPr>
              <a:t>Compressed sensing &amp; deep-learning demultiplexing reduce hardware burden without losing spectral resolution.</a:t>
            </a:r>
          </a:p>
        </p:txBody>
      </p:sp>
      <p:sp>
        <p:nvSpPr>
          <p:cNvPr id="29" name="Rectangle 28"/>
          <p:cNvSpPr/>
          <p:nvPr/>
        </p:nvSpPr>
        <p:spPr>
          <a:xfrm>
            <a:off x="457200" y="4572000"/>
            <a:ext cx="11274552" cy="749808"/>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4572000"/>
            <a:ext cx="109728" cy="749808"/>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4645152"/>
            <a:ext cx="4114800" cy="594360"/>
          </a:xfrm>
          <a:prstGeom prst="rect">
            <a:avLst/>
          </a:prstGeom>
          <a:noFill/>
        </p:spPr>
        <p:txBody>
          <a:bodyPr wrap="square" anchor="ctr" lIns="25400" rIns="25400" tIns="25400" bIns="25400">
            <a:spAutoFit/>
          </a:bodyPr>
          <a:lstStyle/>
          <a:p>
            <a:pPr algn="l">
              <a:lnSpc>
                <a:spcPct val="105000"/>
              </a:lnSpc>
              <a:spcBef>
                <a:spcPts val="0"/>
              </a:spcBef>
              <a:spcAft>
                <a:spcPts val="200"/>
              </a:spcAft>
            </a:pPr>
            <a:r>
              <a:rPr sz="1200" b="1" i="0">
                <a:solidFill>
                  <a:srgbClr val="1B2A4A"/>
                </a:solidFill>
                <a:latin typeface="Calibri"/>
                <a:ea typeface="Microsoft YaHei"/>
              </a:rPr>
              <a:t>Edge Intelligence</a:t>
            </a:r>
          </a:p>
        </p:txBody>
      </p:sp>
      <p:sp>
        <p:nvSpPr>
          <p:cNvPr id="32" name="TextBox 31"/>
          <p:cNvSpPr txBox="1"/>
          <p:nvPr/>
        </p:nvSpPr>
        <p:spPr>
          <a:xfrm>
            <a:off x="4983480" y="4645152"/>
            <a:ext cx="6583680" cy="594360"/>
          </a:xfrm>
          <a:prstGeom prst="rect">
            <a:avLst/>
          </a:prstGeom>
          <a:noFill/>
        </p:spPr>
        <p:txBody>
          <a:bodyPr wrap="square" anchor="ctr" lIns="25400" rIns="25400" tIns="25400" bIns="25400">
            <a:spAutoFit/>
          </a:bodyPr>
          <a:lstStyle/>
          <a:p>
            <a:pPr algn="l">
              <a:lnSpc>
                <a:spcPct val="112000"/>
              </a:lnSpc>
              <a:spcBef>
                <a:spcPts val="0"/>
              </a:spcBef>
              <a:spcAft>
                <a:spcPts val="200"/>
              </a:spcAft>
            </a:pPr>
            <a:r>
              <a:rPr sz="1050" b="0" i="0">
                <a:solidFill>
                  <a:srgbClr val="2D2D2D"/>
                </a:solidFill>
                <a:latin typeface="Calibri"/>
                <a:ea typeface="Microsoft YaHei"/>
              </a:rPr>
              <a:t>ML models embedded directly in handheld / UAV devices for on-site, real-time analysis (e.g. plant health, pollutant detection).</a:t>
            </a:r>
          </a:p>
        </p:txBody>
      </p:sp>
      <p:sp>
        <p:nvSpPr>
          <p:cNvPr id="33" name="Rectangle 32"/>
          <p:cNvSpPr/>
          <p:nvPr/>
        </p:nvSpPr>
        <p:spPr>
          <a:xfrm>
            <a:off x="457200" y="5440679"/>
            <a:ext cx="11274552" cy="749808"/>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7200" y="5440679"/>
            <a:ext cx="109728" cy="749808"/>
          </a:xfrm>
          <a:prstGeom prst="rect">
            <a:avLst/>
          </a:prstGeom>
          <a:solidFill>
            <a:srgbClr val="C05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77240" y="5513831"/>
            <a:ext cx="4114800" cy="594360"/>
          </a:xfrm>
          <a:prstGeom prst="rect">
            <a:avLst/>
          </a:prstGeom>
          <a:noFill/>
        </p:spPr>
        <p:txBody>
          <a:bodyPr wrap="square" anchor="ctr" lIns="25400" rIns="25400" tIns="25400" bIns="25400">
            <a:spAutoFit/>
          </a:bodyPr>
          <a:lstStyle/>
          <a:p>
            <a:pPr algn="l">
              <a:lnSpc>
                <a:spcPct val="105000"/>
              </a:lnSpc>
              <a:spcBef>
                <a:spcPts val="0"/>
              </a:spcBef>
              <a:spcAft>
                <a:spcPts val="200"/>
              </a:spcAft>
            </a:pPr>
            <a:r>
              <a:rPr sz="1200" b="1" i="0">
                <a:solidFill>
                  <a:srgbClr val="1B2A4A"/>
                </a:solidFill>
                <a:latin typeface="Calibri"/>
                <a:ea typeface="Microsoft YaHei"/>
              </a:rPr>
              <a:t>Algorithm–Hardware Co-Design</a:t>
            </a:r>
          </a:p>
        </p:txBody>
      </p:sp>
      <p:sp>
        <p:nvSpPr>
          <p:cNvPr id="36" name="TextBox 35"/>
          <p:cNvSpPr txBox="1"/>
          <p:nvPr/>
        </p:nvSpPr>
        <p:spPr>
          <a:xfrm>
            <a:off x="4983480" y="5513831"/>
            <a:ext cx="6583680" cy="594360"/>
          </a:xfrm>
          <a:prstGeom prst="rect">
            <a:avLst/>
          </a:prstGeom>
          <a:noFill/>
        </p:spPr>
        <p:txBody>
          <a:bodyPr wrap="square" anchor="ctr" lIns="25400" rIns="25400" tIns="25400" bIns="25400">
            <a:spAutoFit/>
          </a:bodyPr>
          <a:lstStyle/>
          <a:p>
            <a:pPr algn="l">
              <a:lnSpc>
                <a:spcPct val="112000"/>
              </a:lnSpc>
              <a:spcBef>
                <a:spcPts val="0"/>
              </a:spcBef>
              <a:spcAft>
                <a:spcPts val="200"/>
              </a:spcAft>
            </a:pPr>
            <a:r>
              <a:rPr sz="1050" b="0" i="0">
                <a:solidFill>
                  <a:srgbClr val="2D2D2D"/>
                </a:solidFill>
                <a:latin typeface="Calibri"/>
                <a:ea typeface="Microsoft YaHei"/>
              </a:rPr>
              <a:t>Physics-aware neural networks on ASICs → sub-Watt on-device spectral analytics for autonomous drones and handheld diagnostics.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Future Trend 3 · Other Key Directions</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4 · Future Trends</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60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Mukhtar et al., 2025 · Tran &amp; Fei, 2023</a:t>
            </a:r>
          </a:p>
        </p:txBody>
      </p:sp>
      <p:sp>
        <p:nvSpPr>
          <p:cNvPr id="9" name="Rectangle 8"/>
          <p:cNvSpPr/>
          <p:nvPr/>
        </p:nvSpPr>
        <p:spPr>
          <a:xfrm>
            <a:off x="457200" y="1371600"/>
            <a:ext cx="5532120" cy="13716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09728" cy="13716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481328"/>
            <a:ext cx="5120640" cy="347472"/>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1B2A4A"/>
                </a:solidFill>
                <a:latin typeface="Calibri"/>
                <a:ea typeface="Microsoft YaHei"/>
              </a:rPr>
              <a:t>Tunable Metasurfaces</a:t>
            </a:r>
          </a:p>
        </p:txBody>
      </p:sp>
      <p:sp>
        <p:nvSpPr>
          <p:cNvPr id="12" name="TextBox 11"/>
          <p:cNvSpPr txBox="1"/>
          <p:nvPr/>
        </p:nvSpPr>
        <p:spPr>
          <a:xfrm>
            <a:off x="713232" y="1874519"/>
            <a:ext cx="5074920" cy="777240"/>
          </a:xfrm>
          <a:prstGeom prst="rect">
            <a:avLst/>
          </a:prstGeom>
          <a:noFill/>
        </p:spPr>
        <p:txBody>
          <a:bodyPr wrap="square" anchor="t" lIns="25400" rIns="25400" tIns="25400" bIns="25400">
            <a:spAutoFit/>
          </a:bodyPr>
          <a:lstStyle/>
          <a:p>
            <a:pPr algn="l">
              <a:lnSpc>
                <a:spcPct val="112000"/>
              </a:lnSpc>
              <a:spcBef>
                <a:spcPts val="0"/>
              </a:spcBef>
              <a:spcAft>
                <a:spcPts val="200"/>
              </a:spcAft>
            </a:pPr>
            <a:r>
              <a:rPr sz="1019" b="0" i="0">
                <a:solidFill>
                  <a:srgbClr val="2D2D2D"/>
                </a:solidFill>
                <a:latin typeface="Calibri"/>
                <a:ea typeface="Microsoft YaHei"/>
              </a:rPr>
              <a:t>Reconfigurable spectral response in real time based on task requirements, with minimal size / power increase.</a:t>
            </a:r>
          </a:p>
        </p:txBody>
      </p:sp>
      <p:sp>
        <p:nvSpPr>
          <p:cNvPr id="13" name="Rectangle 12"/>
          <p:cNvSpPr/>
          <p:nvPr/>
        </p:nvSpPr>
        <p:spPr>
          <a:xfrm>
            <a:off x="6199632" y="1371600"/>
            <a:ext cx="5532120" cy="13716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9632" y="1371600"/>
            <a:ext cx="109728" cy="137160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1481328"/>
            <a:ext cx="5120640" cy="347472"/>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0096C7"/>
                </a:solidFill>
                <a:latin typeface="Calibri"/>
                <a:ea typeface="Microsoft YaHei"/>
              </a:rPr>
              <a:t>Expanded Spectral Coverage</a:t>
            </a:r>
          </a:p>
        </p:txBody>
      </p:sp>
      <p:sp>
        <p:nvSpPr>
          <p:cNvPr id="16" name="TextBox 15"/>
          <p:cNvSpPr txBox="1"/>
          <p:nvPr/>
        </p:nvSpPr>
        <p:spPr>
          <a:xfrm>
            <a:off x="6455664" y="1874519"/>
            <a:ext cx="5074920" cy="777240"/>
          </a:xfrm>
          <a:prstGeom prst="rect">
            <a:avLst/>
          </a:prstGeom>
          <a:noFill/>
        </p:spPr>
        <p:txBody>
          <a:bodyPr wrap="square" anchor="t" lIns="25400" rIns="25400" tIns="25400" bIns="25400">
            <a:spAutoFit/>
          </a:bodyPr>
          <a:lstStyle/>
          <a:p>
            <a:pPr algn="l">
              <a:lnSpc>
                <a:spcPct val="112000"/>
              </a:lnSpc>
              <a:spcBef>
                <a:spcPts val="0"/>
              </a:spcBef>
              <a:spcAft>
                <a:spcPts val="200"/>
              </a:spcAft>
            </a:pPr>
            <a:r>
              <a:rPr sz="1019" b="0" i="0">
                <a:solidFill>
                  <a:srgbClr val="2D2D2D"/>
                </a:solidFill>
                <a:latin typeface="Calibri"/>
                <a:ea typeface="Microsoft YaHei"/>
              </a:rPr>
              <a:t>Extend from VIS-NIR to ultraviolet and mid-infrared — unlocks astronomy, chemical sensing, security.</a:t>
            </a:r>
          </a:p>
        </p:txBody>
      </p:sp>
      <p:sp>
        <p:nvSpPr>
          <p:cNvPr id="17" name="Rectangle 16"/>
          <p:cNvSpPr/>
          <p:nvPr/>
        </p:nvSpPr>
        <p:spPr>
          <a:xfrm>
            <a:off x="457200" y="2944368"/>
            <a:ext cx="5532120" cy="13716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2944368"/>
            <a:ext cx="109728" cy="1371600"/>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3054096"/>
            <a:ext cx="5120640" cy="347472"/>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F4A25F"/>
                </a:solidFill>
                <a:latin typeface="Calibri"/>
                <a:ea typeface="Microsoft YaHei"/>
              </a:rPr>
              <a:t>Low-Cost &amp; Open-Source</a:t>
            </a:r>
          </a:p>
        </p:txBody>
      </p:sp>
      <p:sp>
        <p:nvSpPr>
          <p:cNvPr id="20" name="TextBox 19"/>
          <p:cNvSpPr txBox="1"/>
          <p:nvPr/>
        </p:nvSpPr>
        <p:spPr>
          <a:xfrm>
            <a:off x="713232" y="3447287"/>
            <a:ext cx="5074920" cy="777240"/>
          </a:xfrm>
          <a:prstGeom prst="rect">
            <a:avLst/>
          </a:prstGeom>
          <a:noFill/>
        </p:spPr>
        <p:txBody>
          <a:bodyPr wrap="square" anchor="t" lIns="25400" rIns="25400" tIns="25400" bIns="25400">
            <a:spAutoFit/>
          </a:bodyPr>
          <a:lstStyle/>
          <a:p>
            <a:pPr algn="l">
              <a:lnSpc>
                <a:spcPct val="112000"/>
              </a:lnSpc>
              <a:spcBef>
                <a:spcPts val="0"/>
              </a:spcBef>
              <a:spcAft>
                <a:spcPts val="200"/>
              </a:spcAft>
            </a:pPr>
            <a:r>
              <a:rPr sz="1019" b="0" i="0">
                <a:solidFill>
                  <a:srgbClr val="2D2D2D"/>
                </a:solidFill>
                <a:latin typeface="Calibri"/>
                <a:ea typeface="Microsoft YaHei"/>
              </a:rPr>
              <a:t>COTS components, 3D printing, open hardware / software; smartphones as camera + control + IoT node.</a:t>
            </a:r>
          </a:p>
        </p:txBody>
      </p:sp>
      <p:sp>
        <p:nvSpPr>
          <p:cNvPr id="21" name="Rectangle 20"/>
          <p:cNvSpPr/>
          <p:nvPr/>
        </p:nvSpPr>
        <p:spPr>
          <a:xfrm>
            <a:off x="6199632" y="2944368"/>
            <a:ext cx="5532120" cy="13716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99632" y="2944368"/>
            <a:ext cx="109728" cy="1371600"/>
          </a:xfrm>
          <a:prstGeom prst="rect">
            <a:avLst/>
          </a:prstGeom>
          <a:solidFill>
            <a:srgbClr val="C05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5664" y="3054096"/>
            <a:ext cx="5120640" cy="347472"/>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C05050"/>
                </a:solidFill>
                <a:latin typeface="Calibri"/>
                <a:ea typeface="Microsoft YaHei"/>
              </a:rPr>
              <a:t>Multimodal Fusion</a:t>
            </a:r>
          </a:p>
        </p:txBody>
      </p:sp>
      <p:sp>
        <p:nvSpPr>
          <p:cNvPr id="24" name="TextBox 23"/>
          <p:cNvSpPr txBox="1"/>
          <p:nvPr/>
        </p:nvSpPr>
        <p:spPr>
          <a:xfrm>
            <a:off x="6455664" y="3447287"/>
            <a:ext cx="5074920" cy="777240"/>
          </a:xfrm>
          <a:prstGeom prst="rect">
            <a:avLst/>
          </a:prstGeom>
          <a:noFill/>
        </p:spPr>
        <p:txBody>
          <a:bodyPr wrap="square" anchor="t" lIns="25400" rIns="25400" tIns="25400" bIns="25400">
            <a:spAutoFit/>
          </a:bodyPr>
          <a:lstStyle/>
          <a:p>
            <a:pPr algn="l">
              <a:lnSpc>
                <a:spcPct val="112000"/>
              </a:lnSpc>
              <a:spcBef>
                <a:spcPts val="0"/>
              </a:spcBef>
              <a:spcAft>
                <a:spcPts val="200"/>
              </a:spcAft>
            </a:pPr>
            <a:r>
              <a:rPr sz="1019" b="0" i="0">
                <a:solidFill>
                  <a:srgbClr val="2D2D2D"/>
                </a:solidFill>
                <a:latin typeface="Calibri"/>
                <a:ea typeface="Microsoft YaHei"/>
              </a:rPr>
              <a:t>Combine with OCT (depth), LSCI (vasculature), Raman (chemistry), photoacoustic (up to 5 cm penetration).</a:t>
            </a:r>
          </a:p>
        </p:txBody>
      </p:sp>
      <p:sp>
        <p:nvSpPr>
          <p:cNvPr id="25" name="Rectangle 24"/>
          <p:cNvSpPr/>
          <p:nvPr/>
        </p:nvSpPr>
        <p:spPr>
          <a:xfrm>
            <a:off x="457200" y="4517136"/>
            <a:ext cx="5532120" cy="13716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4517136"/>
            <a:ext cx="109728" cy="13716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3232" y="4626864"/>
            <a:ext cx="5120640" cy="347472"/>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1B2A4A"/>
                </a:solidFill>
                <a:latin typeface="Calibri"/>
                <a:ea typeface="Microsoft YaHei"/>
              </a:rPr>
              <a:t>IoT &amp; Edge Networks</a:t>
            </a:r>
          </a:p>
        </p:txBody>
      </p:sp>
      <p:sp>
        <p:nvSpPr>
          <p:cNvPr id="28" name="TextBox 27"/>
          <p:cNvSpPr txBox="1"/>
          <p:nvPr/>
        </p:nvSpPr>
        <p:spPr>
          <a:xfrm>
            <a:off x="713232" y="5020055"/>
            <a:ext cx="5074920" cy="777240"/>
          </a:xfrm>
          <a:prstGeom prst="rect">
            <a:avLst/>
          </a:prstGeom>
          <a:noFill/>
        </p:spPr>
        <p:txBody>
          <a:bodyPr wrap="square" anchor="t" lIns="25400" rIns="25400" tIns="25400" bIns="25400">
            <a:spAutoFit/>
          </a:bodyPr>
          <a:lstStyle/>
          <a:p>
            <a:pPr algn="l">
              <a:lnSpc>
                <a:spcPct val="112000"/>
              </a:lnSpc>
              <a:spcBef>
                <a:spcPts val="0"/>
              </a:spcBef>
              <a:spcAft>
                <a:spcPts val="200"/>
              </a:spcAft>
            </a:pPr>
            <a:r>
              <a:rPr sz="1019" b="0" i="0">
                <a:solidFill>
                  <a:srgbClr val="2D2D2D"/>
                </a:solidFill>
                <a:latin typeface="Calibri"/>
                <a:ea typeface="Microsoft YaHei"/>
              </a:rPr>
              <a:t>UAV swarms / field sensors process data locally, transmit only key insights for scalable environmental monitoring.</a:t>
            </a:r>
          </a:p>
        </p:txBody>
      </p:sp>
      <p:sp>
        <p:nvSpPr>
          <p:cNvPr id="29" name="Rectangle 28"/>
          <p:cNvSpPr/>
          <p:nvPr/>
        </p:nvSpPr>
        <p:spPr>
          <a:xfrm>
            <a:off x="6199632" y="4517136"/>
            <a:ext cx="5532120" cy="13716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99632" y="4517136"/>
            <a:ext cx="109728" cy="1371600"/>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55664" y="4626864"/>
            <a:ext cx="5120640" cy="347472"/>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1" i="0">
                <a:solidFill>
                  <a:srgbClr val="0096C7"/>
                </a:solidFill>
                <a:latin typeface="Calibri"/>
                <a:ea typeface="Microsoft YaHei"/>
              </a:rPr>
              <a:t>Scalable Manufacturing</a:t>
            </a:r>
          </a:p>
        </p:txBody>
      </p:sp>
      <p:sp>
        <p:nvSpPr>
          <p:cNvPr id="32" name="TextBox 31"/>
          <p:cNvSpPr txBox="1"/>
          <p:nvPr/>
        </p:nvSpPr>
        <p:spPr>
          <a:xfrm>
            <a:off x="6455664" y="5020055"/>
            <a:ext cx="5074920" cy="777240"/>
          </a:xfrm>
          <a:prstGeom prst="rect">
            <a:avLst/>
          </a:prstGeom>
          <a:noFill/>
        </p:spPr>
        <p:txBody>
          <a:bodyPr wrap="square" anchor="t" lIns="25400" rIns="25400" tIns="25400" bIns="25400">
            <a:spAutoFit/>
          </a:bodyPr>
          <a:lstStyle/>
          <a:p>
            <a:pPr algn="l">
              <a:lnSpc>
                <a:spcPct val="112000"/>
              </a:lnSpc>
              <a:spcBef>
                <a:spcPts val="0"/>
              </a:spcBef>
              <a:spcAft>
                <a:spcPts val="200"/>
              </a:spcAft>
            </a:pPr>
            <a:r>
              <a:rPr sz="1019" b="0" i="0">
                <a:solidFill>
                  <a:srgbClr val="2D2D2D"/>
                </a:solidFill>
                <a:latin typeface="Calibri"/>
                <a:ea typeface="Microsoft YaHei"/>
              </a:rPr>
              <a:t>Roll-to-roll nanoimprint, high-throughput DUV lithography, open calibration protocols → mass-market products.</a:t>
            </a:r>
          </a:p>
        </p:txBody>
      </p:sp>
      <p:sp>
        <p:nvSpPr>
          <p:cNvPr id="33" name="TextBox 32"/>
          <p:cNvSpPr txBox="1"/>
          <p:nvPr/>
        </p:nvSpPr>
        <p:spPr>
          <a:xfrm>
            <a:off x="457200" y="6172200"/>
            <a:ext cx="11247120" cy="22860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1" i="1">
                <a:solidFill>
                  <a:srgbClr val="5A5A5A"/>
                </a:solidFill>
                <a:latin typeface="Calibri"/>
                <a:ea typeface="Microsoft YaHei"/>
              </a:rPr>
              <a:t>Mukhtar et al., 2025, pp.51–52 · Tran &amp; Fei, 2023, pp.35–38</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Summary · Key Takeaways</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Part 4 · Applications &amp; Future Trends</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61 / 63</a:t>
            </a:r>
          </a:p>
        </p:txBody>
      </p:sp>
      <p:sp>
        <p:nvSpPr>
          <p:cNvPr id="8" name="TextBox 7"/>
          <p:cNvSpPr txBox="1"/>
          <p:nvPr/>
        </p:nvSpPr>
        <p:spPr>
          <a:xfrm>
            <a:off x="4846320" y="6446520"/>
            <a:ext cx="6976872" cy="274320"/>
          </a:xfrm>
          <a:prstGeom prst="rect">
            <a:avLst/>
          </a:prstGeom>
          <a:noFill/>
        </p:spPr>
        <p:txBody>
          <a:bodyPr wrap="square" anchor="t" lIns="25400" rIns="25400" tIns="25400" bIns="25400">
            <a:spAutoFit/>
          </a:bodyPr>
          <a:lstStyle/>
          <a:p>
            <a:pPr algn="r">
              <a:lnSpc>
                <a:spcPct val="105000"/>
              </a:lnSpc>
              <a:spcBef>
                <a:spcPts val="0"/>
              </a:spcBef>
              <a:spcAft>
                <a:spcPts val="200"/>
              </a:spcAft>
            </a:pPr>
            <a:r>
              <a:rPr sz="900" b="0" i="0">
                <a:solidFill>
                  <a:srgbClr val="5A5A5A"/>
                </a:solidFill>
                <a:latin typeface="Calibri"/>
                <a:ea typeface="Microsoft YaHei"/>
              </a:rPr>
              <a:t>All 6 papers · 2003–2025</a:t>
            </a:r>
          </a:p>
        </p:txBody>
      </p:sp>
      <p:sp>
        <p:nvSpPr>
          <p:cNvPr id="9" name="Rectangle 8"/>
          <p:cNvSpPr/>
          <p:nvPr/>
        </p:nvSpPr>
        <p:spPr>
          <a:xfrm>
            <a:off x="457200" y="1325880"/>
            <a:ext cx="5532120" cy="48920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109728" cy="489204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1463040"/>
            <a:ext cx="512064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400" b="1" i="0">
                <a:solidFill>
                  <a:srgbClr val="1B2A4A"/>
                </a:solidFill>
                <a:latin typeface="Calibri"/>
                <a:ea typeface="Microsoft YaHei"/>
              </a:rPr>
              <a:t>Applications &amp; Key Results</a:t>
            </a:r>
          </a:p>
        </p:txBody>
      </p:sp>
      <p:sp>
        <p:nvSpPr>
          <p:cNvPr id="12" name="TextBox 11"/>
          <p:cNvSpPr txBox="1"/>
          <p:nvPr/>
        </p:nvSpPr>
        <p:spPr>
          <a:xfrm>
            <a:off x="749808" y="1920240"/>
            <a:ext cx="512064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150" b="1" i="0">
                <a:solidFill>
                  <a:srgbClr val="0096C7"/>
                </a:solidFill>
                <a:latin typeface="Calibri"/>
                <a:ea typeface="Microsoft YaHei"/>
              </a:rPr>
              <a:t>•  Remote Sensing</a:t>
            </a:r>
          </a:p>
        </p:txBody>
      </p:sp>
      <p:sp>
        <p:nvSpPr>
          <p:cNvPr id="13" name="TextBox 12"/>
          <p:cNvSpPr txBox="1"/>
          <p:nvPr/>
        </p:nvSpPr>
        <p:spPr>
          <a:xfrm>
            <a:off x="914400" y="2212848"/>
            <a:ext cx="4937760" cy="457200"/>
          </a:xfrm>
          <a:prstGeom prst="rect">
            <a:avLst/>
          </a:prstGeom>
          <a:noFill/>
        </p:spPr>
        <p:txBody>
          <a:bodyPr wrap="square" anchor="t" lIns="25400" rIns="25400" tIns="25400" bIns="25400">
            <a:spAutoFit/>
          </a:bodyPr>
          <a:lstStyle/>
          <a:p>
            <a:pPr algn="l">
              <a:lnSpc>
                <a:spcPct val="110000"/>
              </a:lnSpc>
              <a:spcBef>
                <a:spcPts val="0"/>
              </a:spcBef>
              <a:spcAft>
                <a:spcPts val="200"/>
              </a:spcAft>
            </a:pPr>
            <a:r>
              <a:rPr sz="1000" b="0" i="0">
                <a:solidFill>
                  <a:srgbClr val="2D2D2D"/>
                </a:solidFill>
                <a:latin typeface="Calibri"/>
                <a:ea typeface="Microsoft YaHei"/>
              </a:rPr>
              <a:t>Anomaly detection, target recognition, background characterization</a:t>
            </a:r>
          </a:p>
        </p:txBody>
      </p:sp>
      <p:sp>
        <p:nvSpPr>
          <p:cNvPr id="14" name="TextBox 13"/>
          <p:cNvSpPr txBox="1"/>
          <p:nvPr/>
        </p:nvSpPr>
        <p:spPr>
          <a:xfrm>
            <a:off x="749808" y="2724912"/>
            <a:ext cx="512064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150" b="1" i="0">
                <a:solidFill>
                  <a:srgbClr val="0096C7"/>
                </a:solidFill>
                <a:latin typeface="Calibri"/>
                <a:ea typeface="Microsoft YaHei"/>
              </a:rPr>
              <a:t>•  Environmental Monitoring</a:t>
            </a:r>
          </a:p>
        </p:txBody>
      </p:sp>
      <p:sp>
        <p:nvSpPr>
          <p:cNvPr id="15" name="TextBox 14"/>
          <p:cNvSpPr txBox="1"/>
          <p:nvPr/>
        </p:nvSpPr>
        <p:spPr>
          <a:xfrm>
            <a:off x="914400" y="3017520"/>
            <a:ext cx="4937760" cy="457200"/>
          </a:xfrm>
          <a:prstGeom prst="rect">
            <a:avLst/>
          </a:prstGeom>
          <a:noFill/>
        </p:spPr>
        <p:txBody>
          <a:bodyPr wrap="square" anchor="t" lIns="25400" rIns="25400" tIns="25400" bIns="25400">
            <a:spAutoFit/>
          </a:bodyPr>
          <a:lstStyle/>
          <a:p>
            <a:pPr algn="l">
              <a:lnSpc>
                <a:spcPct val="110000"/>
              </a:lnSpc>
              <a:spcBef>
                <a:spcPts val="0"/>
              </a:spcBef>
              <a:spcAft>
                <a:spcPts val="200"/>
              </a:spcAft>
            </a:pPr>
            <a:r>
              <a:rPr sz="1000" b="0" i="0">
                <a:solidFill>
                  <a:srgbClr val="2D2D2D"/>
                </a:solidFill>
                <a:latin typeface="Calibri"/>
                <a:ea typeface="Microsoft YaHei"/>
              </a:rPr>
              <a:t>Drone HSI maps uranium-mine contamination at cm-scale</a:t>
            </a:r>
          </a:p>
        </p:txBody>
      </p:sp>
      <p:sp>
        <p:nvSpPr>
          <p:cNvPr id="16" name="TextBox 15"/>
          <p:cNvSpPr txBox="1"/>
          <p:nvPr/>
        </p:nvSpPr>
        <p:spPr>
          <a:xfrm>
            <a:off x="749808" y="3529584"/>
            <a:ext cx="512064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150" b="1" i="0">
                <a:solidFill>
                  <a:srgbClr val="0096C7"/>
                </a:solidFill>
                <a:latin typeface="Calibri"/>
                <a:ea typeface="Microsoft YaHei"/>
              </a:rPr>
              <a:t>•  Precision Agriculture</a:t>
            </a:r>
          </a:p>
        </p:txBody>
      </p:sp>
      <p:sp>
        <p:nvSpPr>
          <p:cNvPr id="17" name="TextBox 16"/>
          <p:cNvSpPr txBox="1"/>
          <p:nvPr/>
        </p:nvSpPr>
        <p:spPr>
          <a:xfrm>
            <a:off x="914400" y="3822191"/>
            <a:ext cx="4937760" cy="457200"/>
          </a:xfrm>
          <a:prstGeom prst="rect">
            <a:avLst/>
          </a:prstGeom>
          <a:noFill/>
        </p:spPr>
        <p:txBody>
          <a:bodyPr wrap="square" anchor="t" lIns="25400" rIns="25400" tIns="25400" bIns="25400">
            <a:spAutoFit/>
          </a:bodyPr>
          <a:lstStyle/>
          <a:p>
            <a:pPr algn="l">
              <a:lnSpc>
                <a:spcPct val="110000"/>
              </a:lnSpc>
              <a:spcBef>
                <a:spcPts val="0"/>
              </a:spcBef>
              <a:spcAft>
                <a:spcPts val="200"/>
              </a:spcAft>
            </a:pPr>
            <a:r>
              <a:rPr sz="1000" b="0" i="0">
                <a:solidFill>
                  <a:srgbClr val="2D2D2D"/>
                </a:solidFill>
                <a:latin typeface="Calibri"/>
                <a:ea typeface="Microsoft YaHei"/>
              </a:rPr>
              <a:t>100% accuracy, 30 ms/frame with Rh-B crop signalling</a:t>
            </a:r>
          </a:p>
        </p:txBody>
      </p:sp>
      <p:sp>
        <p:nvSpPr>
          <p:cNvPr id="18" name="TextBox 17"/>
          <p:cNvSpPr txBox="1"/>
          <p:nvPr/>
        </p:nvSpPr>
        <p:spPr>
          <a:xfrm>
            <a:off x="749808" y="4334256"/>
            <a:ext cx="512064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150" b="1" i="0">
                <a:solidFill>
                  <a:srgbClr val="0096C7"/>
                </a:solidFill>
                <a:latin typeface="Calibri"/>
                <a:ea typeface="Microsoft YaHei"/>
              </a:rPr>
              <a:t>•  Biomedical Imaging</a:t>
            </a:r>
          </a:p>
        </p:txBody>
      </p:sp>
      <p:sp>
        <p:nvSpPr>
          <p:cNvPr id="19" name="TextBox 18"/>
          <p:cNvSpPr txBox="1"/>
          <p:nvPr/>
        </p:nvSpPr>
        <p:spPr>
          <a:xfrm>
            <a:off x="914400" y="4626864"/>
            <a:ext cx="4937760" cy="457200"/>
          </a:xfrm>
          <a:prstGeom prst="rect">
            <a:avLst/>
          </a:prstGeom>
          <a:noFill/>
        </p:spPr>
        <p:txBody>
          <a:bodyPr wrap="square" anchor="t" lIns="25400" rIns="25400" tIns="25400" bIns="25400">
            <a:spAutoFit/>
          </a:bodyPr>
          <a:lstStyle/>
          <a:p>
            <a:pPr algn="l">
              <a:lnSpc>
                <a:spcPct val="110000"/>
              </a:lnSpc>
              <a:spcBef>
                <a:spcPts val="0"/>
              </a:spcBef>
              <a:spcAft>
                <a:spcPts val="200"/>
              </a:spcAft>
            </a:pPr>
            <a:r>
              <a:rPr sz="1000" b="0" i="0">
                <a:solidFill>
                  <a:srgbClr val="2D2D2D"/>
                </a:solidFill>
                <a:latin typeface="Calibri"/>
                <a:ea typeface="Microsoft YaHei"/>
              </a:rPr>
              <a:t>100% skin-cancer sensitivity; surgery at 4.6 s</a:t>
            </a:r>
          </a:p>
        </p:txBody>
      </p:sp>
      <p:sp>
        <p:nvSpPr>
          <p:cNvPr id="20" name="TextBox 19"/>
          <p:cNvSpPr txBox="1"/>
          <p:nvPr/>
        </p:nvSpPr>
        <p:spPr>
          <a:xfrm>
            <a:off x="749808" y="5138928"/>
            <a:ext cx="512064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150" b="1" i="0">
                <a:solidFill>
                  <a:srgbClr val="0096C7"/>
                </a:solidFill>
                <a:latin typeface="Calibri"/>
                <a:ea typeface="Microsoft YaHei"/>
              </a:rPr>
              <a:t>•  Industrial Sorting</a:t>
            </a:r>
          </a:p>
        </p:txBody>
      </p:sp>
      <p:sp>
        <p:nvSpPr>
          <p:cNvPr id="21" name="TextBox 20"/>
          <p:cNvSpPr txBox="1"/>
          <p:nvPr/>
        </p:nvSpPr>
        <p:spPr>
          <a:xfrm>
            <a:off x="914400" y="5431536"/>
            <a:ext cx="4937760" cy="457200"/>
          </a:xfrm>
          <a:prstGeom prst="rect">
            <a:avLst/>
          </a:prstGeom>
          <a:noFill/>
        </p:spPr>
        <p:txBody>
          <a:bodyPr wrap="square" anchor="t" lIns="25400" rIns="25400" tIns="25400" bIns="25400">
            <a:spAutoFit/>
          </a:bodyPr>
          <a:lstStyle/>
          <a:p>
            <a:pPr algn="l">
              <a:lnSpc>
                <a:spcPct val="110000"/>
              </a:lnSpc>
              <a:spcBef>
                <a:spcPts val="0"/>
              </a:spcBef>
              <a:spcAft>
                <a:spcPts val="200"/>
              </a:spcAft>
            </a:pPr>
            <a:r>
              <a:rPr sz="1000" b="0" i="0">
                <a:solidFill>
                  <a:srgbClr val="2D2D2D"/>
                </a:solidFill>
                <a:latin typeface="Calibri"/>
                <a:ea typeface="Microsoft YaHei"/>
              </a:rPr>
              <a:t>0% FPR, &gt;99% TPR for gluten-free legume sorting</a:t>
            </a:r>
          </a:p>
        </p:txBody>
      </p:sp>
      <p:sp>
        <p:nvSpPr>
          <p:cNvPr id="22" name="Rectangle 21"/>
          <p:cNvSpPr/>
          <p:nvPr/>
        </p:nvSpPr>
        <p:spPr>
          <a:xfrm>
            <a:off x="6199632" y="1325880"/>
            <a:ext cx="5532120" cy="48920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99632" y="1325880"/>
            <a:ext cx="109728" cy="4892040"/>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0" y="1463040"/>
            <a:ext cx="5120640" cy="36576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400" b="1" i="0">
                <a:solidFill>
                  <a:srgbClr val="F4A25F"/>
                </a:solidFill>
                <a:latin typeface="Calibri"/>
                <a:ea typeface="Microsoft YaHei"/>
              </a:rPr>
              <a:t>Future Trends</a:t>
            </a:r>
          </a:p>
        </p:txBody>
      </p:sp>
      <p:sp>
        <p:nvSpPr>
          <p:cNvPr id="25" name="TextBox 24"/>
          <p:cNvSpPr txBox="1"/>
          <p:nvPr/>
        </p:nvSpPr>
        <p:spPr>
          <a:xfrm>
            <a:off x="6492240" y="1920240"/>
            <a:ext cx="512064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150" b="1" i="0">
                <a:solidFill>
                  <a:srgbClr val="F4A25F"/>
                </a:solidFill>
                <a:latin typeface="Calibri"/>
                <a:ea typeface="Microsoft YaHei"/>
              </a:rPr>
              <a:t>•  Miniaturization</a:t>
            </a:r>
          </a:p>
        </p:txBody>
      </p:sp>
      <p:sp>
        <p:nvSpPr>
          <p:cNvPr id="26" name="TextBox 25"/>
          <p:cNvSpPr txBox="1"/>
          <p:nvPr/>
        </p:nvSpPr>
        <p:spPr>
          <a:xfrm>
            <a:off x="6675120" y="2212848"/>
            <a:ext cx="4937760" cy="868680"/>
          </a:xfrm>
          <a:prstGeom prst="rect">
            <a:avLst/>
          </a:prstGeom>
          <a:noFill/>
        </p:spPr>
        <p:txBody>
          <a:bodyPr wrap="square" anchor="t" lIns="25400" rIns="25400" tIns="25400" bIns="25400">
            <a:spAutoFit/>
          </a:bodyPr>
          <a:lstStyle/>
          <a:p>
            <a:pPr algn="l">
              <a:lnSpc>
                <a:spcPct val="112000"/>
              </a:lnSpc>
              <a:spcBef>
                <a:spcPts val="0"/>
              </a:spcBef>
              <a:spcAft>
                <a:spcPts val="200"/>
              </a:spcAft>
            </a:pPr>
            <a:r>
              <a:rPr sz="1000" b="0" i="0">
                <a:solidFill>
                  <a:srgbClr val="2D2D2D"/>
                </a:solidFill>
                <a:latin typeface="Calibri"/>
                <a:ea typeface="Microsoft YaHei"/>
              </a:rPr>
              <a:t>DIY / Freeform Optics / Filter-on-Chip / Metasurface — snapshot cameras (&lt; 30 g) &amp; on-chip integration</a:t>
            </a:r>
          </a:p>
        </p:txBody>
      </p:sp>
      <p:sp>
        <p:nvSpPr>
          <p:cNvPr id="27" name="TextBox 26"/>
          <p:cNvSpPr txBox="1"/>
          <p:nvPr/>
        </p:nvSpPr>
        <p:spPr>
          <a:xfrm>
            <a:off x="6492240" y="3154680"/>
            <a:ext cx="512064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150" b="1" i="0">
                <a:solidFill>
                  <a:srgbClr val="F4A25F"/>
                </a:solidFill>
                <a:latin typeface="Calibri"/>
                <a:ea typeface="Microsoft YaHei"/>
              </a:rPr>
              <a:t>•  Real-time Processing + AI</a:t>
            </a:r>
          </a:p>
        </p:txBody>
      </p:sp>
      <p:sp>
        <p:nvSpPr>
          <p:cNvPr id="28" name="TextBox 27"/>
          <p:cNvSpPr txBox="1"/>
          <p:nvPr/>
        </p:nvSpPr>
        <p:spPr>
          <a:xfrm>
            <a:off x="6675120" y="3447288"/>
            <a:ext cx="4937760" cy="868680"/>
          </a:xfrm>
          <a:prstGeom prst="rect">
            <a:avLst/>
          </a:prstGeom>
          <a:noFill/>
        </p:spPr>
        <p:txBody>
          <a:bodyPr wrap="square" anchor="t" lIns="25400" rIns="25400" tIns="25400" bIns="25400">
            <a:spAutoFit/>
          </a:bodyPr>
          <a:lstStyle/>
          <a:p>
            <a:pPr algn="l">
              <a:lnSpc>
                <a:spcPct val="112000"/>
              </a:lnSpc>
              <a:spcBef>
                <a:spcPts val="0"/>
              </a:spcBef>
              <a:spcAft>
                <a:spcPts val="200"/>
              </a:spcAft>
            </a:pPr>
            <a:r>
              <a:rPr sz="1000" b="0" i="0">
                <a:solidFill>
                  <a:srgbClr val="2D2D2D"/>
                </a:solidFill>
                <a:latin typeface="Calibri"/>
                <a:ea typeface="Microsoft YaHei"/>
              </a:rPr>
              <a:t>Edge intelligence &amp; algorithm–hardware co-design — sub-Watt on-device spectral analytics</a:t>
            </a:r>
          </a:p>
        </p:txBody>
      </p:sp>
      <p:sp>
        <p:nvSpPr>
          <p:cNvPr id="29" name="TextBox 28"/>
          <p:cNvSpPr txBox="1"/>
          <p:nvPr/>
        </p:nvSpPr>
        <p:spPr>
          <a:xfrm>
            <a:off x="6492240" y="4389120"/>
            <a:ext cx="512064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150" b="1" i="0">
                <a:solidFill>
                  <a:srgbClr val="F4A25F"/>
                </a:solidFill>
                <a:latin typeface="Calibri"/>
                <a:ea typeface="Microsoft YaHei"/>
              </a:rPr>
              <a:t>•  Other Directions</a:t>
            </a:r>
          </a:p>
        </p:txBody>
      </p:sp>
      <p:sp>
        <p:nvSpPr>
          <p:cNvPr id="30" name="TextBox 29"/>
          <p:cNvSpPr txBox="1"/>
          <p:nvPr/>
        </p:nvSpPr>
        <p:spPr>
          <a:xfrm>
            <a:off x="6675120" y="4681728"/>
            <a:ext cx="4937760" cy="868680"/>
          </a:xfrm>
          <a:prstGeom prst="rect">
            <a:avLst/>
          </a:prstGeom>
          <a:noFill/>
        </p:spPr>
        <p:txBody>
          <a:bodyPr wrap="square" anchor="t" lIns="25400" rIns="25400" tIns="25400" bIns="25400">
            <a:spAutoFit/>
          </a:bodyPr>
          <a:lstStyle/>
          <a:p>
            <a:pPr algn="l">
              <a:lnSpc>
                <a:spcPct val="112000"/>
              </a:lnSpc>
              <a:spcBef>
                <a:spcPts val="0"/>
              </a:spcBef>
              <a:spcAft>
                <a:spcPts val="200"/>
              </a:spcAft>
            </a:pPr>
            <a:r>
              <a:rPr sz="1000" b="0" i="0">
                <a:solidFill>
                  <a:srgbClr val="2D2D2D"/>
                </a:solidFill>
                <a:latin typeface="Calibri"/>
                <a:ea typeface="Microsoft YaHei"/>
              </a:rPr>
              <a:t>Tunable metasurfaces, UV/MIR expansion, low-cost, multimodal fusion, IoT networks, scalable manufacturing</a:t>
            </a:r>
          </a:p>
        </p:txBody>
      </p:sp>
      <p:sp>
        <p:nvSpPr>
          <p:cNvPr id="31" name="Rectangle 30"/>
          <p:cNvSpPr/>
          <p:nvPr/>
        </p:nvSpPr>
        <p:spPr>
          <a:xfrm>
            <a:off x="457200" y="6327648"/>
            <a:ext cx="11274552" cy="256032"/>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6355080"/>
            <a:ext cx="10789920" cy="22860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1000" b="1" i="0">
                <a:solidFill>
                  <a:srgbClr val="1B2A4A"/>
                </a:solidFill>
                <a:latin typeface="Calibri"/>
                <a:ea typeface="Microsoft YaHei"/>
              </a:rPr>
              <a:t>All papers: 2003–2025</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
            <a:ext cx="11201400" cy="566928"/>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2500" b="1" i="0">
                <a:solidFill>
                  <a:srgbClr val="FFFFFF"/>
                </a:solidFill>
                <a:latin typeface="Calibri"/>
                <a:ea typeface="Microsoft YaHei"/>
              </a:rPr>
              <a:t>References</a:t>
            </a:r>
          </a:p>
        </p:txBody>
      </p:sp>
      <p:sp>
        <p:nvSpPr>
          <p:cNvPr id="6" name="TextBox 5"/>
          <p:cNvSpPr txBox="1"/>
          <p:nvPr/>
        </p:nvSpPr>
        <p:spPr>
          <a:xfrm>
            <a:off x="502920" y="694944"/>
            <a:ext cx="112014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250" b="0" i="0">
                <a:solidFill>
                  <a:srgbClr val="48CAE4"/>
                </a:solidFill>
                <a:latin typeface="Calibri"/>
                <a:ea typeface="Microsoft YaHei"/>
              </a:rPr>
              <a:t>Bibliography · 13 sources across four parts</a:t>
            </a:r>
          </a:p>
        </p:txBody>
      </p:sp>
      <p:sp>
        <p:nvSpPr>
          <p:cNvPr id="7" name="TextBox 6"/>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62 / 63</a:t>
            </a:r>
          </a:p>
        </p:txBody>
      </p:sp>
      <p:sp>
        <p:nvSpPr>
          <p:cNvPr id="8" name="TextBox 7"/>
          <p:cNvSpPr txBox="1"/>
          <p:nvPr/>
        </p:nvSpPr>
        <p:spPr>
          <a:xfrm>
            <a:off x="457200" y="1188720"/>
            <a:ext cx="557784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150" b="1" i="0">
                <a:solidFill>
                  <a:srgbClr val="1B2A4A"/>
                </a:solidFill>
                <a:latin typeface="Calibri"/>
                <a:ea typeface="Microsoft YaHei"/>
              </a:rPr>
              <a:t>Part 1 · Fundamentals of Spectroscopy</a:t>
            </a:r>
          </a:p>
        </p:txBody>
      </p:sp>
      <p:sp>
        <p:nvSpPr>
          <p:cNvPr id="9" name="TextBox 8"/>
          <p:cNvSpPr txBox="1"/>
          <p:nvPr/>
        </p:nvSpPr>
        <p:spPr>
          <a:xfrm>
            <a:off x="502920" y="1463040"/>
            <a:ext cx="384048"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000" b="1" i="0">
                <a:solidFill>
                  <a:srgbClr val="0096C7"/>
                </a:solidFill>
                <a:latin typeface="Calibri"/>
                <a:ea typeface="Microsoft YaHei"/>
              </a:rPr>
              <a:t>[1]</a:t>
            </a:r>
          </a:p>
        </p:txBody>
      </p:sp>
      <p:sp>
        <p:nvSpPr>
          <p:cNvPr id="10" name="TextBox 9"/>
          <p:cNvSpPr txBox="1"/>
          <p:nvPr/>
        </p:nvSpPr>
        <p:spPr>
          <a:xfrm>
            <a:off x="886968" y="1453896"/>
            <a:ext cx="4965192" cy="658368"/>
          </a:xfrm>
          <a:prstGeom prst="rect">
            <a:avLst/>
          </a:prstGeom>
          <a:noFill/>
        </p:spPr>
        <p:txBody>
          <a:bodyPr wrap="square" anchor="t" lIns="25400" rIns="25400" tIns="25400" bIns="25400">
            <a:spAutoFit/>
          </a:bodyPr>
          <a:lstStyle/>
          <a:p>
            <a:pPr algn="l">
              <a:lnSpc>
                <a:spcPct val="106000"/>
              </a:lnSpc>
              <a:spcBef>
                <a:spcPts val="0"/>
              </a:spcBef>
              <a:spcAft>
                <a:spcPts val="200"/>
              </a:spcAft>
            </a:pPr>
            <a:r>
              <a:rPr sz="930" b="0" i="0">
                <a:solidFill>
                  <a:srgbClr val="2D2D2D"/>
                </a:solidFill>
                <a:latin typeface="Calibri"/>
                <a:ea typeface="Microsoft YaHei"/>
              </a:rPr>
              <a:t>Garini, Y.; Young, I.T.; McNamara, G. Spectral imaging: principles and applications. Cytometry Part A, 2006, 69(8): 735–747.</a:t>
            </a:r>
          </a:p>
        </p:txBody>
      </p:sp>
      <p:sp>
        <p:nvSpPr>
          <p:cNvPr id="11" name="TextBox 10"/>
          <p:cNvSpPr txBox="1"/>
          <p:nvPr/>
        </p:nvSpPr>
        <p:spPr>
          <a:xfrm>
            <a:off x="502920" y="2029968"/>
            <a:ext cx="384048"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000" b="1" i="0">
                <a:solidFill>
                  <a:srgbClr val="0096C7"/>
                </a:solidFill>
                <a:latin typeface="Calibri"/>
                <a:ea typeface="Microsoft YaHei"/>
              </a:rPr>
              <a:t>[2]</a:t>
            </a:r>
          </a:p>
        </p:txBody>
      </p:sp>
      <p:sp>
        <p:nvSpPr>
          <p:cNvPr id="12" name="TextBox 11"/>
          <p:cNvSpPr txBox="1"/>
          <p:nvPr/>
        </p:nvSpPr>
        <p:spPr>
          <a:xfrm>
            <a:off x="886968" y="2020824"/>
            <a:ext cx="4965192" cy="658368"/>
          </a:xfrm>
          <a:prstGeom prst="rect">
            <a:avLst/>
          </a:prstGeom>
          <a:noFill/>
        </p:spPr>
        <p:txBody>
          <a:bodyPr wrap="square" anchor="t" lIns="25400" rIns="25400" tIns="25400" bIns="25400">
            <a:spAutoFit/>
          </a:bodyPr>
          <a:lstStyle/>
          <a:p>
            <a:pPr algn="l">
              <a:lnSpc>
                <a:spcPct val="106000"/>
              </a:lnSpc>
              <a:spcBef>
                <a:spcPts val="0"/>
              </a:spcBef>
              <a:spcAft>
                <a:spcPts val="200"/>
              </a:spcAft>
            </a:pPr>
            <a:r>
              <a:rPr sz="930" b="0" i="0">
                <a:solidFill>
                  <a:srgbClr val="2D2D2D"/>
                </a:solidFill>
                <a:latin typeface="Calibri"/>
                <a:ea typeface="Microsoft YaHei"/>
              </a:rPr>
              <a:t>Prasad, R.D.; Sarvalkar, P.D.; Prasad, N.; et al. A review on spectroscopic techniques for analysis of nanomaterials and biomaterials. ES Energy and Environment, 2024, 27: 1264.</a:t>
            </a:r>
          </a:p>
        </p:txBody>
      </p:sp>
      <p:sp>
        <p:nvSpPr>
          <p:cNvPr id="13" name="TextBox 12"/>
          <p:cNvSpPr txBox="1"/>
          <p:nvPr/>
        </p:nvSpPr>
        <p:spPr>
          <a:xfrm>
            <a:off x="457200" y="2633472"/>
            <a:ext cx="557784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150" b="1" i="0">
                <a:solidFill>
                  <a:srgbClr val="1B2A4A"/>
                </a:solidFill>
                <a:latin typeface="Calibri"/>
                <a:ea typeface="Microsoft YaHei"/>
              </a:rPr>
              <a:t>Part 2 · Principles of Spectral Imaging</a:t>
            </a:r>
          </a:p>
        </p:txBody>
      </p:sp>
      <p:sp>
        <p:nvSpPr>
          <p:cNvPr id="14" name="TextBox 13"/>
          <p:cNvSpPr txBox="1"/>
          <p:nvPr/>
        </p:nvSpPr>
        <p:spPr>
          <a:xfrm>
            <a:off x="502920" y="2907792"/>
            <a:ext cx="384048"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000" b="1" i="0">
                <a:solidFill>
                  <a:srgbClr val="0096C7"/>
                </a:solidFill>
                <a:latin typeface="Calibri"/>
                <a:ea typeface="Microsoft YaHei"/>
              </a:rPr>
              <a:t>[3]</a:t>
            </a:r>
          </a:p>
        </p:txBody>
      </p:sp>
      <p:sp>
        <p:nvSpPr>
          <p:cNvPr id="15" name="TextBox 14"/>
          <p:cNvSpPr txBox="1"/>
          <p:nvPr/>
        </p:nvSpPr>
        <p:spPr>
          <a:xfrm>
            <a:off x="886968" y="2898648"/>
            <a:ext cx="4965192" cy="658368"/>
          </a:xfrm>
          <a:prstGeom prst="rect">
            <a:avLst/>
          </a:prstGeom>
          <a:noFill/>
        </p:spPr>
        <p:txBody>
          <a:bodyPr wrap="square" anchor="t" lIns="25400" rIns="25400" tIns="25400" bIns="25400">
            <a:spAutoFit/>
          </a:bodyPr>
          <a:lstStyle/>
          <a:p>
            <a:pPr algn="l">
              <a:lnSpc>
                <a:spcPct val="106000"/>
              </a:lnSpc>
              <a:spcBef>
                <a:spcPts val="0"/>
              </a:spcBef>
              <a:spcAft>
                <a:spcPts val="200"/>
              </a:spcAft>
            </a:pPr>
            <a:r>
              <a:rPr sz="930" b="0" i="0">
                <a:solidFill>
                  <a:srgbClr val="2D2D2D"/>
                </a:solidFill>
                <a:latin typeface="Calibri"/>
                <a:ea typeface="Microsoft YaHei"/>
              </a:rPr>
              <a:t>Mukhtar, S.; Arbabi, A.; Viegas, J. Advances in Spectral Imaging: A Review of Techniques and Technologies. IEEE Access, 2025, 13: 35848–35902. DOI: 10.1109/ACCESS.2025.3544476</a:t>
            </a:r>
          </a:p>
        </p:txBody>
      </p:sp>
      <p:sp>
        <p:nvSpPr>
          <p:cNvPr id="16" name="TextBox 15"/>
          <p:cNvSpPr txBox="1"/>
          <p:nvPr/>
        </p:nvSpPr>
        <p:spPr>
          <a:xfrm>
            <a:off x="502920" y="3474720"/>
            <a:ext cx="384048"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000" b="1" i="0">
                <a:solidFill>
                  <a:srgbClr val="0096C7"/>
                </a:solidFill>
                <a:latin typeface="Calibri"/>
                <a:ea typeface="Microsoft YaHei"/>
              </a:rPr>
              <a:t>[4]</a:t>
            </a:r>
          </a:p>
        </p:txBody>
      </p:sp>
      <p:sp>
        <p:nvSpPr>
          <p:cNvPr id="17" name="TextBox 16"/>
          <p:cNvSpPr txBox="1"/>
          <p:nvPr/>
        </p:nvSpPr>
        <p:spPr>
          <a:xfrm>
            <a:off x="886968" y="3465576"/>
            <a:ext cx="4965192" cy="658368"/>
          </a:xfrm>
          <a:prstGeom prst="rect">
            <a:avLst/>
          </a:prstGeom>
          <a:noFill/>
        </p:spPr>
        <p:txBody>
          <a:bodyPr wrap="square" anchor="t" lIns="25400" rIns="25400" tIns="25400" bIns="25400">
            <a:spAutoFit/>
          </a:bodyPr>
          <a:lstStyle/>
          <a:p>
            <a:pPr algn="l">
              <a:lnSpc>
                <a:spcPct val="106000"/>
              </a:lnSpc>
              <a:spcBef>
                <a:spcPts val="0"/>
              </a:spcBef>
              <a:spcAft>
                <a:spcPts val="200"/>
              </a:spcAft>
            </a:pPr>
            <a:r>
              <a:rPr sz="930" b="0" i="0">
                <a:solidFill>
                  <a:srgbClr val="2D2D2D"/>
                </a:solidFill>
                <a:latin typeface="Calibri"/>
                <a:ea typeface="Microsoft YaHei"/>
              </a:rPr>
              <a:t>Lu, G.; Fei, B. Medical hyperspectral imaging: a review. Journal of Biomedical Optics, 2014, 19(1): 010901. DOI: 10.1117/1.JBO.19.1.010901</a:t>
            </a:r>
          </a:p>
        </p:txBody>
      </p:sp>
      <p:sp>
        <p:nvSpPr>
          <p:cNvPr id="18" name="TextBox 17"/>
          <p:cNvSpPr txBox="1"/>
          <p:nvPr/>
        </p:nvSpPr>
        <p:spPr>
          <a:xfrm>
            <a:off x="457200" y="4078224"/>
            <a:ext cx="557784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150" b="1" i="0">
                <a:solidFill>
                  <a:srgbClr val="1B2A4A"/>
                </a:solidFill>
                <a:latin typeface="Calibri"/>
                <a:ea typeface="Microsoft YaHei"/>
              </a:rPr>
              <a:t>Part 3 · Data Processing &amp; Analysis</a:t>
            </a:r>
          </a:p>
        </p:txBody>
      </p:sp>
      <p:sp>
        <p:nvSpPr>
          <p:cNvPr id="19" name="TextBox 18"/>
          <p:cNvSpPr txBox="1"/>
          <p:nvPr/>
        </p:nvSpPr>
        <p:spPr>
          <a:xfrm>
            <a:off x="502920" y="4352544"/>
            <a:ext cx="384048"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000" b="1" i="0">
                <a:solidFill>
                  <a:srgbClr val="0096C7"/>
                </a:solidFill>
                <a:latin typeface="Calibri"/>
                <a:ea typeface="Microsoft YaHei"/>
              </a:rPr>
              <a:t>[5]</a:t>
            </a:r>
          </a:p>
        </p:txBody>
      </p:sp>
      <p:sp>
        <p:nvSpPr>
          <p:cNvPr id="20" name="TextBox 19"/>
          <p:cNvSpPr txBox="1"/>
          <p:nvPr/>
        </p:nvSpPr>
        <p:spPr>
          <a:xfrm>
            <a:off x="886968" y="4343400"/>
            <a:ext cx="4965192" cy="713232"/>
          </a:xfrm>
          <a:prstGeom prst="rect">
            <a:avLst/>
          </a:prstGeom>
          <a:noFill/>
        </p:spPr>
        <p:txBody>
          <a:bodyPr wrap="square" anchor="t" lIns="25400" rIns="25400" tIns="25400" bIns="25400">
            <a:spAutoFit/>
          </a:bodyPr>
          <a:lstStyle/>
          <a:p>
            <a:pPr algn="l">
              <a:lnSpc>
                <a:spcPct val="106000"/>
              </a:lnSpc>
              <a:spcBef>
                <a:spcPts val="0"/>
              </a:spcBef>
              <a:spcAft>
                <a:spcPts val="200"/>
              </a:spcAft>
            </a:pPr>
            <a:r>
              <a:rPr sz="900" b="0" i="0">
                <a:solidFill>
                  <a:srgbClr val="2D2D2D"/>
                </a:solidFill>
                <a:latin typeface="Calibri"/>
                <a:ea typeface="Microsoft YaHei"/>
              </a:rPr>
              <a:t>Roussel, G.; Weber, C.; Briottet, X.; Ceamanos, X. Comparison of two atmospheric correction methods for the classification of spaceborne urban hyperspectral data depending on the spatial resolution. International Journal of Remote Sensing, 2017, 39(5): 1593–1614. DOI: 10.1080/01431161.2017.1410247</a:t>
            </a:r>
          </a:p>
        </p:txBody>
      </p:sp>
      <p:sp>
        <p:nvSpPr>
          <p:cNvPr id="21" name="TextBox 20"/>
          <p:cNvSpPr txBox="1"/>
          <p:nvPr/>
        </p:nvSpPr>
        <p:spPr>
          <a:xfrm>
            <a:off x="502920" y="5047488"/>
            <a:ext cx="384048"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000" b="1" i="0">
                <a:solidFill>
                  <a:srgbClr val="0096C7"/>
                </a:solidFill>
                <a:latin typeface="Calibri"/>
                <a:ea typeface="Microsoft YaHei"/>
              </a:rPr>
              <a:t>[6]</a:t>
            </a:r>
          </a:p>
        </p:txBody>
      </p:sp>
      <p:sp>
        <p:nvSpPr>
          <p:cNvPr id="22" name="TextBox 21"/>
          <p:cNvSpPr txBox="1"/>
          <p:nvPr/>
        </p:nvSpPr>
        <p:spPr>
          <a:xfrm>
            <a:off x="886968" y="5038344"/>
            <a:ext cx="4965192" cy="713232"/>
          </a:xfrm>
          <a:prstGeom prst="rect">
            <a:avLst/>
          </a:prstGeom>
          <a:noFill/>
        </p:spPr>
        <p:txBody>
          <a:bodyPr wrap="square" anchor="t" lIns="25400" rIns="25400" tIns="25400" bIns="25400">
            <a:spAutoFit/>
          </a:bodyPr>
          <a:lstStyle/>
          <a:p>
            <a:pPr algn="l">
              <a:lnSpc>
                <a:spcPct val="106000"/>
              </a:lnSpc>
              <a:spcBef>
                <a:spcPts val="0"/>
              </a:spcBef>
              <a:spcAft>
                <a:spcPts val="200"/>
              </a:spcAft>
            </a:pPr>
            <a:r>
              <a:rPr sz="900" b="0" i="0">
                <a:solidFill>
                  <a:srgbClr val="2D2D2D"/>
                </a:solidFill>
                <a:latin typeface="Calibri"/>
                <a:ea typeface="Microsoft YaHei"/>
              </a:rPr>
              <a:t>Gautam, R.; Vanga, S.; Ariese, F.; Umapathy, S. Review of multidimensional data processing approaches for Raman and infrared spectroscopy. EPJ Techniques and Instrumentation, 2015, 2: 8. DOI: 10.1140/epjti/s40485-015-0018-6</a:t>
            </a:r>
          </a:p>
        </p:txBody>
      </p:sp>
      <p:sp>
        <p:nvSpPr>
          <p:cNvPr id="23" name="TextBox 22"/>
          <p:cNvSpPr txBox="1"/>
          <p:nvPr/>
        </p:nvSpPr>
        <p:spPr>
          <a:xfrm>
            <a:off x="502920" y="5742431"/>
            <a:ext cx="384048"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000" b="1" i="0">
                <a:solidFill>
                  <a:srgbClr val="0096C7"/>
                </a:solidFill>
                <a:latin typeface="Calibri"/>
                <a:ea typeface="Microsoft YaHei"/>
              </a:rPr>
              <a:t>[7]</a:t>
            </a:r>
          </a:p>
        </p:txBody>
      </p:sp>
      <p:sp>
        <p:nvSpPr>
          <p:cNvPr id="24" name="TextBox 23"/>
          <p:cNvSpPr txBox="1"/>
          <p:nvPr/>
        </p:nvSpPr>
        <p:spPr>
          <a:xfrm>
            <a:off x="886968" y="5733288"/>
            <a:ext cx="4965192" cy="713232"/>
          </a:xfrm>
          <a:prstGeom prst="rect">
            <a:avLst/>
          </a:prstGeom>
          <a:noFill/>
        </p:spPr>
        <p:txBody>
          <a:bodyPr wrap="square" anchor="t" lIns="25400" rIns="25400" tIns="25400" bIns="25400">
            <a:spAutoFit/>
          </a:bodyPr>
          <a:lstStyle/>
          <a:p>
            <a:pPr algn="l">
              <a:lnSpc>
                <a:spcPct val="106000"/>
              </a:lnSpc>
              <a:spcBef>
                <a:spcPts val="0"/>
              </a:spcBef>
              <a:spcAft>
                <a:spcPts val="200"/>
              </a:spcAft>
            </a:pPr>
            <a:r>
              <a:rPr sz="900" b="0" i="0">
                <a:solidFill>
                  <a:srgbClr val="2D2D2D"/>
                </a:solidFill>
                <a:latin typeface="Calibri"/>
                <a:ea typeface="Microsoft YaHei"/>
              </a:rPr>
              <a:t>Yamamoto, S.; Tsuchida, S.; Urai, M.; Mizuochi, H.; Iwao, K.; Iwasaki, A. Initial Analysis of Spectral Smile Calibration of HISUI Using Atmospheric Absorption Bands. IEEE Transactions on Geoscience and Remote Sensing, 2022, 60: 5534215. DOI: 10.1109/TGRS.2022.3190486</a:t>
            </a:r>
          </a:p>
        </p:txBody>
      </p:sp>
      <p:sp>
        <p:nvSpPr>
          <p:cNvPr id="25" name="TextBox 24"/>
          <p:cNvSpPr txBox="1"/>
          <p:nvPr/>
        </p:nvSpPr>
        <p:spPr>
          <a:xfrm>
            <a:off x="6400800" y="1188720"/>
            <a:ext cx="534924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150" b="1" i="0">
                <a:solidFill>
                  <a:srgbClr val="1B2A4A"/>
                </a:solidFill>
                <a:latin typeface="Calibri"/>
                <a:ea typeface="Microsoft YaHei"/>
              </a:rPr>
              <a:t>Part 4 · Applications &amp; Future Trends</a:t>
            </a:r>
          </a:p>
        </p:txBody>
      </p:sp>
      <p:sp>
        <p:nvSpPr>
          <p:cNvPr id="26" name="Rectangle 25"/>
          <p:cNvSpPr/>
          <p:nvPr/>
        </p:nvSpPr>
        <p:spPr>
          <a:xfrm>
            <a:off x="6400800" y="1435608"/>
            <a:ext cx="5330952" cy="713232"/>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0" y="1435608"/>
            <a:ext cx="73152" cy="713232"/>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0" y="1508760"/>
            <a:ext cx="50292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050" b="1" i="0">
                <a:solidFill>
                  <a:srgbClr val="F4A25F"/>
                </a:solidFill>
                <a:latin typeface="Calibri"/>
                <a:ea typeface="Microsoft YaHei"/>
              </a:rPr>
              <a:t>[8]</a:t>
            </a:r>
          </a:p>
        </p:txBody>
      </p:sp>
      <p:sp>
        <p:nvSpPr>
          <p:cNvPr id="29" name="TextBox 28"/>
          <p:cNvSpPr txBox="1"/>
          <p:nvPr/>
        </p:nvSpPr>
        <p:spPr>
          <a:xfrm>
            <a:off x="7114032" y="1490472"/>
            <a:ext cx="4526280" cy="658368"/>
          </a:xfrm>
          <a:prstGeom prst="rect">
            <a:avLst/>
          </a:prstGeom>
          <a:noFill/>
        </p:spPr>
        <p:txBody>
          <a:bodyPr wrap="square" anchor="t" lIns="25400" rIns="25400" tIns="25400" bIns="25400">
            <a:spAutoFit/>
          </a:bodyPr>
          <a:lstStyle/>
          <a:p>
            <a:pPr algn="l">
              <a:lnSpc>
                <a:spcPct val="106000"/>
              </a:lnSpc>
              <a:spcBef>
                <a:spcPts val="0"/>
              </a:spcBef>
              <a:spcAft>
                <a:spcPts val="200"/>
              </a:spcAft>
            </a:pPr>
            <a:r>
              <a:rPr sz="900" b="0" i="0">
                <a:solidFill>
                  <a:srgbClr val="2D2D2D"/>
                </a:solidFill>
                <a:latin typeface="Calibri"/>
                <a:ea typeface="Microsoft YaHei"/>
              </a:rPr>
              <a:t>Shaw, G.A.; Burke, H.K. Spectral Imaging for Remote Sensing. Lincoln Laboratory Journal, 2003, 14(1).</a:t>
            </a:r>
          </a:p>
        </p:txBody>
      </p:sp>
      <p:sp>
        <p:nvSpPr>
          <p:cNvPr id="30" name="Rectangle 29"/>
          <p:cNvSpPr/>
          <p:nvPr/>
        </p:nvSpPr>
        <p:spPr>
          <a:xfrm>
            <a:off x="6400800" y="2185416"/>
            <a:ext cx="5330952" cy="713232"/>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00800" y="2185416"/>
            <a:ext cx="73152" cy="713232"/>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0" y="2258568"/>
            <a:ext cx="50292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050" b="1" i="0">
                <a:solidFill>
                  <a:srgbClr val="F4A25F"/>
                </a:solidFill>
                <a:latin typeface="Calibri"/>
                <a:ea typeface="Microsoft YaHei"/>
              </a:rPr>
              <a:t>[9]</a:t>
            </a:r>
          </a:p>
        </p:txBody>
      </p:sp>
      <p:sp>
        <p:nvSpPr>
          <p:cNvPr id="33" name="TextBox 32"/>
          <p:cNvSpPr txBox="1"/>
          <p:nvPr/>
        </p:nvSpPr>
        <p:spPr>
          <a:xfrm>
            <a:off x="7114032" y="2240279"/>
            <a:ext cx="4526280" cy="658368"/>
          </a:xfrm>
          <a:prstGeom prst="rect">
            <a:avLst/>
          </a:prstGeom>
          <a:noFill/>
        </p:spPr>
        <p:txBody>
          <a:bodyPr wrap="square" anchor="t" lIns="25400" rIns="25400" tIns="25400" bIns="25400">
            <a:spAutoFit/>
          </a:bodyPr>
          <a:lstStyle/>
          <a:p>
            <a:pPr algn="l">
              <a:lnSpc>
                <a:spcPct val="106000"/>
              </a:lnSpc>
              <a:spcBef>
                <a:spcPts val="0"/>
              </a:spcBef>
              <a:spcAft>
                <a:spcPts val="200"/>
              </a:spcAft>
            </a:pPr>
            <a:r>
              <a:rPr sz="900" b="0" i="0">
                <a:solidFill>
                  <a:srgbClr val="2D2D2D"/>
                </a:solidFill>
                <a:latin typeface="Calibri"/>
                <a:ea typeface="Microsoft YaHei"/>
              </a:rPr>
              <a:t>Tolentino, V.; Ortega Lucero, A.; Koerting, F.; Savinova, E.; Hildebrand, J.C.; Micklethwaite, S. Drone-Based VNIR–SWIR Hyperspectral Imaging for Environmental Monitoring of a Uranium Legacy Mine Site. Drones, 2025, 9: 313.</a:t>
            </a:r>
          </a:p>
        </p:txBody>
      </p:sp>
      <p:sp>
        <p:nvSpPr>
          <p:cNvPr id="34" name="Rectangle 33"/>
          <p:cNvSpPr/>
          <p:nvPr/>
        </p:nvSpPr>
        <p:spPr>
          <a:xfrm>
            <a:off x="6400800" y="2935224"/>
            <a:ext cx="5330952" cy="713232"/>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00800" y="2935224"/>
            <a:ext cx="73152" cy="713232"/>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3680" y="3008375"/>
            <a:ext cx="50292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050" b="1" i="0">
                <a:solidFill>
                  <a:srgbClr val="F4A25F"/>
                </a:solidFill>
                <a:latin typeface="Calibri"/>
                <a:ea typeface="Microsoft YaHei"/>
              </a:rPr>
              <a:t>[10]</a:t>
            </a:r>
          </a:p>
        </p:txBody>
      </p:sp>
      <p:sp>
        <p:nvSpPr>
          <p:cNvPr id="37" name="TextBox 36"/>
          <p:cNvSpPr txBox="1"/>
          <p:nvPr/>
        </p:nvSpPr>
        <p:spPr>
          <a:xfrm>
            <a:off x="7114032" y="2990087"/>
            <a:ext cx="4526280" cy="658368"/>
          </a:xfrm>
          <a:prstGeom prst="rect">
            <a:avLst/>
          </a:prstGeom>
          <a:noFill/>
        </p:spPr>
        <p:txBody>
          <a:bodyPr wrap="square" anchor="t" lIns="25400" rIns="25400" tIns="25400" bIns="25400">
            <a:spAutoFit/>
          </a:bodyPr>
          <a:lstStyle/>
          <a:p>
            <a:pPr algn="l">
              <a:lnSpc>
                <a:spcPct val="106000"/>
              </a:lnSpc>
              <a:spcBef>
                <a:spcPts val="0"/>
              </a:spcBef>
              <a:spcAft>
                <a:spcPts val="200"/>
              </a:spcAft>
            </a:pPr>
            <a:r>
              <a:rPr sz="900" b="0" i="0">
                <a:solidFill>
                  <a:srgbClr val="2D2D2D"/>
                </a:solidFill>
                <a:latin typeface="Calibri"/>
                <a:ea typeface="Microsoft YaHei"/>
              </a:rPr>
              <a:t>Raja, R.; Su, W.-H.; Slaughter, D.C.; Fennimore, S.A. Real-time precision crop identification in high weed-density environments for robotic weed control using spectral fluorescence imaging in celery. Computers and Electronics in Agriculture, 2025, 231: 110022.</a:t>
            </a:r>
          </a:p>
        </p:txBody>
      </p:sp>
      <p:sp>
        <p:nvSpPr>
          <p:cNvPr id="38" name="Rectangle 37"/>
          <p:cNvSpPr/>
          <p:nvPr/>
        </p:nvSpPr>
        <p:spPr>
          <a:xfrm>
            <a:off x="6400800" y="3685031"/>
            <a:ext cx="5330952" cy="713232"/>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400800" y="3685031"/>
            <a:ext cx="73152" cy="713232"/>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83680" y="3758183"/>
            <a:ext cx="50292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050" b="1" i="0">
                <a:solidFill>
                  <a:srgbClr val="F4A25F"/>
                </a:solidFill>
                <a:latin typeface="Calibri"/>
                <a:ea typeface="Microsoft YaHei"/>
              </a:rPr>
              <a:t>[11]</a:t>
            </a:r>
          </a:p>
        </p:txBody>
      </p:sp>
      <p:sp>
        <p:nvSpPr>
          <p:cNvPr id="41" name="TextBox 40"/>
          <p:cNvSpPr txBox="1"/>
          <p:nvPr/>
        </p:nvSpPr>
        <p:spPr>
          <a:xfrm>
            <a:off x="7114032" y="3739896"/>
            <a:ext cx="4526280" cy="658368"/>
          </a:xfrm>
          <a:prstGeom prst="rect">
            <a:avLst/>
          </a:prstGeom>
          <a:noFill/>
        </p:spPr>
        <p:txBody>
          <a:bodyPr wrap="square" anchor="t" lIns="25400" rIns="25400" tIns="25400" bIns="25400">
            <a:spAutoFit/>
          </a:bodyPr>
          <a:lstStyle/>
          <a:p>
            <a:pPr algn="l">
              <a:lnSpc>
                <a:spcPct val="106000"/>
              </a:lnSpc>
              <a:spcBef>
                <a:spcPts val="0"/>
              </a:spcBef>
              <a:spcAft>
                <a:spcPts val="200"/>
              </a:spcAft>
            </a:pPr>
            <a:r>
              <a:rPr sz="900" b="0" i="0">
                <a:solidFill>
                  <a:srgbClr val="2D2D2D"/>
                </a:solidFill>
                <a:latin typeface="Calibri"/>
                <a:ea typeface="Microsoft YaHei"/>
              </a:rPr>
              <a:t>Tran, M.H.; Fei, B. Compact and ultracompact spectral imagers: technology and applications in biomedical imaging. Journal of Biomedical Optics, 2023, 28(4): 040901.</a:t>
            </a:r>
          </a:p>
        </p:txBody>
      </p:sp>
      <p:sp>
        <p:nvSpPr>
          <p:cNvPr id="42" name="Rectangle 41"/>
          <p:cNvSpPr/>
          <p:nvPr/>
        </p:nvSpPr>
        <p:spPr>
          <a:xfrm>
            <a:off x="6400800" y="4434840"/>
            <a:ext cx="5330952" cy="713232"/>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400800" y="4434840"/>
            <a:ext cx="73152" cy="713232"/>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583680" y="4507992"/>
            <a:ext cx="50292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050" b="1" i="0">
                <a:solidFill>
                  <a:srgbClr val="F4A25F"/>
                </a:solidFill>
                <a:latin typeface="Calibri"/>
                <a:ea typeface="Microsoft YaHei"/>
              </a:rPr>
              <a:t>[12]</a:t>
            </a:r>
          </a:p>
        </p:txBody>
      </p:sp>
      <p:sp>
        <p:nvSpPr>
          <p:cNvPr id="45" name="TextBox 44"/>
          <p:cNvSpPr txBox="1"/>
          <p:nvPr/>
        </p:nvSpPr>
        <p:spPr>
          <a:xfrm>
            <a:off x="7114032" y="4489704"/>
            <a:ext cx="4526280" cy="658368"/>
          </a:xfrm>
          <a:prstGeom prst="rect">
            <a:avLst/>
          </a:prstGeom>
          <a:noFill/>
        </p:spPr>
        <p:txBody>
          <a:bodyPr wrap="square" anchor="t" lIns="25400" rIns="25400" tIns="25400" bIns="25400">
            <a:spAutoFit/>
          </a:bodyPr>
          <a:lstStyle/>
          <a:p>
            <a:pPr algn="l">
              <a:lnSpc>
                <a:spcPct val="106000"/>
              </a:lnSpc>
              <a:spcBef>
                <a:spcPts val="0"/>
              </a:spcBef>
              <a:spcAft>
                <a:spcPts val="200"/>
              </a:spcAft>
            </a:pPr>
            <a:r>
              <a:rPr sz="900" b="0" i="0">
                <a:solidFill>
                  <a:srgbClr val="2D2D2D"/>
                </a:solidFill>
                <a:latin typeface="Calibri"/>
                <a:ea typeface="Microsoft YaHei"/>
              </a:rPr>
              <a:t>Romaniello, R.; Barrasso, A.E.; Perone, C.; Tamborrino, A.; Berardi, A.; Leone, A. Optimisation of an Industrial Optical Sorter of Legumes for Gluten-Free Production Using Hyperspectral Imaging Techniques. Foods, 2024, 13: 404.</a:t>
            </a:r>
          </a:p>
        </p:txBody>
      </p:sp>
      <p:sp>
        <p:nvSpPr>
          <p:cNvPr id="46" name="Rectangle 45"/>
          <p:cNvSpPr/>
          <p:nvPr/>
        </p:nvSpPr>
        <p:spPr>
          <a:xfrm>
            <a:off x="6400800" y="5184648"/>
            <a:ext cx="5330952" cy="713232"/>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400800" y="5184648"/>
            <a:ext cx="73152" cy="713232"/>
          </a:xfrm>
          <a:prstGeom prst="rect">
            <a:avLst/>
          </a:prstGeom>
          <a:solidFill>
            <a:srgbClr val="F4A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583680" y="5257800"/>
            <a:ext cx="50292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1050" b="1" i="0">
                <a:solidFill>
                  <a:srgbClr val="F4A25F"/>
                </a:solidFill>
                <a:latin typeface="Calibri"/>
                <a:ea typeface="Microsoft YaHei"/>
              </a:rPr>
              <a:t>[13]</a:t>
            </a:r>
          </a:p>
        </p:txBody>
      </p:sp>
      <p:sp>
        <p:nvSpPr>
          <p:cNvPr id="49" name="TextBox 48"/>
          <p:cNvSpPr txBox="1"/>
          <p:nvPr/>
        </p:nvSpPr>
        <p:spPr>
          <a:xfrm>
            <a:off x="7114032" y="5239512"/>
            <a:ext cx="4526280" cy="658368"/>
          </a:xfrm>
          <a:prstGeom prst="rect">
            <a:avLst/>
          </a:prstGeom>
          <a:noFill/>
        </p:spPr>
        <p:txBody>
          <a:bodyPr wrap="square" anchor="t" lIns="25400" rIns="25400" tIns="25400" bIns="25400">
            <a:spAutoFit/>
          </a:bodyPr>
          <a:lstStyle/>
          <a:p>
            <a:pPr algn="l">
              <a:lnSpc>
                <a:spcPct val="106000"/>
              </a:lnSpc>
              <a:spcBef>
                <a:spcPts val="0"/>
              </a:spcBef>
              <a:spcAft>
                <a:spcPts val="200"/>
              </a:spcAft>
            </a:pPr>
            <a:r>
              <a:rPr sz="900" b="0" i="0">
                <a:solidFill>
                  <a:srgbClr val="2D2D2D"/>
                </a:solidFill>
                <a:latin typeface="Calibri"/>
                <a:ea typeface="Microsoft YaHei"/>
              </a:rPr>
              <a:t>Mukhtar, S.; Arbabi, A.; Viegas, J. Compact Spectral Imaging: A Review of Miniaturized and Integrated Systems. Laser &amp; Photonics Reviews, 2025, 19: e01042.</a:t>
            </a:r>
          </a:p>
        </p:txBody>
      </p:sp>
      <p:sp>
        <p:nvSpPr>
          <p:cNvPr id="50" name="Rectangle 49"/>
          <p:cNvSpPr/>
          <p:nvPr/>
        </p:nvSpPr>
        <p:spPr>
          <a:xfrm>
            <a:off x="457200" y="6053328"/>
            <a:ext cx="11274552" cy="3657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31520" y="6099048"/>
            <a:ext cx="10789920" cy="274320"/>
          </a:xfrm>
          <a:prstGeom prst="rect">
            <a:avLst/>
          </a:prstGeom>
          <a:noFill/>
        </p:spPr>
        <p:txBody>
          <a:bodyPr wrap="square" anchor="ctr" lIns="25400" rIns="25400" tIns="25400" bIns="25400">
            <a:spAutoFit/>
          </a:bodyPr>
          <a:lstStyle/>
          <a:p>
            <a:pPr algn="ctr">
              <a:lnSpc>
                <a:spcPct val="105000"/>
              </a:lnSpc>
              <a:spcBef>
                <a:spcPts val="0"/>
              </a:spcBef>
              <a:spcAft>
                <a:spcPts val="200"/>
              </a:spcAft>
            </a:pPr>
            <a:r>
              <a:rPr sz="1150" b="1" i="0">
                <a:solidFill>
                  <a:srgbClr val="FFFFFF"/>
                </a:solidFill>
                <a:latin typeface="Calibri"/>
                <a:ea typeface="Microsoft YaHei"/>
              </a:rPr>
              <a:t>Total: 13 references  ·  Part 1 (2) + Part 2 (2) + Part 3 (3) + Part 4 (6)</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95728"/>
            <a:ext cx="12191695" cy="73152"/>
          </a:xfrm>
          <a:prstGeom prst="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224528"/>
            <a:ext cx="12191695" cy="36576"/>
          </a:xfrm>
          <a:prstGeom prst="rect">
            <a:avLst/>
          </a:prstGeom>
          <a:solidFill>
            <a:srgbClr val="48C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10725912" cy="109728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5600" b="1" i="0">
                <a:solidFill>
                  <a:srgbClr val="FFFFFF"/>
                </a:solidFill>
                <a:latin typeface="Calibri"/>
                <a:ea typeface="Microsoft YaHei"/>
              </a:rPr>
              <a:t>Thank You</a:t>
            </a:r>
          </a:p>
        </p:txBody>
      </p:sp>
      <p:sp>
        <p:nvSpPr>
          <p:cNvPr id="6" name="TextBox 5"/>
          <p:cNvSpPr txBox="1"/>
          <p:nvPr/>
        </p:nvSpPr>
        <p:spPr>
          <a:xfrm>
            <a:off x="731520" y="2697480"/>
            <a:ext cx="10725912" cy="54864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2400" b="1" i="0">
                <a:solidFill>
                  <a:srgbClr val="48CAE4"/>
                </a:solidFill>
                <a:latin typeface="Calibri"/>
                <a:ea typeface="Microsoft YaHei"/>
              </a:rPr>
              <a:t>Questions &amp; Discussion</a:t>
            </a:r>
          </a:p>
        </p:txBody>
      </p:sp>
      <p:sp>
        <p:nvSpPr>
          <p:cNvPr id="7" name="TextBox 6"/>
          <p:cNvSpPr txBox="1"/>
          <p:nvPr/>
        </p:nvSpPr>
        <p:spPr>
          <a:xfrm>
            <a:off x="731520" y="3611880"/>
            <a:ext cx="10725912" cy="54864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2000" b="0" i="0">
                <a:solidFill>
                  <a:srgbClr val="F4A25F"/>
                </a:solidFill>
                <a:latin typeface="Calibri"/>
                <a:ea typeface="Microsoft YaHei"/>
              </a:rPr>
              <a:t>Spectroscopy and Spectral Imaging</a:t>
            </a:r>
          </a:p>
        </p:txBody>
      </p:sp>
      <p:sp>
        <p:nvSpPr>
          <p:cNvPr id="8" name="TextBox 7"/>
          <p:cNvSpPr txBox="1"/>
          <p:nvPr/>
        </p:nvSpPr>
        <p:spPr>
          <a:xfrm>
            <a:off x="731520" y="4663440"/>
            <a:ext cx="10725912" cy="457200"/>
          </a:xfrm>
          <a:prstGeom prst="rect">
            <a:avLst/>
          </a:prstGeom>
          <a:noFill/>
        </p:spPr>
        <p:txBody>
          <a:bodyPr wrap="square" anchor="t" lIns="25400" rIns="25400" tIns="25400" bIns="25400">
            <a:spAutoFit/>
          </a:bodyPr>
          <a:lstStyle/>
          <a:p>
            <a:pPr algn="ctr">
              <a:lnSpc>
                <a:spcPct val="105000"/>
              </a:lnSpc>
              <a:spcBef>
                <a:spcPts val="0"/>
              </a:spcBef>
              <a:spcAft>
                <a:spcPts val="200"/>
              </a:spcAft>
            </a:pPr>
            <a:r>
              <a:rPr sz="1400" b="0" i="0">
                <a:solidFill>
                  <a:srgbClr val="BBCCDD"/>
                </a:solidFill>
                <a:latin typeface="Calibri"/>
                <a:ea typeface="Microsoft YaHei"/>
              </a:rPr>
              <a:t>Fundamentals · Principles · Data Processing · Applications &amp; Trends</a:t>
            </a:r>
          </a:p>
        </p:txBody>
      </p:sp>
      <p:sp>
        <p:nvSpPr>
          <p:cNvPr id="9" name="TextBox 8"/>
          <p:cNvSpPr txBox="1"/>
          <p:nvPr/>
        </p:nvSpPr>
        <p:spPr>
          <a:xfrm>
            <a:off x="365760" y="6446520"/>
            <a:ext cx="2743200" cy="274320"/>
          </a:xfrm>
          <a:prstGeom prst="rect">
            <a:avLst/>
          </a:prstGeom>
          <a:noFill/>
        </p:spPr>
        <p:txBody>
          <a:bodyPr wrap="square" anchor="t" lIns="25400" rIns="25400" tIns="25400" bIns="25400">
            <a:spAutoFit/>
          </a:bodyPr>
          <a:lstStyle/>
          <a:p>
            <a:pPr algn="l">
              <a:lnSpc>
                <a:spcPct val="105000"/>
              </a:lnSpc>
              <a:spcBef>
                <a:spcPts val="0"/>
              </a:spcBef>
              <a:spcAft>
                <a:spcPts val="200"/>
              </a:spcAft>
            </a:pPr>
            <a:r>
              <a:rPr sz="900" b="0" i="0">
                <a:solidFill>
                  <a:srgbClr val="5A5A5A"/>
                </a:solidFill>
                <a:latin typeface="Calibri"/>
                <a:ea typeface="Microsoft YaHei"/>
              </a:rPr>
              <a:t>63 / 63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