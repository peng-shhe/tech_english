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0" r:id="rId4"/>
    <p:sldId id="261" r:id="rId5"/>
    <p:sldId id="262" r:id="rId6"/>
    <p:sldId id="264" r:id="rId7"/>
    <p:sldId id="270" r:id="rId8"/>
    <p:sldId id="265" r:id="rId9"/>
    <p:sldId id="266" r:id="rId10"/>
    <p:sldId id="267"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61" autoAdjust="0"/>
    <p:restoredTop sz="94660"/>
  </p:normalViewPr>
  <p:slideViewPr>
    <p:cSldViewPr snapToGrid="0">
      <p:cViewPr varScale="1">
        <p:scale>
          <a:sx n="90" d="100"/>
          <a:sy n="90" d="100"/>
        </p:scale>
        <p:origin x="864"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87DCB-6496-FE1A-865B-1E4A445DA9C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93E8D59-7331-4FD6-7752-1E8837558D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AFE41E1-8FC0-ABC6-B553-832C048CB93F}"/>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5" name="页脚占位符 4">
            <a:extLst>
              <a:ext uri="{FF2B5EF4-FFF2-40B4-BE49-F238E27FC236}">
                <a16:creationId xmlns:a16="http://schemas.microsoft.com/office/drawing/2014/main" id="{620A07A6-B06F-84E0-BDE5-32F5CB61A0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9D57A0-7756-70DA-9FE9-DCA4A60B7D6A}"/>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1603123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95B3C-94E1-8321-1CFC-8951B125FE6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5D4094-8285-B086-0F45-3EE7B1A531A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9598CE-F032-E4D8-50E2-77B7999ABC4E}"/>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5" name="页脚占位符 4">
            <a:extLst>
              <a:ext uri="{FF2B5EF4-FFF2-40B4-BE49-F238E27FC236}">
                <a16:creationId xmlns:a16="http://schemas.microsoft.com/office/drawing/2014/main" id="{48F1E8EC-FF26-81FB-ABFE-65E14C7B81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10D4350-A0CC-D077-9892-EA2978E5F2C5}"/>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3378563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DA60E4-93CF-4F98-FF37-353D87CA8A5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B6FFEF5-9E35-CD9A-2DB7-7D8020B08A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E6990FE-5897-AD75-7EB1-F9523C12ED47}"/>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5" name="页脚占位符 4">
            <a:extLst>
              <a:ext uri="{FF2B5EF4-FFF2-40B4-BE49-F238E27FC236}">
                <a16:creationId xmlns:a16="http://schemas.microsoft.com/office/drawing/2014/main" id="{0C7C1B9D-AA6D-ADC7-D93F-B1C0754607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9CCC8FF-21D6-58DE-6D0E-52F8A9B31B2E}"/>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3690053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F1247C-71B6-5A5A-BA50-4BBED52EBC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009903-47F5-CFCF-E018-450665A6E4F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BA68393-7044-F683-4B58-DE4E2EB082A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4A0BB25-BD80-13C1-2C94-6C5155AF7607}"/>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6" name="页脚占位符 5">
            <a:extLst>
              <a:ext uri="{FF2B5EF4-FFF2-40B4-BE49-F238E27FC236}">
                <a16:creationId xmlns:a16="http://schemas.microsoft.com/office/drawing/2014/main" id="{197A120B-C34C-107B-20A9-7FC8A481E9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861CCDC-5955-D6F9-D9DB-65E1C9F8CA3F}"/>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193474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5E44DA-C44A-9EDC-2F73-DA9C8DB3365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04B6EE0-3C1C-2EC8-1905-D412F0B00A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48A5E8F-2A84-ED37-0860-86617B5885D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72A1321-D83F-2E4D-E5B9-56C14B6028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DB2488F-F608-DC33-38AB-C7E4B0EA714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DB61032-E10B-CEB5-827A-92A087753F7B}"/>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8" name="页脚占位符 7">
            <a:extLst>
              <a:ext uri="{FF2B5EF4-FFF2-40B4-BE49-F238E27FC236}">
                <a16:creationId xmlns:a16="http://schemas.microsoft.com/office/drawing/2014/main" id="{56AB8A9D-FAE6-A558-CB60-E6AC7C14673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C4C7A4C-3F95-CAE7-B265-90D9B1174676}"/>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316503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0BE541-E733-10EE-D9F7-7B32478A4C6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70689D7-9F35-87DD-0E0B-B32D3ECBB2C8}"/>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4" name="页脚占位符 3">
            <a:extLst>
              <a:ext uri="{FF2B5EF4-FFF2-40B4-BE49-F238E27FC236}">
                <a16:creationId xmlns:a16="http://schemas.microsoft.com/office/drawing/2014/main" id="{58885B6A-3F02-5CBD-5834-21DE9905BCB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E997432-A026-AEB9-4294-BEFC24296177}"/>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456273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B84907A-C387-8CED-07CF-05F3FFEF9F45}"/>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3" name="页脚占位符 2">
            <a:extLst>
              <a:ext uri="{FF2B5EF4-FFF2-40B4-BE49-F238E27FC236}">
                <a16:creationId xmlns:a16="http://schemas.microsoft.com/office/drawing/2014/main" id="{09B572FC-FA9C-EAAC-C223-258FE33BD5E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030849D-672B-7B46-592E-BED0DFE81F6D}"/>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1911636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4ACA30-32E5-BCD3-A210-BE405B29369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0223B43-0062-4689-FEAE-9549620C46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8F4858A-D7ED-A4AC-332F-11D9403434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B9D0F01-0430-CEFF-3A48-40E681AE7BFB}"/>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6" name="页脚占位符 5">
            <a:extLst>
              <a:ext uri="{FF2B5EF4-FFF2-40B4-BE49-F238E27FC236}">
                <a16:creationId xmlns:a16="http://schemas.microsoft.com/office/drawing/2014/main" id="{A32A88C5-D4E4-3E10-FD60-B24FB119C8A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AA09D81-B6E3-17CC-B66D-06D29F05969F}"/>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3323527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8C98E9-66FC-343B-746C-206D2A0D52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794041-0AD6-FF53-E725-B75FBAAA82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4B89D85-71D2-D564-A4E8-C43D06F23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1AC71E-6120-E502-7961-1B8695E13BF8}"/>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6" name="页脚占位符 5">
            <a:extLst>
              <a:ext uri="{FF2B5EF4-FFF2-40B4-BE49-F238E27FC236}">
                <a16:creationId xmlns:a16="http://schemas.microsoft.com/office/drawing/2014/main" id="{DC8A84A9-1DED-4F41-EC22-C7B9E732DD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DED9122-2D26-22D7-740E-032C6FE7AEC4}"/>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485089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F058AC-0C0B-4169-E40E-B575E275104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F497854-B704-3D99-BAD2-4D6BCA02A42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9D55DF4-AFC6-DBBF-5456-55CB92DF3DF5}"/>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5" name="页脚占位符 4">
            <a:extLst>
              <a:ext uri="{FF2B5EF4-FFF2-40B4-BE49-F238E27FC236}">
                <a16:creationId xmlns:a16="http://schemas.microsoft.com/office/drawing/2014/main" id="{76D970A1-19E1-745C-6E54-E8ECDAD03BC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1E148DD-68CC-EB0C-22C5-88E927506CAC}"/>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3809419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B3C8353-0DC4-F27E-C07A-DEDD129989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BF4B80A-FFC0-C8D8-1487-6A2F2311302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61DB48-685E-2648-B00E-45A71B47BC83}"/>
              </a:ext>
            </a:extLst>
          </p:cNvPr>
          <p:cNvSpPr>
            <a:spLocks noGrp="1"/>
          </p:cNvSpPr>
          <p:nvPr>
            <p:ph type="dt" sz="half" idx="10"/>
          </p:nvPr>
        </p:nvSpPr>
        <p:spPr/>
        <p:txBody>
          <a:bodyPr/>
          <a:lstStyle/>
          <a:p>
            <a:fld id="{D614DD3B-C065-42C8-8B55-7E8BE0E94B91}" type="datetimeFigureOut">
              <a:rPr lang="zh-CN" altLang="en-US" smtClean="0"/>
              <a:t>2026/9/17</a:t>
            </a:fld>
            <a:endParaRPr lang="zh-CN" altLang="en-US"/>
          </a:p>
        </p:txBody>
      </p:sp>
      <p:sp>
        <p:nvSpPr>
          <p:cNvPr id="5" name="页脚占位符 4">
            <a:extLst>
              <a:ext uri="{FF2B5EF4-FFF2-40B4-BE49-F238E27FC236}">
                <a16:creationId xmlns:a16="http://schemas.microsoft.com/office/drawing/2014/main" id="{A4A4E39E-63DA-CBAF-DBC9-E8D214B641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541227-CE8F-6A24-211D-11ACF838FDCF}"/>
              </a:ext>
            </a:extLst>
          </p:cNvPr>
          <p:cNvSpPr>
            <a:spLocks noGrp="1"/>
          </p:cNvSpPr>
          <p:nvPr>
            <p:ph type="sldNum" sz="quarter" idx="12"/>
          </p:nvPr>
        </p:nvSpPr>
        <p:spPr/>
        <p:txBody>
          <a:body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4216334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EDC329F-8F5B-2D76-42B3-C2E1567A67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06D9F6A-880B-B48B-AA41-496866A453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79CD260-19F5-A0AD-5C90-B5FE944318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14DD3B-C065-42C8-8B55-7E8BE0E94B91}" type="datetimeFigureOut">
              <a:rPr lang="zh-CN" altLang="en-US" smtClean="0"/>
              <a:t>2026/9/17</a:t>
            </a:fld>
            <a:endParaRPr lang="zh-CN" altLang="en-US"/>
          </a:p>
        </p:txBody>
      </p:sp>
      <p:sp>
        <p:nvSpPr>
          <p:cNvPr id="5" name="页脚占位符 4">
            <a:extLst>
              <a:ext uri="{FF2B5EF4-FFF2-40B4-BE49-F238E27FC236}">
                <a16:creationId xmlns:a16="http://schemas.microsoft.com/office/drawing/2014/main" id="{252885EE-7B46-46D5-D0AD-5E20E1E19C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CE3EEE4-E25F-7E20-4E90-5CC8EA4184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E56E4F-BEE8-4FBD-8655-D2D84ECE8E6D}" type="slidenum">
              <a:rPr lang="zh-CN" altLang="en-US" smtClean="0"/>
              <a:t>‹#›</a:t>
            </a:fld>
            <a:endParaRPr lang="zh-CN" altLang="en-US"/>
          </a:p>
        </p:txBody>
      </p:sp>
    </p:spTree>
    <p:extLst>
      <p:ext uri="{BB962C8B-B14F-4D97-AF65-F5344CB8AC3E}">
        <p14:creationId xmlns:p14="http://schemas.microsoft.com/office/powerpoint/2010/main" val="1639001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C85289-4774-54CB-71BE-5AE8429B5A41}"/>
              </a:ext>
            </a:extLst>
          </p:cNvPr>
          <p:cNvSpPr>
            <a:spLocks noGrp="1"/>
          </p:cNvSpPr>
          <p:nvPr>
            <p:ph type="ctrTitle"/>
          </p:nvPr>
        </p:nvSpPr>
        <p:spPr>
          <a:xfrm>
            <a:off x="1524000" y="1665768"/>
            <a:ext cx="9144000" cy="1593112"/>
          </a:xfrm>
        </p:spPr>
        <p:txBody>
          <a:bodyPr>
            <a:normAutofit fontScale="90000"/>
          </a:bodyPr>
          <a:lstStyle/>
          <a:p>
            <a:r>
              <a:rPr lang="en-US" altLang="zh-CN" dirty="0"/>
              <a:t>Part 1</a:t>
            </a:r>
            <a:r>
              <a:rPr lang="zh-CN" altLang="en-US" dirty="0"/>
              <a:t>：</a:t>
            </a:r>
            <a:br>
              <a:rPr lang="en-US" altLang="zh-CN" dirty="0"/>
            </a:br>
            <a:r>
              <a:rPr lang="en-US" altLang="zh-CN" dirty="0"/>
              <a:t>Fundamentals of Spectroscopy</a:t>
            </a:r>
            <a:endParaRPr lang="zh-CN" altLang="en-US" dirty="0"/>
          </a:p>
        </p:txBody>
      </p:sp>
      <p:sp>
        <p:nvSpPr>
          <p:cNvPr id="4" name="文本框 3">
            <a:extLst>
              <a:ext uri="{FF2B5EF4-FFF2-40B4-BE49-F238E27FC236}">
                <a16:creationId xmlns:a16="http://schemas.microsoft.com/office/drawing/2014/main" id="{FEAEDEA9-8971-348C-84F1-9CD6CF8A23E2}"/>
              </a:ext>
            </a:extLst>
          </p:cNvPr>
          <p:cNvSpPr txBox="1"/>
          <p:nvPr/>
        </p:nvSpPr>
        <p:spPr>
          <a:xfrm>
            <a:off x="1704753" y="3599121"/>
            <a:ext cx="8782493" cy="1754326"/>
          </a:xfrm>
          <a:prstGeom prst="rect">
            <a:avLst/>
          </a:prstGeom>
          <a:noFill/>
        </p:spPr>
        <p:txBody>
          <a:bodyPr wrap="square" rtlCol="0">
            <a:spAutoFit/>
          </a:bodyPr>
          <a:lstStyle/>
          <a:p>
            <a:pPr algn="ctr"/>
            <a:r>
              <a:rPr lang="en-US" altLang="zh-CN" b="1" i="0" dirty="0">
                <a:solidFill>
                  <a:srgbClr val="0F1115"/>
                </a:solidFill>
                <a:effectLst/>
                <a:latin typeface="quote-cjk-patch"/>
              </a:rPr>
              <a:t>Main references</a:t>
            </a:r>
          </a:p>
          <a:p>
            <a:pPr algn="l"/>
            <a:r>
              <a:rPr lang="en-US" altLang="zh-CN" dirty="0">
                <a:solidFill>
                  <a:srgbClr val="0F1115"/>
                </a:solidFill>
                <a:latin typeface="Times New Roman" panose="02020603050405020304" pitchFamily="18" charset="0"/>
                <a:cs typeface="Times New Roman" panose="02020603050405020304" pitchFamily="18" charset="0"/>
              </a:rPr>
              <a:t>[1]</a:t>
            </a:r>
            <a:r>
              <a:rPr lang="en-US" altLang="zh-CN" b="0" i="0" dirty="0" err="1">
                <a:solidFill>
                  <a:srgbClr val="0F1115"/>
                </a:solidFill>
                <a:effectLst/>
                <a:latin typeface="Times New Roman" panose="02020603050405020304" pitchFamily="18" charset="0"/>
                <a:cs typeface="Times New Roman" panose="02020603050405020304" pitchFamily="18" charset="0"/>
              </a:rPr>
              <a:t>Garini</a:t>
            </a:r>
            <a:r>
              <a:rPr lang="en-US" altLang="zh-CN" b="0" i="0" dirty="0">
                <a:solidFill>
                  <a:srgbClr val="0F1115"/>
                </a:solidFill>
                <a:effectLst/>
                <a:latin typeface="Times New Roman" panose="02020603050405020304" pitchFamily="18" charset="0"/>
                <a:cs typeface="Times New Roman" panose="02020603050405020304" pitchFamily="18" charset="0"/>
              </a:rPr>
              <a:t> Y, Young I T, McNamara G. Spectral imaging: principles and applications[J]. Cytometry part a: the journal of the international society for analytical cytology, 2006, 69(8): 735-747.</a:t>
            </a:r>
          </a:p>
          <a:p>
            <a:pPr algn="l"/>
            <a:r>
              <a:rPr lang="en-US" altLang="zh-CN" dirty="0">
                <a:solidFill>
                  <a:srgbClr val="0F1115"/>
                </a:solidFill>
                <a:latin typeface="Times New Roman" panose="02020603050405020304" pitchFamily="18" charset="0"/>
                <a:cs typeface="Times New Roman" panose="02020603050405020304" pitchFamily="18" charset="0"/>
              </a:rPr>
              <a:t>[2]</a:t>
            </a:r>
            <a:r>
              <a:rPr lang="en-US" altLang="zh-CN" b="0" i="0" dirty="0">
                <a:solidFill>
                  <a:srgbClr val="222222"/>
                </a:solidFill>
                <a:effectLst/>
                <a:latin typeface="Times New Roman" panose="02020603050405020304" pitchFamily="18" charset="0"/>
                <a:cs typeface="Times New Roman" panose="02020603050405020304" pitchFamily="18" charset="0"/>
              </a:rPr>
              <a:t> Prasad R D, </a:t>
            </a:r>
            <a:r>
              <a:rPr lang="en-US" altLang="zh-CN" b="0" i="0" dirty="0" err="1">
                <a:solidFill>
                  <a:srgbClr val="222222"/>
                </a:solidFill>
                <a:effectLst/>
                <a:latin typeface="Times New Roman" panose="02020603050405020304" pitchFamily="18" charset="0"/>
                <a:cs typeface="Times New Roman" panose="02020603050405020304" pitchFamily="18" charset="0"/>
              </a:rPr>
              <a:t>Sarvalkar</a:t>
            </a:r>
            <a:r>
              <a:rPr lang="en-US" altLang="zh-CN" b="0" i="0" dirty="0">
                <a:solidFill>
                  <a:srgbClr val="222222"/>
                </a:solidFill>
                <a:effectLst/>
                <a:latin typeface="Times New Roman" panose="02020603050405020304" pitchFamily="18" charset="0"/>
                <a:cs typeface="Times New Roman" panose="02020603050405020304" pitchFamily="18" charset="0"/>
              </a:rPr>
              <a:t> P D, Prasad N, et al. A review on spectroscopic techniques for analysis of nanomaterials and biomaterials[J]. ES Energy and Environment, 2024, 27: 1264.</a:t>
            </a:r>
            <a:endParaRPr lang="en-US" altLang="zh-CN" b="0" i="0" dirty="0">
              <a:solidFill>
                <a:srgbClr val="0F111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0222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582A2-4682-6A4D-C85F-3DF66F05C916}"/>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82EED84-6F2C-96D6-95B3-F47BC5316467}"/>
              </a:ext>
            </a:extLst>
          </p:cNvPr>
          <p:cNvSpPr txBox="1"/>
          <p:nvPr/>
        </p:nvSpPr>
        <p:spPr>
          <a:xfrm>
            <a:off x="474923" y="1182438"/>
            <a:ext cx="6393710" cy="4708981"/>
          </a:xfrm>
          <a:prstGeom prst="rect">
            <a:avLst/>
          </a:prstGeom>
          <a:noFill/>
        </p:spPr>
        <p:txBody>
          <a:bodyPr wrap="squar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Wave can be defined as any disturbance made in the medium that propagates through space. Most of the waves require some of the supporting media for propagation. The time dependence of displacement at any single point in the space often oscillates about some equilibrium position. For example, sound waves travel through the medium of air, and disturbance is the small collective displacement of air molecules. Therefore, it has properties of waves such as ocean waves, and light waves have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crests</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and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troughs</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The distance between two successive crests or troughs is known as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wavelength</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Frequency</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can be defined  as the number of waves passing from a point in one second. The velocity of light is the product of the wavelength of light and frequency of light. The different colors of light have different frequencies and wavelengths. </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EBD4521F-2D54-071E-549B-EBA678F67252}"/>
              </a:ext>
            </a:extLst>
          </p:cNvPr>
          <p:cNvSpPr txBox="1"/>
          <p:nvPr/>
        </p:nvSpPr>
        <p:spPr>
          <a:xfrm>
            <a:off x="7074195" y="1182438"/>
            <a:ext cx="4097081" cy="3693319"/>
          </a:xfrm>
          <a:prstGeom prst="rect">
            <a:avLst/>
          </a:prstGeom>
          <a:noFill/>
        </p:spPr>
        <p:txBody>
          <a:bodyPr wrap="square" rtlCol="0">
            <a:spAutoFit/>
          </a:bodyPr>
          <a:lstStyle/>
          <a:p>
            <a:r>
              <a:rPr lang="zh-CN" altLang="en-US" dirty="0"/>
              <a:t>波可以定义为在空间传播的介质中产生的任何扰动。大多数波需要一些支持介质才能传播。空间中任何单点位移的时间依赖性常常围绕某个平衡位置振荡。例如，声波通过空气介质传播，扰动是空气分子的微小集体位移。因此，它具有海浪等波的性质，光波也有波峰和波谷。两个连续</a:t>
            </a:r>
            <a:r>
              <a:rPr lang="zh-CN" altLang="en-US" dirty="0">
                <a:highlight>
                  <a:srgbClr val="FFFF00"/>
                </a:highlight>
              </a:rPr>
              <a:t>波峰</a:t>
            </a:r>
            <a:r>
              <a:rPr lang="zh-CN" altLang="en-US" dirty="0"/>
              <a:t>或</a:t>
            </a:r>
            <a:r>
              <a:rPr lang="zh-CN" altLang="en-US" dirty="0">
                <a:highlight>
                  <a:srgbClr val="FFFF00"/>
                </a:highlight>
              </a:rPr>
              <a:t>波谷</a:t>
            </a:r>
            <a:r>
              <a:rPr lang="zh-CN" altLang="en-US" dirty="0"/>
              <a:t>之间的距离称为</a:t>
            </a:r>
            <a:r>
              <a:rPr lang="zh-CN" altLang="en-US" dirty="0">
                <a:highlight>
                  <a:srgbClr val="FFFF00"/>
                </a:highlight>
              </a:rPr>
              <a:t>波长</a:t>
            </a:r>
            <a:r>
              <a:rPr lang="zh-CN" altLang="en-US" dirty="0"/>
              <a:t>。</a:t>
            </a:r>
            <a:r>
              <a:rPr lang="zh-CN" altLang="en-US" dirty="0">
                <a:highlight>
                  <a:srgbClr val="FFFF00"/>
                </a:highlight>
              </a:rPr>
              <a:t>频率</a:t>
            </a:r>
            <a:r>
              <a:rPr lang="zh-CN" altLang="en-US" dirty="0"/>
              <a:t>可以定义为一秒钟内从一点经过的波数。光速是光的波长和光的频率的乘积。不同颜色的光有不同的频率和波长。光可以直线穿过某些物体，但不是所有物体。</a:t>
            </a:r>
          </a:p>
        </p:txBody>
      </p:sp>
      <p:sp>
        <p:nvSpPr>
          <p:cNvPr id="6" name="文本框 5">
            <a:extLst>
              <a:ext uri="{FF2B5EF4-FFF2-40B4-BE49-F238E27FC236}">
                <a16:creationId xmlns:a16="http://schemas.microsoft.com/office/drawing/2014/main" id="{1B3FF65B-AA00-2746-AC41-2DC555BDA6C1}"/>
              </a:ext>
            </a:extLst>
          </p:cNvPr>
          <p:cNvSpPr txBox="1"/>
          <p:nvPr/>
        </p:nvSpPr>
        <p:spPr>
          <a:xfrm>
            <a:off x="474923" y="651301"/>
            <a:ext cx="5833732"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1.Light as electromagnetic waves</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844011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58221-6781-C962-C9FE-204DBF654E18}"/>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3729F569-0289-EAD7-8532-6FB21B0CBDB6}"/>
              </a:ext>
            </a:extLst>
          </p:cNvPr>
          <p:cNvSpPr txBox="1"/>
          <p:nvPr/>
        </p:nvSpPr>
        <p:spPr>
          <a:xfrm>
            <a:off x="474923" y="1182438"/>
            <a:ext cx="5557284" cy="4708981"/>
          </a:xfrm>
          <a:prstGeom prst="rect">
            <a:avLst/>
          </a:prstGeom>
          <a:noFill/>
        </p:spPr>
        <p:txBody>
          <a:bodyPr wrap="square" rtlCol="0">
            <a:spAutoFit/>
          </a:bodyPr>
          <a:lstStyle/>
          <a:p>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Spectroscopy</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is a term that is used to describe different phenomena, and we limit our discussion to optical spectroscopy, mainly in the visible light range. A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spectrum</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is a collection of light intensities at different wavelengths. Spectroscopy, the science of acquiring and explaining the spectral characteristics of matter, is a broad, well established and old science. Newton described the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dispersion</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of white light to its constituent colors in 1666 and by 1900 the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spectrograph</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 system for measuring a spectrum, was widely used. Spectroscopy provided the spectrum of hydrogen that was explained by Balmer in 1885, which led in 1913 to the </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Bo€hr</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model of the atom, and finally to the development of quantum mechanics by </a:t>
            </a:r>
            <a:r>
              <a:rPr lang="en-US" altLang="zh-CN" sz="2000" dirty="0" err="1">
                <a:latin typeface="Times New Roman" panose="02020603050405020304" pitchFamily="18" charset="0"/>
                <a:ea typeface="黑体" panose="02010609060101010101" pitchFamily="49" charset="-122"/>
                <a:cs typeface="Times New Roman" panose="02020603050405020304" pitchFamily="18" charset="0"/>
              </a:rPr>
              <a:t>Schr€odinger</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in 1926.</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63811111-5DD8-CC11-E7BD-4905954E66B8}"/>
              </a:ext>
            </a:extLst>
          </p:cNvPr>
          <p:cNvSpPr txBox="1"/>
          <p:nvPr/>
        </p:nvSpPr>
        <p:spPr>
          <a:xfrm>
            <a:off x="6032206" y="1182438"/>
            <a:ext cx="5493489" cy="2862322"/>
          </a:xfrm>
          <a:prstGeom prst="rect">
            <a:avLst/>
          </a:prstGeom>
          <a:noFill/>
        </p:spPr>
        <p:txBody>
          <a:bodyPr wrap="square" rtlCol="0">
            <a:spAutoFit/>
          </a:bodyPr>
          <a:lstStyle/>
          <a:p>
            <a:r>
              <a:rPr lang="zh-CN" altLang="en-US" dirty="0">
                <a:highlight>
                  <a:srgbClr val="FFFF00"/>
                </a:highlight>
              </a:rPr>
              <a:t>光谱学</a:t>
            </a:r>
            <a:r>
              <a:rPr lang="zh-CN" altLang="en-US" dirty="0"/>
              <a:t>是一个用于描述不同现象的术语，我们将讨论限制在光谱学上，主要是在可见光范围内。</a:t>
            </a:r>
            <a:r>
              <a:rPr lang="zh-CN" altLang="en-US" dirty="0">
                <a:highlight>
                  <a:srgbClr val="FFFF00"/>
                </a:highlight>
              </a:rPr>
              <a:t>光谱</a:t>
            </a:r>
            <a:r>
              <a:rPr lang="zh-CN" altLang="en-US" dirty="0"/>
              <a:t>是不同波长的光强度的集合。光谱学是一门获取和解释物质光谱特征的科学，是一门广泛、完善的古老科学。牛顿于 </a:t>
            </a:r>
            <a:r>
              <a:rPr lang="en-US" altLang="zh-CN" dirty="0"/>
              <a:t>1666 </a:t>
            </a:r>
            <a:r>
              <a:rPr lang="zh-CN" altLang="en-US" dirty="0"/>
              <a:t>年描述了白光对其组成颜色的</a:t>
            </a:r>
            <a:r>
              <a:rPr lang="zh-CN" altLang="en-US" dirty="0">
                <a:highlight>
                  <a:srgbClr val="FFFF00"/>
                </a:highlight>
              </a:rPr>
              <a:t>色散</a:t>
            </a:r>
            <a:r>
              <a:rPr lang="zh-CN" altLang="en-US" dirty="0"/>
              <a:t>，到 </a:t>
            </a:r>
            <a:r>
              <a:rPr lang="en-US" altLang="zh-CN" dirty="0"/>
              <a:t>1900 </a:t>
            </a:r>
            <a:r>
              <a:rPr lang="zh-CN" altLang="en-US" dirty="0"/>
              <a:t>年，</a:t>
            </a:r>
            <a:r>
              <a:rPr lang="zh-CN" altLang="en-US" dirty="0">
                <a:highlight>
                  <a:srgbClr val="FFFF00"/>
                </a:highlight>
              </a:rPr>
              <a:t>光谱仪</a:t>
            </a:r>
            <a:r>
              <a:rPr lang="zh-CN" altLang="en-US" dirty="0"/>
              <a:t>（一种用于测量光谱的系统）得到了广泛使用。光谱学提供了巴尔默 </a:t>
            </a:r>
            <a:r>
              <a:rPr lang="en-US" altLang="zh-CN" dirty="0"/>
              <a:t>(Balmer) </a:t>
            </a:r>
            <a:r>
              <a:rPr lang="zh-CN" altLang="en-US" dirty="0"/>
              <a:t>于 </a:t>
            </a:r>
            <a:r>
              <a:rPr lang="en-US" altLang="zh-CN" dirty="0"/>
              <a:t>1885 </a:t>
            </a:r>
            <a:r>
              <a:rPr lang="zh-CN" altLang="en-US" dirty="0"/>
              <a:t>年解释的氢光谱，从而在 </a:t>
            </a:r>
            <a:r>
              <a:rPr lang="en-US" altLang="zh-CN" dirty="0"/>
              <a:t>1913 </a:t>
            </a:r>
            <a:r>
              <a:rPr lang="zh-CN" altLang="en-US" dirty="0"/>
              <a:t>年提出了原子的玻尔模型 ，并最终由薛定谔 </a:t>
            </a:r>
            <a:r>
              <a:rPr lang="en-US" altLang="zh-CN" dirty="0"/>
              <a:t>(Schrödinger) </a:t>
            </a:r>
            <a:r>
              <a:rPr lang="zh-CN" altLang="en-US" dirty="0"/>
              <a:t>在 </a:t>
            </a:r>
            <a:r>
              <a:rPr lang="en-US" altLang="zh-CN" dirty="0"/>
              <a:t>1926 </a:t>
            </a:r>
            <a:r>
              <a:rPr lang="zh-CN" altLang="en-US" dirty="0"/>
              <a:t>年发展了量子力学 。</a:t>
            </a:r>
          </a:p>
        </p:txBody>
      </p:sp>
      <p:sp>
        <p:nvSpPr>
          <p:cNvPr id="6" name="文本框 5">
            <a:extLst>
              <a:ext uri="{FF2B5EF4-FFF2-40B4-BE49-F238E27FC236}">
                <a16:creationId xmlns:a16="http://schemas.microsoft.com/office/drawing/2014/main" id="{65FE4513-49E8-D029-E86D-B90F4F1A3319}"/>
              </a:ext>
            </a:extLst>
          </p:cNvPr>
          <p:cNvSpPr txBox="1"/>
          <p:nvPr/>
        </p:nvSpPr>
        <p:spPr>
          <a:xfrm>
            <a:off x="474922" y="659218"/>
            <a:ext cx="3423686"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2.Spectroscopy</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741218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05D43-AF46-40B9-7A63-0A1D9AE6FD2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42E6775-8D44-AA99-D338-53DA10E7681B}"/>
              </a:ext>
            </a:extLst>
          </p:cNvPr>
          <p:cNvSpPr txBox="1"/>
          <p:nvPr/>
        </p:nvSpPr>
        <p:spPr>
          <a:xfrm>
            <a:off x="538716" y="1168261"/>
            <a:ext cx="5557284" cy="4708981"/>
          </a:xfrm>
          <a:prstGeom prst="rect">
            <a:avLst/>
          </a:prstGeom>
          <a:noFill/>
        </p:spPr>
        <p:txBody>
          <a:bodyPr wrap="squar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structure of atoms and molecules is directly related to spectroscopy. The spectrum is a direct measurement of the energy levels of the detected structure (Fig. 1). Molecules (and atoms) have a specific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energy-band structure</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In an absorption process (which occurs in both brightfield and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fluorescence</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microscopy), an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electron</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is excited from the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ground state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to an excited energy band (1 in Fig. 1). In fluorescence, the electron rapidly decays to a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meta-stable energy level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 in Fig. 1). Then, light is emitted when the electron decays back to the ground state (3 in Fig. 1). The energy levels are intrinsic properties of the molecule, and the spectrum, therefore, provides a precise fingerprint of the molecule.</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82946729-68F3-7E57-F89F-95FC20F2BC79}"/>
              </a:ext>
            </a:extLst>
          </p:cNvPr>
          <p:cNvSpPr txBox="1"/>
          <p:nvPr/>
        </p:nvSpPr>
        <p:spPr>
          <a:xfrm>
            <a:off x="6096000" y="1168261"/>
            <a:ext cx="5493489" cy="2308324"/>
          </a:xfrm>
          <a:prstGeom prst="rect">
            <a:avLst/>
          </a:prstGeom>
          <a:noFill/>
        </p:spPr>
        <p:txBody>
          <a:bodyPr wrap="square" rtlCol="0">
            <a:spAutoFit/>
          </a:bodyPr>
          <a:lstStyle/>
          <a:p>
            <a:r>
              <a:rPr lang="zh-CN" altLang="en-US" dirty="0"/>
              <a:t>原子和分子的结构与光谱学直接相关。光谱是对所检测结构能级的直接测量（图 </a:t>
            </a:r>
            <a:r>
              <a:rPr lang="en-US" altLang="zh-CN" dirty="0"/>
              <a:t>1</a:t>
            </a:r>
            <a:r>
              <a:rPr lang="zh-CN" altLang="en-US" dirty="0"/>
              <a:t>）。分子（和原子）具有特定的</a:t>
            </a:r>
            <a:r>
              <a:rPr lang="zh-CN" altLang="en-US" dirty="0">
                <a:highlight>
                  <a:srgbClr val="FFFF00"/>
                </a:highlight>
              </a:rPr>
              <a:t>能带结构</a:t>
            </a:r>
            <a:r>
              <a:rPr lang="zh-CN" altLang="en-US" dirty="0"/>
              <a:t>。在吸收过程（明场显微镜和</a:t>
            </a:r>
            <a:r>
              <a:rPr lang="zh-CN" altLang="en-US" dirty="0">
                <a:highlight>
                  <a:srgbClr val="FFFF00"/>
                </a:highlight>
              </a:rPr>
              <a:t>荧光</a:t>
            </a:r>
            <a:r>
              <a:rPr lang="zh-CN" altLang="en-US" dirty="0"/>
              <a:t>显微镜中都会发生）中，电子从</a:t>
            </a:r>
            <a:r>
              <a:rPr lang="zh-CN" altLang="en-US" dirty="0">
                <a:highlight>
                  <a:srgbClr val="FFFF00"/>
                </a:highlight>
              </a:rPr>
              <a:t>基态</a:t>
            </a:r>
            <a:r>
              <a:rPr lang="zh-CN" altLang="en-US" dirty="0"/>
              <a:t>激发到激发能带（图 </a:t>
            </a:r>
            <a:r>
              <a:rPr lang="en-US" altLang="zh-CN" dirty="0"/>
              <a:t>1 </a:t>
            </a:r>
            <a:r>
              <a:rPr lang="zh-CN" altLang="en-US" dirty="0"/>
              <a:t>中的 </a:t>
            </a:r>
            <a:r>
              <a:rPr lang="en-US" altLang="zh-CN" dirty="0"/>
              <a:t>1</a:t>
            </a:r>
            <a:r>
              <a:rPr lang="zh-CN" altLang="en-US" dirty="0"/>
              <a:t>）。在荧光中，</a:t>
            </a:r>
            <a:r>
              <a:rPr lang="zh-CN" altLang="en-US" dirty="0">
                <a:highlight>
                  <a:srgbClr val="FFFF00"/>
                </a:highlight>
              </a:rPr>
              <a:t>电子</a:t>
            </a:r>
            <a:r>
              <a:rPr lang="zh-CN" altLang="en-US" dirty="0"/>
              <a:t>迅速衰减到</a:t>
            </a:r>
            <a:r>
              <a:rPr lang="zh-CN" altLang="en-US" dirty="0">
                <a:highlight>
                  <a:srgbClr val="FFFF00"/>
                </a:highlight>
              </a:rPr>
              <a:t>亚稳态能级</a:t>
            </a:r>
            <a:r>
              <a:rPr lang="zh-CN" altLang="en-US" dirty="0"/>
              <a:t>（图 </a:t>
            </a:r>
            <a:r>
              <a:rPr lang="en-US" altLang="zh-CN" dirty="0"/>
              <a:t>1 </a:t>
            </a:r>
            <a:r>
              <a:rPr lang="zh-CN" altLang="en-US" dirty="0"/>
              <a:t>中的 </a:t>
            </a:r>
            <a:r>
              <a:rPr lang="en-US" altLang="zh-CN" dirty="0"/>
              <a:t>2</a:t>
            </a:r>
            <a:r>
              <a:rPr lang="zh-CN" altLang="en-US" dirty="0"/>
              <a:t>）。然后，当电子衰变回到基态时就会发射光（图 </a:t>
            </a:r>
            <a:r>
              <a:rPr lang="en-US" altLang="zh-CN" dirty="0"/>
              <a:t>1 </a:t>
            </a:r>
            <a:r>
              <a:rPr lang="zh-CN" altLang="en-US" dirty="0"/>
              <a:t>中的 </a:t>
            </a:r>
            <a:r>
              <a:rPr lang="en-US" altLang="zh-CN" dirty="0"/>
              <a:t>3</a:t>
            </a:r>
            <a:r>
              <a:rPr lang="zh-CN" altLang="en-US" dirty="0"/>
              <a:t>）。能级是分子的固有属性，因此光谱提供了分子的精确指纹。</a:t>
            </a:r>
          </a:p>
        </p:txBody>
      </p:sp>
      <p:pic>
        <p:nvPicPr>
          <p:cNvPr id="3" name="图片 2">
            <a:extLst>
              <a:ext uri="{FF2B5EF4-FFF2-40B4-BE49-F238E27FC236}">
                <a16:creationId xmlns:a16="http://schemas.microsoft.com/office/drawing/2014/main" id="{BFBCF2C4-12CA-5F7E-86A9-3638D54E2BCE}"/>
              </a:ext>
            </a:extLst>
          </p:cNvPr>
          <p:cNvPicPr>
            <a:picLocks noChangeAspect="1"/>
          </p:cNvPicPr>
          <p:nvPr/>
        </p:nvPicPr>
        <p:blipFill>
          <a:blip r:embed="rId2"/>
          <a:stretch>
            <a:fillRect/>
          </a:stretch>
        </p:blipFill>
        <p:spPr>
          <a:xfrm>
            <a:off x="6159794" y="3545219"/>
            <a:ext cx="3073536" cy="2709773"/>
          </a:xfrm>
          <a:prstGeom prst="rect">
            <a:avLst/>
          </a:prstGeom>
        </p:spPr>
      </p:pic>
      <p:sp>
        <p:nvSpPr>
          <p:cNvPr id="8" name="文本框 7">
            <a:extLst>
              <a:ext uri="{FF2B5EF4-FFF2-40B4-BE49-F238E27FC236}">
                <a16:creationId xmlns:a16="http://schemas.microsoft.com/office/drawing/2014/main" id="{5C4BA040-D1B3-4FA6-B731-1DD6F9D6D93B}"/>
              </a:ext>
            </a:extLst>
          </p:cNvPr>
          <p:cNvSpPr txBox="1"/>
          <p:nvPr/>
        </p:nvSpPr>
        <p:spPr>
          <a:xfrm>
            <a:off x="9481423" y="3745944"/>
            <a:ext cx="2108066" cy="2308324"/>
          </a:xfrm>
          <a:prstGeom prst="rect">
            <a:avLst/>
          </a:prstGeom>
          <a:noFill/>
        </p:spPr>
        <p:txBody>
          <a:bodyPr wrap="square" rtlCol="0">
            <a:spAutoFit/>
          </a:bodyPr>
          <a:lstStyle/>
          <a:p>
            <a:r>
              <a:rPr lang="en-US" altLang="zh-CN" sz="1200" dirty="0">
                <a:latin typeface="Times New Roman" panose="02020603050405020304" pitchFamily="18" charset="0"/>
                <a:ea typeface="黑体" panose="02010609060101010101" pitchFamily="49" charset="-122"/>
                <a:cs typeface="Times New Roman" panose="02020603050405020304" pitchFamily="18" charset="0"/>
              </a:rPr>
              <a:t>FIG. 1. A simplified energy-level diagram of a fluorescent molecule (1). Electrons are excited from the ground state to the excited band by absorbing a photon (2). The electrons decay rapidly to a meta-stable energy level (3). Electrons fall back to the ground state by emitting a photon with lower energy relative to the exciting photon.</a:t>
            </a:r>
            <a:endParaRPr lang="zh-CN" altLang="en-US" sz="1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886D9F48-47D2-FF78-14F1-D3B73BEAD52F}"/>
              </a:ext>
            </a:extLst>
          </p:cNvPr>
          <p:cNvSpPr txBox="1"/>
          <p:nvPr/>
        </p:nvSpPr>
        <p:spPr>
          <a:xfrm>
            <a:off x="538716" y="603008"/>
            <a:ext cx="6152709" cy="954107"/>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3.The basic principle of spectroscopy</a:t>
            </a:r>
          </a:p>
          <a:p>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974883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98C29-ADEB-EA39-60DC-D0922BA96782}"/>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F46F5C2-F992-1FB4-E36D-9E07ACB81E50}"/>
              </a:ext>
            </a:extLst>
          </p:cNvPr>
          <p:cNvSpPr txBox="1"/>
          <p:nvPr/>
        </p:nvSpPr>
        <p:spPr>
          <a:xfrm>
            <a:off x="474923" y="1182438"/>
            <a:ext cx="5557284" cy="4708981"/>
          </a:xfrm>
          <a:prstGeom prst="rect">
            <a:avLst/>
          </a:prstGeom>
          <a:noFill/>
        </p:spPr>
        <p:txBody>
          <a:bodyPr wrap="squar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Some of the important characteristics of a spectrum includes: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The spectral resolution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determines the closest wavelengths that can be distinguished.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The spectral range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in which spectra can be measured.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3.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The lowest detectable signal and dynamic range</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which defines the smallest measurable signal and the number of distinguishable levels in a given measurement. These parameters also depend on the shape of the measured spectrum. A sharp laser line has a better detectable signal because the energy is concentrated at a single wavelength when compared to a broad spectrum with equal energy which is distributed over a large spectral range.</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DDCA5B88-6893-155B-820E-437929410365}"/>
              </a:ext>
            </a:extLst>
          </p:cNvPr>
          <p:cNvSpPr txBox="1"/>
          <p:nvPr/>
        </p:nvSpPr>
        <p:spPr>
          <a:xfrm>
            <a:off x="6032206" y="1182438"/>
            <a:ext cx="5493489" cy="2308324"/>
          </a:xfrm>
          <a:prstGeom prst="rect">
            <a:avLst/>
          </a:prstGeom>
          <a:noFill/>
        </p:spPr>
        <p:txBody>
          <a:bodyPr wrap="square" rtlCol="0">
            <a:spAutoFit/>
          </a:bodyPr>
          <a:lstStyle/>
          <a:p>
            <a:r>
              <a:rPr lang="zh-CN" altLang="en-US" dirty="0"/>
              <a:t>光谱的一些重要特征包括：</a:t>
            </a:r>
            <a:endParaRPr lang="en-US" altLang="zh-CN" dirty="0"/>
          </a:p>
          <a:p>
            <a:r>
              <a:rPr lang="en-US" altLang="zh-CN" dirty="0"/>
              <a:t>1. </a:t>
            </a:r>
            <a:r>
              <a:rPr lang="zh-CN" altLang="en-US" dirty="0">
                <a:highlight>
                  <a:srgbClr val="FFFF00"/>
                </a:highlight>
              </a:rPr>
              <a:t>光谱分辨率</a:t>
            </a:r>
            <a:r>
              <a:rPr lang="zh-CN" altLang="en-US" dirty="0"/>
              <a:t>决定了可以区分的最接近的波长。 </a:t>
            </a:r>
            <a:endParaRPr lang="en-US" altLang="zh-CN" dirty="0"/>
          </a:p>
          <a:p>
            <a:r>
              <a:rPr lang="en-US" altLang="zh-CN" dirty="0"/>
              <a:t>2. </a:t>
            </a:r>
            <a:r>
              <a:rPr lang="zh-CN" altLang="en-US" dirty="0"/>
              <a:t>可测量光谱的</a:t>
            </a:r>
            <a:r>
              <a:rPr lang="zh-CN" altLang="en-US" dirty="0">
                <a:highlight>
                  <a:srgbClr val="FFFF00"/>
                </a:highlight>
              </a:rPr>
              <a:t>光谱范围</a:t>
            </a:r>
            <a:r>
              <a:rPr lang="zh-CN" altLang="en-US" dirty="0"/>
              <a:t>。 </a:t>
            </a:r>
            <a:endParaRPr lang="en-US" altLang="zh-CN" dirty="0"/>
          </a:p>
          <a:p>
            <a:r>
              <a:rPr lang="en-US" altLang="zh-CN" dirty="0"/>
              <a:t>3. </a:t>
            </a:r>
            <a:r>
              <a:rPr lang="zh-CN" altLang="en-US" dirty="0">
                <a:highlight>
                  <a:srgbClr val="FFFF00"/>
                </a:highlight>
              </a:rPr>
              <a:t>最低可检测信号和动态范围</a:t>
            </a:r>
            <a:r>
              <a:rPr lang="zh-CN" altLang="en-US" dirty="0"/>
              <a:t>，定义了给定测量中的最小可测量信号和可区分级别的数量。这些参数还取决于测量光谱的形状。尖锐的激光线具有更好的可检测信号，因为与分布在较大光谱范围内的具有相同能量的宽光谱相比，能量集中在单个波长处。</a:t>
            </a:r>
          </a:p>
        </p:txBody>
      </p:sp>
      <p:sp>
        <p:nvSpPr>
          <p:cNvPr id="6" name="文本框 5">
            <a:extLst>
              <a:ext uri="{FF2B5EF4-FFF2-40B4-BE49-F238E27FC236}">
                <a16:creationId xmlns:a16="http://schemas.microsoft.com/office/drawing/2014/main" id="{8AC7983A-7522-92C0-CA08-D2E3ABDDBFBB}"/>
              </a:ext>
            </a:extLst>
          </p:cNvPr>
          <p:cNvSpPr txBox="1"/>
          <p:nvPr/>
        </p:nvSpPr>
        <p:spPr>
          <a:xfrm>
            <a:off x="474922" y="659218"/>
            <a:ext cx="3423686"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4.Main parameter</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0437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19951-4D22-504B-43D9-32C6EF04257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2C05392-B91B-0AEB-E609-9C7322888F44}"/>
              </a:ext>
            </a:extLst>
          </p:cNvPr>
          <p:cNvSpPr txBox="1"/>
          <p:nvPr/>
        </p:nvSpPr>
        <p:spPr>
          <a:xfrm>
            <a:off x="474920" y="1182438"/>
            <a:ext cx="4111257" cy="3293209"/>
          </a:xfrm>
          <a:prstGeom prst="rect">
            <a:avLst/>
          </a:prstGeom>
          <a:noFill/>
        </p:spPr>
        <p:txBody>
          <a:bodyPr wrap="square" rtlCol="0">
            <a:spAutoFit/>
          </a:bodyPr>
          <a:lstStyle/>
          <a:p>
            <a:r>
              <a:rPr lang="en-US" altLang="zh-CN" sz="24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Prism</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spectroscopy</a:t>
            </a:r>
          </a:p>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(17-18th century)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earliest observations of spectroscopic phenomena can be traced back to experiments conducted by Isaac Newton in the late 17th century. He demonstrated that white light could be separated into its component colors using a prism, revealing the spectrum of visible light.</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5C58C62D-56F3-5D3F-99F6-3E09005CA996}"/>
              </a:ext>
            </a:extLst>
          </p:cNvPr>
          <p:cNvSpPr txBox="1"/>
          <p:nvPr/>
        </p:nvSpPr>
        <p:spPr>
          <a:xfrm>
            <a:off x="474921" y="659218"/>
            <a:ext cx="8988055"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5.Historical developments in spectroscopic techniques</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773DD152-E794-BBD1-504E-2AA31B502C70}"/>
              </a:ext>
            </a:extLst>
          </p:cNvPr>
          <p:cNvSpPr txBox="1"/>
          <p:nvPr/>
        </p:nvSpPr>
        <p:spPr>
          <a:xfrm>
            <a:off x="4586177" y="1182438"/>
            <a:ext cx="7237226" cy="3847207"/>
          </a:xfrm>
          <a:prstGeom prst="rect">
            <a:avLst/>
          </a:prstGeom>
          <a:noFill/>
        </p:spPr>
        <p:txBody>
          <a:bodyPr wrap="square" rtlCol="0">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Spectral analysis  (19th century)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In the early 19th century, Joseph von Fraunhofer made significant contributions to spectroscopy by systematically studying the absorption lines in the solar spectrum. He also discovered hundreds of dark lines, known as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Fraunhofer lines</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which are caused by the absorption of specific wavelengths of light by elements in the Sun's atmosphere. Gustav Kirchhoff and Robert Bunsen further advanced the field of spectroscopy in the mid-19th century. They developed the technique of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flame emission spectroscopy</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which involves heating samples in a flame to produce characteristic emission spectra. Their work laid the foundation for quantitative analysis of chemical elements based on their spectral signatures.</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6F1B20AF-B52D-B8C2-C791-6DDBAC66B910}"/>
              </a:ext>
            </a:extLst>
          </p:cNvPr>
          <p:cNvPicPr>
            <a:picLocks noChangeAspect="1"/>
          </p:cNvPicPr>
          <p:nvPr/>
        </p:nvPicPr>
        <p:blipFill>
          <a:blip r:embed="rId2"/>
          <a:stretch>
            <a:fillRect/>
          </a:stretch>
        </p:blipFill>
        <p:spPr>
          <a:xfrm>
            <a:off x="904165" y="4546652"/>
            <a:ext cx="2863304" cy="1775654"/>
          </a:xfrm>
          <a:prstGeom prst="rect">
            <a:avLst/>
          </a:prstGeom>
        </p:spPr>
      </p:pic>
      <p:pic>
        <p:nvPicPr>
          <p:cNvPr id="8" name="图片 7">
            <a:extLst>
              <a:ext uri="{FF2B5EF4-FFF2-40B4-BE49-F238E27FC236}">
                <a16:creationId xmlns:a16="http://schemas.microsoft.com/office/drawing/2014/main" id="{99B571FC-4D66-FDB4-42DF-D9B3CE6BD3C3}"/>
              </a:ext>
            </a:extLst>
          </p:cNvPr>
          <p:cNvPicPr>
            <a:picLocks noChangeAspect="1"/>
          </p:cNvPicPr>
          <p:nvPr/>
        </p:nvPicPr>
        <p:blipFill>
          <a:blip r:embed="rId3"/>
          <a:stretch>
            <a:fillRect/>
          </a:stretch>
        </p:blipFill>
        <p:spPr>
          <a:xfrm>
            <a:off x="4582632" y="5029645"/>
            <a:ext cx="6996222" cy="1493148"/>
          </a:xfrm>
          <a:prstGeom prst="rect">
            <a:avLst/>
          </a:prstGeom>
        </p:spPr>
      </p:pic>
    </p:spTree>
    <p:extLst>
      <p:ext uri="{BB962C8B-B14F-4D97-AF65-F5344CB8AC3E}">
        <p14:creationId xmlns:p14="http://schemas.microsoft.com/office/powerpoint/2010/main" val="1954147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0E1EA-50A6-DBBC-3509-8BD10A3935D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2DBC63EB-F777-1482-BAE6-4BA5EBB4AEA6}"/>
              </a:ext>
            </a:extLst>
          </p:cNvPr>
          <p:cNvSpPr txBox="1"/>
          <p:nvPr/>
        </p:nvSpPr>
        <p:spPr>
          <a:xfrm>
            <a:off x="474921" y="1182438"/>
            <a:ext cx="4635796" cy="4832092"/>
          </a:xfrm>
          <a:prstGeom prst="rect">
            <a:avLst/>
          </a:prstGeom>
          <a:noFill/>
        </p:spPr>
        <p:txBody>
          <a:bodyPr wrap="square" rtlCol="0">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Quantum mechanics and </a:t>
            </a:r>
            <a:r>
              <a:rPr lang="en-US" altLang="zh-CN" sz="24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atomic spectra</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(Early 20th century)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development of quantum mechanics in the early 20th century revolutionized our understanding of atomic structure and spectral lines. Scientists such as Niels Bohr, Max Planck, and Werner Heisenberg formulated theories to explain the discrete energy levels of atoms and the quantized nature of electromagnetic radiation. The Bohr model of the atom, proposed by Niels Bohr in 1913, provided a theoretical framework for understanding atomic spectra and the transitions of electrons between energy levels.</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9987EE78-99DA-0167-43AC-399840EE7309}"/>
              </a:ext>
            </a:extLst>
          </p:cNvPr>
          <p:cNvSpPr txBox="1"/>
          <p:nvPr/>
        </p:nvSpPr>
        <p:spPr>
          <a:xfrm>
            <a:off x="474921" y="659218"/>
            <a:ext cx="8988055"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5.Historical developments in spectroscopic techniques</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9AE18933-EB87-7E50-7D5E-69898158668E}"/>
              </a:ext>
            </a:extLst>
          </p:cNvPr>
          <p:cNvSpPr txBox="1"/>
          <p:nvPr/>
        </p:nvSpPr>
        <p:spPr>
          <a:xfrm>
            <a:off x="5741580" y="1174029"/>
            <a:ext cx="4876801" cy="5139869"/>
          </a:xfrm>
          <a:prstGeom prst="rect">
            <a:avLst/>
          </a:prstGeom>
          <a:noFill/>
        </p:spPr>
        <p:txBody>
          <a:bodyPr wrap="square" rtlCol="0">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Modern spectroscopic techniques (20th-21st century)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Throughout the 20th and 21st centuries, spectroscopic techniques have continued to evolve with technological advancements and instrumentation. Developing techniques such as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infrared (IR) spectroscopy</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Raman spectroscopy</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nuclear magnetic resonance spectroscopy</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and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X-ray spectroscopy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has expanded the range of applications in fields such as chemistry, physics, biology, materials science, and medicine. Innovations in detectors, lasers, optics, and computational methods have enabled researchers to achieve higher sensitivity, resolution, and versatility in spectroscopic measurements.</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90473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BB2E4-0F09-6895-5A36-CF9817F2805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8648980-CC2A-BCC6-F1A2-38D19A80053F}"/>
              </a:ext>
            </a:extLst>
          </p:cNvPr>
          <p:cNvSpPr txBox="1"/>
          <p:nvPr/>
        </p:nvSpPr>
        <p:spPr>
          <a:xfrm>
            <a:off x="474923" y="1182438"/>
            <a:ext cx="6103086" cy="3539430"/>
          </a:xfrm>
          <a:prstGeom prst="rect">
            <a:avLst/>
          </a:prstGeom>
          <a:noFill/>
        </p:spPr>
        <p:txBody>
          <a:bodyPr wrap="square" rtlCol="0">
            <a:spAutoFit/>
          </a:bodyPr>
          <a:lstStyle/>
          <a:p>
            <a:pPr marL="457200" indent="-457200">
              <a:buAutoNum type="alphaLcParenR"/>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Absorption instrumentation: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radiation from a white source is directed by some guiding device onto the sample, from which it passes through an analyzer, which selects the frequency that reaches the detector at any given time. The signal from the analyzer passes to a recorder, which is synchronized with the analyzer to produce a trace of absorbance as the frequency varies. A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modulator</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is often placed between the sample and the analyzer. The role of the modulator is to manipulate the properties of light or other electromagnetic radiation to exact specific information from a sample.</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E32C25C5-3A5D-86DE-0558-63F577B239B0}"/>
              </a:ext>
            </a:extLst>
          </p:cNvPr>
          <p:cNvSpPr txBox="1"/>
          <p:nvPr/>
        </p:nvSpPr>
        <p:spPr>
          <a:xfrm>
            <a:off x="474922" y="659218"/>
            <a:ext cx="9817394"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6.Classification and types of major spectroscopic techniques</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60C5B7C2-E276-B9B5-7E09-4CDA6E55C5CB}"/>
              </a:ext>
            </a:extLst>
          </p:cNvPr>
          <p:cNvSpPr txBox="1"/>
          <p:nvPr/>
        </p:nvSpPr>
        <p:spPr>
          <a:xfrm>
            <a:off x="6568725" y="3106041"/>
            <a:ext cx="4953672" cy="3231654"/>
          </a:xfrm>
          <a:prstGeom prst="rect">
            <a:avLst/>
          </a:prstGeom>
          <a:noFill/>
        </p:spPr>
        <p:txBody>
          <a:bodyPr wrap="square" rtlCol="0">
            <a:spAutoFit/>
          </a:bodyPr>
          <a:lstStyle/>
          <a:p>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b) Emission instrument: Emission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instrumentation in spectroscopy refers to the device and systems used to measure the emission spectra of atoms, molecules, or ions.</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Many instruments are developed based on the emission mechanism, such as atomic emission spectroscopy, optical emission spectroscopy, inductively coupled plasma emission spectroscopy, laser-induced breakdown spectroscopy, and fluorescence spectroscopy.</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 name="图片 4">
            <a:extLst>
              <a:ext uri="{FF2B5EF4-FFF2-40B4-BE49-F238E27FC236}">
                <a16:creationId xmlns:a16="http://schemas.microsoft.com/office/drawing/2014/main" id="{75CE6AC2-2B64-056A-5453-278729CB6133}"/>
              </a:ext>
            </a:extLst>
          </p:cNvPr>
          <p:cNvPicPr>
            <a:picLocks noChangeAspect="1"/>
          </p:cNvPicPr>
          <p:nvPr/>
        </p:nvPicPr>
        <p:blipFill>
          <a:blip r:embed="rId2"/>
          <a:stretch>
            <a:fillRect/>
          </a:stretch>
        </p:blipFill>
        <p:spPr>
          <a:xfrm>
            <a:off x="7096258" y="1271958"/>
            <a:ext cx="3898605" cy="1744562"/>
          </a:xfrm>
          <a:prstGeom prst="rect">
            <a:avLst/>
          </a:prstGeom>
        </p:spPr>
      </p:pic>
      <p:pic>
        <p:nvPicPr>
          <p:cNvPr id="8" name="图片 7">
            <a:extLst>
              <a:ext uri="{FF2B5EF4-FFF2-40B4-BE49-F238E27FC236}">
                <a16:creationId xmlns:a16="http://schemas.microsoft.com/office/drawing/2014/main" id="{7CF5611D-0CC3-FF40-B811-8D4EDB62C943}"/>
              </a:ext>
            </a:extLst>
          </p:cNvPr>
          <p:cNvPicPr>
            <a:picLocks noChangeAspect="1"/>
          </p:cNvPicPr>
          <p:nvPr/>
        </p:nvPicPr>
        <p:blipFill>
          <a:blip r:embed="rId3"/>
          <a:stretch>
            <a:fillRect/>
          </a:stretch>
        </p:blipFill>
        <p:spPr>
          <a:xfrm>
            <a:off x="1245360" y="4627104"/>
            <a:ext cx="4560017" cy="1968947"/>
          </a:xfrm>
          <a:prstGeom prst="rect">
            <a:avLst/>
          </a:prstGeom>
        </p:spPr>
      </p:pic>
    </p:spTree>
    <p:extLst>
      <p:ext uri="{BB962C8B-B14F-4D97-AF65-F5344CB8AC3E}">
        <p14:creationId xmlns:p14="http://schemas.microsoft.com/office/powerpoint/2010/main" val="2232919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75B17-01A9-7928-DFEB-69CCA9D3E9E7}"/>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718F7C4-1823-73EE-1B1A-85DA3DF513B2}"/>
              </a:ext>
            </a:extLst>
          </p:cNvPr>
          <p:cNvSpPr txBox="1"/>
          <p:nvPr/>
        </p:nvSpPr>
        <p:spPr>
          <a:xfrm>
            <a:off x="538717" y="1182438"/>
            <a:ext cx="4423143" cy="5016758"/>
          </a:xfrm>
          <a:prstGeom prst="rect">
            <a:avLst/>
          </a:prstGeom>
          <a:noFill/>
        </p:spPr>
        <p:txBody>
          <a:bodyPr wrap="squar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In optical spectroscopy, the absorption of light by a sample is typically described by Beer-Lambert's law, which states that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the absorbance of light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is proportional to the concentration of  the absorbing species, the path length of the light through the sample, and the </a:t>
            </a:r>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molar absorptivity</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of the species at a given wavelength. By measuring the absorbance of light at different wavelengths, one can obtain an absorption spectrum that reveals the characteristic absorption bands or peaks associated with specific molecular or electronic transitions. </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5">
            <a:extLst>
              <a:ext uri="{FF2B5EF4-FFF2-40B4-BE49-F238E27FC236}">
                <a16:creationId xmlns:a16="http://schemas.microsoft.com/office/drawing/2014/main" id="{B2D2A364-D183-13FC-FC3F-B19FAA6934F6}"/>
              </a:ext>
            </a:extLst>
          </p:cNvPr>
          <p:cNvSpPr txBox="1"/>
          <p:nvPr/>
        </p:nvSpPr>
        <p:spPr>
          <a:xfrm>
            <a:off x="474922" y="659218"/>
            <a:ext cx="9994604"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7. Measurement Principles of Absorption and Emission Spectra</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26" name="Picture 2" descr="image">
            <a:extLst>
              <a:ext uri="{FF2B5EF4-FFF2-40B4-BE49-F238E27FC236}">
                <a16:creationId xmlns:a16="http://schemas.microsoft.com/office/drawing/2014/main" id="{810529EA-102F-0731-9B42-52AA4C7FA3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9782" y="1174029"/>
            <a:ext cx="3628026" cy="2718834"/>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6C81802E-F90D-A512-43AA-7889A181E685}"/>
              </a:ext>
            </a:extLst>
          </p:cNvPr>
          <p:cNvSpPr txBox="1"/>
          <p:nvPr/>
        </p:nvSpPr>
        <p:spPr>
          <a:xfrm>
            <a:off x="5082363" y="3892863"/>
            <a:ext cx="5925876" cy="2585323"/>
          </a:xfrm>
          <a:prstGeom prst="rect">
            <a:avLst/>
          </a:prstGeom>
          <a:noFill/>
        </p:spPr>
        <p:txBody>
          <a:bodyPr wrap="square" rtlCol="0">
            <a:spAutoFit/>
          </a:bodyPr>
          <a:lstStyle/>
          <a:p>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In emission spectroscopy, </a:t>
            </a:r>
            <a:r>
              <a:rPr lang="en-US" altLang="zh-CN" sz="18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the intensity of light </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emitted is measured. This light, which may occur instantaneously or with a delay, contains information about the energy levels, electronic states, and chemical environment of the emitting species. There are two main types of spectroscopy: </a:t>
            </a:r>
            <a:r>
              <a:rPr lang="en-US" altLang="zh-CN" sz="18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fluorescence</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and </a:t>
            </a:r>
            <a:r>
              <a:rPr lang="en-US" altLang="zh-CN" sz="18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Phosphorescence</a:t>
            </a:r>
            <a:r>
              <a:rPr lang="en-US" altLang="zh-CN" sz="1800" dirty="0">
                <a:latin typeface="Times New Roman" panose="02020603050405020304" pitchFamily="18" charset="0"/>
                <a:ea typeface="黑体" panose="02010609060101010101" pitchFamily="49" charset="-122"/>
                <a:cs typeface="Times New Roman" panose="02020603050405020304" pitchFamily="18" charset="0"/>
              </a:rPr>
              <a:t> spectroscopy. These two spectroscopic techniques are common types of emission spectroscopy, distinguished by their respective mechanisms of excited state relaxation and lifetime.</a:t>
            </a:r>
            <a:endParaRPr lang="zh-CN" altLang="en-US" dirty="0"/>
          </a:p>
        </p:txBody>
      </p:sp>
    </p:spTree>
    <p:extLst>
      <p:ext uri="{BB962C8B-B14F-4D97-AF65-F5344CB8AC3E}">
        <p14:creationId xmlns:p14="http://schemas.microsoft.com/office/powerpoint/2010/main" val="2132660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332C5-D08C-50C3-5A51-7F3A00BBBB4A}"/>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7C479A9-DFA9-FC43-7ABE-030C494CED25}"/>
              </a:ext>
            </a:extLst>
          </p:cNvPr>
          <p:cNvSpPr txBox="1"/>
          <p:nvPr/>
        </p:nvSpPr>
        <p:spPr>
          <a:xfrm>
            <a:off x="474923" y="1182438"/>
            <a:ext cx="11398100" cy="5016758"/>
          </a:xfrm>
          <a:prstGeom prst="rect">
            <a:avLst/>
          </a:prstGeom>
          <a:noFill/>
        </p:spPr>
        <p:txBody>
          <a:bodyPr wrap="squar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光学光谱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Optical Spectroscopy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UV-Vis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紫外</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可见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UPS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紫外光电子能谱 ｜ 荧光光谱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Fluorescence</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振动光谱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Vibrational Spectroscopy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FT-IR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傅里叶变换红外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Raman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拉曼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SERS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表面增强拉曼</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3.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电子光谱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Electron Spectroscopy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XPS X</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射线光电子能谱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AES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俄歇电子能谱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EELS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电子能量损失谱</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4.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磁共振光谱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Magnetic Resonance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NMR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核磁共振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FMR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铁磁共振</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5.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质谱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Mass Spectrometry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TOF-MS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飞行时间质谱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MALDI-MS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基质辅助激光解吸电离质谱</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6.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热光谱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Thermal Analysis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TGA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热重分析</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7.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光发射光谱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Optical Emission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OES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光发射光谱 ｜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ICP-OES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电感耦合等离子体光发射光谱</a:t>
            </a: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8.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其它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Miscellaneous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XAS X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射线吸收光谱（含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XANES / EXAFS</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AAS </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原子吸收光谱</a:t>
            </a:r>
          </a:p>
        </p:txBody>
      </p:sp>
      <p:sp>
        <p:nvSpPr>
          <p:cNvPr id="6" name="文本框 5">
            <a:extLst>
              <a:ext uri="{FF2B5EF4-FFF2-40B4-BE49-F238E27FC236}">
                <a16:creationId xmlns:a16="http://schemas.microsoft.com/office/drawing/2014/main" id="{9D922F0F-3B4F-7140-52BA-0EDFC48D33DF}"/>
              </a:ext>
            </a:extLst>
          </p:cNvPr>
          <p:cNvSpPr txBox="1"/>
          <p:nvPr/>
        </p:nvSpPr>
        <p:spPr>
          <a:xfrm>
            <a:off x="474922" y="659218"/>
            <a:ext cx="5621078" cy="523220"/>
          </a:xfrm>
          <a:prstGeom prst="rect">
            <a:avLst/>
          </a:prstGeom>
          <a:noFill/>
        </p:spPr>
        <p:txBody>
          <a:bodyPr wrap="square" rtlCol="0">
            <a:spAutoFit/>
          </a:bodyPr>
          <a:lstStyle/>
          <a:p>
            <a:r>
              <a:rPr lang="en-US" altLang="zh-CN" sz="2800" dirty="0">
                <a:latin typeface="Times New Roman" panose="02020603050405020304" pitchFamily="18" charset="0"/>
                <a:ea typeface="黑体" panose="02010609060101010101" pitchFamily="49" charset="-122"/>
                <a:cs typeface="Times New Roman" panose="02020603050405020304" pitchFamily="18" charset="0"/>
              </a:rPr>
              <a:t>8. Major Spectroscopic Techniques</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1233947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TotalTime>
  <Words>2056</Words>
  <Application>Microsoft Office PowerPoint</Application>
  <PresentationFormat>宽屏</PresentationFormat>
  <Paragraphs>60</Paragraphs>
  <Slides>10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quote-cjk-patch</vt:lpstr>
      <vt:lpstr>等线</vt:lpstr>
      <vt:lpstr>等线 Light</vt:lpstr>
      <vt:lpstr>Arial</vt:lpstr>
      <vt:lpstr>Times New Roman</vt:lpstr>
      <vt:lpstr>Office 主题​​</vt:lpstr>
      <vt:lpstr>Part 1： Fundamentals of Spectroscopy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华 李</dc:creator>
  <cp:lastModifiedBy>华 李</cp:lastModifiedBy>
  <cp:revision>6</cp:revision>
  <dcterms:created xsi:type="dcterms:W3CDTF">2026-09-14T07:21:44Z</dcterms:created>
  <dcterms:modified xsi:type="dcterms:W3CDTF">2026-09-17T13:29:32Z</dcterms:modified>
</cp:coreProperties>
</file>