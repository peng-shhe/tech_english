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52" d="100"/>
          <a:sy n="52" d="100"/>
        </p:scale>
        <p:origin x="56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5692B-EF40-4412-7313-7A9D8B2FA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ED3C00-06FC-BE68-5515-D156BCAE3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7AFB5-8804-5ECC-25D1-CACAC7D1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74AE44-5E4C-599C-7E57-AC79486B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AB024D-7905-2505-8C2B-B3D5F3B8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78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AA413-9388-A99E-10BC-CDA1FFCF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BDF45E-C8DB-BAAD-BFE3-AC7EF94E7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F18C34-7945-1B99-E2A4-2963D0D6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D7A299-A5EB-06AF-C5ED-11377F33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742CB-CFD0-1014-28EC-E12776BF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33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E0741-431E-DB0C-E3D2-37BA407E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F4680A-FCD6-516B-7C45-3291585B4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49FA6-31EC-9F1D-09E7-D45F5951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12D685-B592-921B-3ED7-055C10ED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BA7C72-DE97-4C3A-88D8-14699301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1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778DA-975B-9B6B-5687-F4B261CE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324C6-2DF3-A31F-03A5-4EA142C61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AC5883-6EA2-280C-E3B1-8E8AA30EC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8F7279-091D-B470-8B9C-C14E476F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6A9366-4A69-131E-E893-8B4C7ABD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E8FE22-91A9-C37A-C5DD-5A3235D7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436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28321-22ED-38B8-3847-4C3BF886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30811E-194B-4868-E237-08E1F537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D110AF-A97E-1ED7-D7D0-378B2A2B2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567D67-D9AE-60B7-E637-8B80AD05B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8C4336-ADEB-BD0F-39AD-169CEB7CB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44AC95-3BB4-7FFA-7B24-6C3E3632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9E5636-0887-541E-C1E9-1C4ED121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E41823-3FB0-B99D-C8BE-36094F77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72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ED1F0-C75E-204D-6065-DF3964AC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F925B6-6423-1227-0668-0E5AA5E0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7FEE13-BE81-E80F-07CF-EC96FFFB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1FE13-9318-45C1-337F-89E6F3A1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69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1E2820-F4DD-8688-89CC-028BBBB80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E96DD0-9289-CC1E-04CE-2955B4D9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50112F-36E4-16E2-EACF-C9532BB8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95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F5EFA-7E13-FFFD-FCD0-E51CE1E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7CBD3-FE80-C892-AAD9-75F509ED9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056775-5A4D-1424-96EB-B45C5F2C4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DAC865-A227-3CED-D3DE-57864E76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045C90-35AD-ABE9-E879-FC11B871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A90DBE-2803-CA52-2045-4288936B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29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0E6338-D6CB-A6BB-E791-C903EFA07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5C4644-1875-B122-AF4C-8EB5A1D1E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216A02-0058-FE70-6800-DDC6FD3DD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4054DF-536B-C8CB-32D5-AF867C5A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3EC114-6723-282D-97F8-5A2B11F21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BA9F61-D6CF-2785-EDC5-16D7BBB7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43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52325-239A-C1CA-7FDF-AB51EE24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DC2881-6999-55BC-EFA8-388B5489D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F45488-164F-4BE9-137C-0D46E3EA7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1D3592-0E2B-68CB-A33A-0B73198C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6DB7AF-8C16-E665-E2BA-85619167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94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DE5630-79D5-864F-854A-51A93A28F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CCD3AA-5EC7-8075-6F68-7F671D4E2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3278D-C4EC-215E-6488-19A0A119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CD47E-4789-3E52-81EB-61288A2B0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AC25B0-E8C6-3C1E-5E57-6E160055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487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309522-4A8B-1FD7-F711-0AF34F6A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6E039A-8178-087B-8C31-A616EC415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B58370-F6FC-DCDB-B97E-2036EBCBF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627F0-494F-40F1-AC5D-61D6D96191C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835259-2EB9-AAFE-0AD7-3A59C4EED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2BF80-A41C-A7E4-42E2-29FE7C9C8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3CCC5-C31E-4322-9526-DCE91B7D2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82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F131A-52E4-80C8-71B3-7B8DD488B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Principles of Spectral Imaging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26440C-B504-71CD-DABA-2715BABBE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光谱成像原理</a:t>
            </a:r>
          </a:p>
        </p:txBody>
      </p:sp>
    </p:spTree>
    <p:extLst>
      <p:ext uri="{BB962C8B-B14F-4D97-AF65-F5344CB8AC3E}">
        <p14:creationId xmlns:p14="http://schemas.microsoft.com/office/powerpoint/2010/main" val="1643421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C5E6C1C-0159-690F-0FC9-0A616FD0B4F2}"/>
              </a:ext>
            </a:extLst>
          </p:cNvPr>
          <p:cNvCxnSpPr>
            <a:cxnSpLocks/>
          </p:cNvCxnSpPr>
          <p:nvPr/>
        </p:nvCxnSpPr>
        <p:spPr>
          <a:xfrm flipV="1">
            <a:off x="-1632230" y="2509165"/>
            <a:ext cx="4333139" cy="1750702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3D21504D-ECF8-942B-249B-FFEA0E90196D}"/>
              </a:ext>
            </a:extLst>
          </p:cNvPr>
          <p:cNvSpPr/>
          <p:nvPr/>
        </p:nvSpPr>
        <p:spPr>
          <a:xfrm>
            <a:off x="-4718171" y="-2650958"/>
            <a:ext cx="11186348" cy="11186348"/>
          </a:xfrm>
          <a:prstGeom prst="ellipse">
            <a:avLst/>
          </a:prstGeom>
          <a:noFill/>
          <a:ln w="31750">
            <a:solidFill>
              <a:schemeClr val="accent1">
                <a:shade val="1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AE04AED-BBA6-7C06-D183-DBDA2156846F}"/>
              </a:ext>
            </a:extLst>
          </p:cNvPr>
          <p:cNvSpPr/>
          <p:nvPr/>
        </p:nvSpPr>
        <p:spPr>
          <a:xfrm>
            <a:off x="-1790904" y="1249877"/>
            <a:ext cx="4358245" cy="4358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076185-BAB5-6E99-40B7-49C9BED7F64A}"/>
              </a:ext>
            </a:extLst>
          </p:cNvPr>
          <p:cNvSpPr txBox="1"/>
          <p:nvPr/>
        </p:nvSpPr>
        <p:spPr>
          <a:xfrm>
            <a:off x="2678625" y="2032110"/>
            <a:ext cx="3789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光谱成像的主要模式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6A45B7-3CAF-332A-13E2-469A081A5746}"/>
              </a:ext>
            </a:extLst>
          </p:cNvPr>
          <p:cNvSpPr txBox="1"/>
          <p:nvPr/>
        </p:nvSpPr>
        <p:spPr>
          <a:xfrm>
            <a:off x="2678625" y="3809400"/>
            <a:ext cx="32601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光谱分辨率与空间分辨率及其权衡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5E974C-F7B5-D7F1-8B91-19A72AF20146}"/>
              </a:ext>
            </a:extLst>
          </p:cNvPr>
          <p:cNvSpPr txBox="1"/>
          <p:nvPr/>
        </p:nvSpPr>
        <p:spPr>
          <a:xfrm>
            <a:off x="1378241" y="5608121"/>
            <a:ext cx="3368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多光谱与高光谱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AB7AA73-F280-054A-E69A-18439DD136A0}"/>
              </a:ext>
            </a:extLst>
          </p:cNvPr>
          <p:cNvCxnSpPr>
            <a:cxnSpLocks/>
          </p:cNvCxnSpPr>
          <p:nvPr/>
        </p:nvCxnSpPr>
        <p:spPr>
          <a:xfrm flipH="1">
            <a:off x="-428094" y="1211810"/>
            <a:ext cx="1712116" cy="4237637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26D6EFC-1899-1AC9-F190-01C1E627E8C4}"/>
              </a:ext>
            </a:extLst>
          </p:cNvPr>
          <p:cNvCxnSpPr>
            <a:cxnSpLocks/>
          </p:cNvCxnSpPr>
          <p:nvPr/>
        </p:nvCxnSpPr>
        <p:spPr>
          <a:xfrm>
            <a:off x="-463232" y="1423107"/>
            <a:ext cx="1841473" cy="4338239"/>
          </a:xfrm>
          <a:prstGeom prst="line">
            <a:avLst/>
          </a:prstGeom>
          <a:ln w="25400" cap="flat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04B1ECD-2EEB-1C03-19D7-6B29540B467A}"/>
              </a:ext>
            </a:extLst>
          </p:cNvPr>
          <p:cNvCxnSpPr>
            <a:cxnSpLocks/>
          </p:cNvCxnSpPr>
          <p:nvPr/>
        </p:nvCxnSpPr>
        <p:spPr>
          <a:xfrm>
            <a:off x="-1632228" y="2612685"/>
            <a:ext cx="4338648" cy="1752928"/>
          </a:xfrm>
          <a:prstGeom prst="line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A03A56DE-E922-8F3D-CAC0-8A4696A8654B}"/>
              </a:ext>
            </a:extLst>
          </p:cNvPr>
          <p:cNvSpPr/>
          <p:nvPr/>
        </p:nvSpPr>
        <p:spPr>
          <a:xfrm rot="2220000">
            <a:off x="-603184" y="2437597"/>
            <a:ext cx="1982804" cy="1982804"/>
          </a:xfrm>
          <a:prstGeom prst="ellipse">
            <a:avLst/>
          </a:prstGeom>
          <a:gradFill>
            <a:gsLst>
              <a:gs pos="0">
                <a:srgbClr val="FF0000"/>
              </a:gs>
              <a:gs pos="34000">
                <a:srgbClr val="FFFF00"/>
              </a:gs>
              <a:gs pos="68000">
                <a:srgbClr val="0070C0"/>
              </a:gs>
              <a:gs pos="51000">
                <a:srgbClr val="00B050"/>
              </a:gs>
              <a:gs pos="17000">
                <a:srgbClr val="FFC000"/>
              </a:gs>
              <a:gs pos="83000">
                <a:srgbClr val="002060"/>
              </a:gs>
              <a:gs pos="100000">
                <a:srgbClr val="7030A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4313FA4-C76D-5FA5-F9DB-0381B782BFD6}"/>
              </a:ext>
            </a:extLst>
          </p:cNvPr>
          <p:cNvCxnSpPr>
            <a:cxnSpLocks/>
          </p:cNvCxnSpPr>
          <p:nvPr/>
        </p:nvCxnSpPr>
        <p:spPr>
          <a:xfrm>
            <a:off x="6095999" y="2293720"/>
            <a:ext cx="1941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39DB5A2-261F-B7B7-02B0-29FCDC7D14FE}"/>
              </a:ext>
            </a:extLst>
          </p:cNvPr>
          <p:cNvSpPr txBox="1"/>
          <p:nvPr/>
        </p:nvSpPr>
        <p:spPr>
          <a:xfrm>
            <a:off x="8037094" y="1885536"/>
            <a:ext cx="4154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Three Primary Spectral‑Imaging Acquisition Modes</a:t>
            </a:r>
            <a:endParaRPr lang="zh-CN" altLang="zh-CN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0392FFF-560D-E933-1221-6BFEF03EF8CD}"/>
              </a:ext>
            </a:extLst>
          </p:cNvPr>
          <p:cNvSpPr txBox="1"/>
          <p:nvPr/>
        </p:nvSpPr>
        <p:spPr>
          <a:xfrm>
            <a:off x="1249264" y="896115"/>
            <a:ext cx="4846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单点光谱扩展到光谱成像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7F1AEBD-78C2-AA2A-4459-304D4F724DE7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6095999" y="1137906"/>
            <a:ext cx="1604212" cy="19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DDC977CC-9C3C-3646-B7BF-1B49CD157C2F}"/>
              </a:ext>
            </a:extLst>
          </p:cNvPr>
          <p:cNvSpPr txBox="1"/>
          <p:nvPr/>
        </p:nvSpPr>
        <p:spPr>
          <a:xfrm>
            <a:off x="7700211" y="832540"/>
            <a:ext cx="423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From Single‑Point Spectroscopy to Spectral Imaging</a:t>
            </a:r>
            <a:endParaRPr lang="zh-CN" altLang="en-US" b="1" dirty="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7FCF5F3-D053-5F32-9488-C3F452E6BF6E}"/>
              </a:ext>
            </a:extLst>
          </p:cNvPr>
          <p:cNvCxnSpPr>
            <a:cxnSpLocks/>
          </p:cNvCxnSpPr>
          <p:nvPr/>
        </p:nvCxnSpPr>
        <p:spPr>
          <a:xfrm>
            <a:off x="5938787" y="4338040"/>
            <a:ext cx="1941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C894C10B-6B90-CEF8-BF6F-8481F7CD26DF}"/>
              </a:ext>
            </a:extLst>
          </p:cNvPr>
          <p:cNvSpPr txBox="1"/>
          <p:nvPr/>
        </p:nvSpPr>
        <p:spPr>
          <a:xfrm>
            <a:off x="7830987" y="4138862"/>
            <a:ext cx="4186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Trade‑off Between Spatial Resolution and Spectral Resolution</a:t>
            </a:r>
            <a:endParaRPr lang="zh-CN" altLang="en-US" b="1" dirty="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F053078-4F51-8034-A53F-B3572D45F5C8}"/>
              </a:ext>
            </a:extLst>
          </p:cNvPr>
          <p:cNvCxnSpPr>
            <a:cxnSpLocks/>
          </p:cNvCxnSpPr>
          <p:nvPr/>
        </p:nvCxnSpPr>
        <p:spPr>
          <a:xfrm>
            <a:off x="4042611" y="5869731"/>
            <a:ext cx="37883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DB7C09CC-5DE7-3866-CD9A-C5304BD16E96}"/>
              </a:ext>
            </a:extLst>
          </p:cNvPr>
          <p:cNvSpPr txBox="1"/>
          <p:nvPr/>
        </p:nvSpPr>
        <p:spPr>
          <a:xfrm>
            <a:off x="7879883" y="5685065"/>
            <a:ext cx="3628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Multispectral and hyperspectral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7635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FC645F6-0C78-3BCC-4555-D95200C2F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271" y="1915834"/>
            <a:ext cx="3656729" cy="334814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1D84D68-6E47-D7B5-0188-CE72F016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Single‑Point Spectroscopy to Spectral Imaging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089AA-E39E-056E-55B0-0D74AD911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8600" cy="4351338"/>
          </a:xfrm>
          <a:noFill/>
        </p:spPr>
        <p:txBody>
          <a:bodyPr>
            <a:normAutofit lnSpcReduction="10000"/>
          </a:bodyPr>
          <a:lstStyle/>
          <a:p>
            <a:r>
              <a:rPr lang="en-US" altLang="zh-CN" dirty="0"/>
              <a:t>Conventional single‑point spectroscopy only obtains spectral information at one fixed spatial location: it answers </a:t>
            </a:r>
            <a:r>
              <a:rPr lang="zh-CN" altLang="zh-CN" dirty="0"/>
              <a:t>“</a:t>
            </a:r>
            <a:r>
              <a:rPr lang="en-US" altLang="zh-CN" dirty="0"/>
              <a:t>what</a:t>
            </a:r>
            <a:r>
              <a:rPr lang="zh-CN" altLang="zh-CN" dirty="0"/>
              <a:t>”</a:t>
            </a:r>
            <a:r>
              <a:rPr lang="en-US" altLang="zh-CN" dirty="0"/>
              <a:t> material the target is.</a:t>
            </a:r>
            <a:endParaRPr lang="zh-CN" altLang="zh-CN" dirty="0"/>
          </a:p>
          <a:p>
            <a:r>
              <a:rPr lang="en-US" altLang="zh-CN" dirty="0"/>
              <a:t>- Traditional 2‑D imaging only records spatial information: it answers </a:t>
            </a:r>
            <a:r>
              <a:rPr lang="zh-CN" altLang="zh-CN" dirty="0"/>
              <a:t>“</a:t>
            </a:r>
            <a:r>
              <a:rPr lang="en-US" altLang="zh-CN" dirty="0"/>
              <a:t>where</a:t>
            </a:r>
            <a:r>
              <a:rPr lang="zh-CN" altLang="zh-CN" dirty="0"/>
              <a:t>”</a:t>
            </a:r>
            <a:r>
              <a:rPr lang="en-US" altLang="zh-CN" dirty="0"/>
              <a:t> the object is located.</a:t>
            </a:r>
            <a:endParaRPr lang="zh-CN" altLang="zh-CN" dirty="0"/>
          </a:p>
          <a:p>
            <a:r>
              <a:rPr lang="en-US" altLang="zh-CN" dirty="0"/>
              <a:t>- Spectral imaging combines spectroscopy and imaging, generating a 3‑D spectral data cube I(</a:t>
            </a:r>
            <a:r>
              <a:rPr lang="en-US" altLang="zh-CN" dirty="0" err="1"/>
              <a:t>x,y</a:t>
            </a:r>
            <a:r>
              <a:rPr lang="en-US" altLang="zh-CN" dirty="0"/>
              <a:t>,</a:t>
            </a:r>
            <a:r>
              <a:rPr lang="el-GR" altLang="zh-CN" dirty="0"/>
              <a:t>λ</a:t>
            </a:r>
            <a:r>
              <a:rPr lang="en-US" altLang="zh-CN" dirty="0"/>
              <a:t>). It answers: where is what.</a:t>
            </a:r>
            <a:endParaRPr lang="zh-CN" altLang="zh-CN" dirty="0"/>
          </a:p>
          <a:p>
            <a:r>
              <a:rPr lang="en-US" altLang="zh-CN" dirty="0"/>
              <a:t>- The data cube contains two spatial dimensions (</a:t>
            </a:r>
            <a:r>
              <a:rPr lang="en-US" altLang="zh-CN" dirty="0" err="1"/>
              <a:t>x,y</a:t>
            </a:r>
            <a:r>
              <a:rPr lang="en-US" altLang="zh-CN" dirty="0"/>
              <a:t>) and one spectral dimension (</a:t>
            </a:r>
            <a:r>
              <a:rPr lang="el-GR" altLang="zh-CN" dirty="0"/>
              <a:t>λ</a:t>
            </a:r>
            <a:r>
              <a:rPr lang="en-US" altLang="zh-CN" dirty="0"/>
              <a:t>).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785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1D5846-4A95-D097-9DD9-51F1206A3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7" t="879" r="53549" b="18331"/>
          <a:stretch>
            <a:fillRect/>
          </a:stretch>
        </p:blipFill>
        <p:spPr>
          <a:xfrm>
            <a:off x="7214136" y="279061"/>
            <a:ext cx="5059280" cy="6299871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3631FC-A379-AD37-6DE9-0137FA6F6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6611" y="754977"/>
            <a:ext cx="6677525" cy="534803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CN" dirty="0"/>
              <a:t>Whiskbroom Mode (Point‑Scanning</a:t>
            </a:r>
            <a:r>
              <a:rPr lang="zh-CN" altLang="zh-CN" dirty="0"/>
              <a:t>，扫帚式</a:t>
            </a:r>
            <a:r>
              <a:rPr lang="en-US" altLang="zh-CN" dirty="0"/>
              <a:t> / </a:t>
            </a:r>
            <a:r>
              <a:rPr lang="zh-CN" altLang="zh-CN" dirty="0"/>
              <a:t>点扫描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Optical path: Scanning mirror moves across scene, one spatial point at a time. Each single point acquires its complete full spectrum. Build cube by scanning every pixel point‑by‑point.</a:t>
            </a:r>
            <a:endParaRPr lang="zh-CN" altLang="zh-CN" dirty="0"/>
          </a:p>
          <a:p>
            <a:r>
              <a:rPr lang="en-US" altLang="zh-CN" dirty="0"/>
              <a:t>✅ Pros: High spectral quality for each sampled point; good SNR.</a:t>
            </a:r>
            <a:endParaRPr lang="zh-CN" altLang="zh-CN" dirty="0"/>
          </a:p>
          <a:p>
            <a:r>
              <a:rPr lang="en-US" altLang="zh-CN" dirty="0"/>
              <a:t>❌ Cons: Two‑axis mechanical scanning; long acquisition time; moving‑part artifacts.</a:t>
            </a:r>
          </a:p>
          <a:p>
            <a:endParaRPr lang="en-US" altLang="zh-CN" dirty="0"/>
          </a:p>
          <a:p>
            <a:endParaRPr lang="zh-CN" altLang="zh-CN" dirty="0"/>
          </a:p>
          <a:p>
            <a:r>
              <a:rPr lang="en-US" altLang="zh-CN" dirty="0" err="1"/>
              <a:t>Pushbroom</a:t>
            </a:r>
            <a:r>
              <a:rPr lang="en-US" altLang="zh-CN" dirty="0"/>
              <a:t> Mode (Line‑Scanning</a:t>
            </a:r>
            <a:r>
              <a:rPr lang="zh-CN" altLang="zh-CN" dirty="0"/>
              <a:t>，推扫式</a:t>
            </a:r>
            <a:r>
              <a:rPr lang="en-US" altLang="zh-CN" dirty="0"/>
              <a:t> / </a:t>
            </a:r>
            <a:r>
              <a:rPr lang="zh-CN" altLang="zh-CN" dirty="0"/>
              <a:t>线扫描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Optical path: Simultaneously captures an entire line of spatial information plus full spectrum for each pixel on that line. Complete 2‑D spatial area is obtained via relative platform motion (aircraft / satellite / translation stage).</a:t>
            </a:r>
            <a:endParaRPr lang="zh-CN" altLang="zh-CN" dirty="0"/>
          </a:p>
          <a:p>
            <a:r>
              <a:rPr lang="en-US" altLang="zh-CN" dirty="0"/>
              <a:t>✅ Pros: Much faster than whiskbroom; widely used in remote sensing.</a:t>
            </a:r>
            <a:endParaRPr lang="zh-CN" altLang="zh-CN" dirty="0"/>
          </a:p>
          <a:p>
            <a:r>
              <a:rPr lang="en-US" altLang="zh-CN" dirty="0"/>
              <a:t>❌ Cons: Depends on steady relative movement between sensor and target.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20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3A991-64C0-9845-125A-845C9F7B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C0C0CAD-A729-F8C4-E7EE-D3C30617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72" t="957" r="28358" b="18254"/>
          <a:stretch>
            <a:fillRect/>
          </a:stretch>
        </p:blipFill>
        <p:spPr>
          <a:xfrm>
            <a:off x="7973728" y="279064"/>
            <a:ext cx="2488934" cy="6299871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DC9FA4-A942-0B41-7590-65BDF99C7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483" y="754980"/>
            <a:ext cx="6677525" cy="534803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CN" dirty="0"/>
              <a:t>Staring Mode (Spectral Scanning</a:t>
            </a:r>
            <a:r>
              <a:rPr lang="zh-CN" altLang="zh-CN" dirty="0"/>
              <a:t>，凝视式</a:t>
            </a:r>
            <a:r>
              <a:rPr lang="en-US" altLang="zh-CN" dirty="0"/>
              <a:t> / </a:t>
            </a:r>
            <a:r>
              <a:rPr lang="zh-CN" altLang="zh-CN" dirty="0"/>
              <a:t>光谱扫描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 </a:t>
            </a:r>
            <a:endParaRPr lang="zh-CN" altLang="zh-CN" dirty="0"/>
          </a:p>
          <a:p>
            <a:r>
              <a:rPr lang="en-US" altLang="zh-CN" dirty="0"/>
              <a:t>Optical path: Keep the whole scene stationary on detector; use tunable optical filters (AOTF, LCTF, FPI, LVF) to sequentially select one wavelength band. Stack series of 2‑D images to reconstruct the full 3‑D data cube.</a:t>
            </a:r>
            <a:endParaRPr lang="zh-CN" altLang="zh-CN" dirty="0"/>
          </a:p>
          <a:p>
            <a:r>
              <a:rPr lang="en-US" altLang="zh-CN" dirty="0"/>
              <a:t>✅ Pros: Captures full‑field scene for each wavelength; no spatial mechanical scanning.</a:t>
            </a:r>
            <a:endParaRPr lang="zh-CN" altLang="zh-CN" dirty="0"/>
          </a:p>
          <a:p>
            <a:r>
              <a:rPr lang="en-US" altLang="zh-CN" dirty="0"/>
              <a:t>❌ Cons: Wavelength scanning takes time; poor performance for dynamic moving scenes.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37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95086FE-4AC2-5867-C561-BC171BDF7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Trade‑off Between Spatial Resolution and Spectral Resolution</a:t>
            </a:r>
            <a:endParaRPr lang="zh-CN" alt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3EE99B-3FCE-7FE9-9EDC-EAAE1A5FA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57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- In conventional spectral‑imaging optical systems, there exists an intrinsic trade‑off between spatial resolution and spectral resolution [Mukhtar et al., 2025].</a:t>
            </a:r>
            <a:endParaRPr lang="zh-CN" altLang="zh-CN" dirty="0"/>
          </a:p>
          <a:p>
            <a:r>
              <a:rPr lang="en-US" altLang="zh-CN" dirty="0"/>
              <a:t>- Higher spectral resolution requires more, narrower spectral bands. Under limited photon budget and detector constraints, this often sacrifices spatial sampling performance.</a:t>
            </a:r>
            <a:endParaRPr lang="zh-CN" altLang="zh-CN" dirty="0"/>
          </a:p>
          <a:p>
            <a:r>
              <a:rPr lang="en-US" altLang="zh-CN" dirty="0"/>
              <a:t>- If you pursue fine spatial details (high spatial resolution), the number of available spectral channels will be limited.</a:t>
            </a:r>
            <a:endParaRPr lang="zh-CN" altLang="zh-CN" dirty="0"/>
          </a:p>
          <a:p>
            <a:r>
              <a:rPr lang="en-US" altLang="zh-CN" dirty="0"/>
              <a:t>- Advanced approaches such as snapshot imaging and compressive computational imaging can mitigate this conflict, but cannot completely eliminate the fundamental physical limits from photon availability.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241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B4A3-C2CA-EDAA-B2C5-598E2147B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zh-CN" b="1" dirty="0"/>
              <a:t>MULTISPECTRAL IMAGING</a:t>
            </a:r>
            <a:br>
              <a:rPr lang="en-US" altLang="zh-CN" b="1" dirty="0"/>
            </a:br>
            <a:r>
              <a:rPr lang="zh-CN" altLang="zh-CN" sz="3200" dirty="0"/>
              <a:t>多光谱成像</a:t>
            </a:r>
            <a:endParaRPr lang="zh-CN" altLang="en-US" sz="32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068CDD-02FD-BCB5-403B-3409337B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By capturing and analyzing how objects reflect, absorb, or emit light across different spectral bands, MSI uncovers information about the composition, structure, and properties of a scene or object. 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945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12AC3-FD30-3899-4C15-9CABFA56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zh-CN" b="1" dirty="0"/>
              <a:t>HYPERSPECTRAL IMAGING</a:t>
            </a:r>
            <a:br>
              <a:rPr lang="en-US" altLang="zh-CN" b="1" dirty="0"/>
            </a:br>
            <a:r>
              <a:rPr lang="zh-CN" altLang="en-US" sz="3200" b="1" dirty="0"/>
              <a:t>高光谱成像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6A57A0-CA0A-5622-26B2-1DEB048E5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While MSI systems have long provided a balance between spectral information and ease of implementation, the HSI systems have pushed the boundaries in terms of providing deep spectral insight.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8597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CC807-0487-8881-7177-D2A627F2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193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/>
              <a:t>Multispectral Imaging VS Hyperspectral Imaging</a:t>
            </a:r>
            <a:endParaRPr lang="zh-CN" altLang="en-US" b="1" dirty="0"/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8C2B73E2-3028-DBAD-7B9A-9F51F5B37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437174"/>
              </p:ext>
            </p:extLst>
          </p:nvPr>
        </p:nvGraphicFramePr>
        <p:xfrm>
          <a:off x="838201" y="886511"/>
          <a:ext cx="10554729" cy="488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8243">
                  <a:extLst>
                    <a:ext uri="{9D8B030D-6E8A-4147-A177-3AD203B41FA5}">
                      <a16:colId xmlns:a16="http://schemas.microsoft.com/office/drawing/2014/main" val="1409311432"/>
                    </a:ext>
                  </a:extLst>
                </a:gridCol>
                <a:gridCol w="3518243">
                  <a:extLst>
                    <a:ext uri="{9D8B030D-6E8A-4147-A177-3AD203B41FA5}">
                      <a16:colId xmlns:a16="http://schemas.microsoft.com/office/drawing/2014/main" val="3794920031"/>
                    </a:ext>
                  </a:extLst>
                </a:gridCol>
                <a:gridCol w="3518243">
                  <a:extLst>
                    <a:ext uri="{9D8B030D-6E8A-4147-A177-3AD203B41FA5}">
                      <a16:colId xmlns:a16="http://schemas.microsoft.com/office/drawing/2014/main" val="2094364643"/>
                    </a:ext>
                  </a:extLst>
                </a:gridCol>
              </a:tblGrid>
              <a:tr h="86189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Multispectral Imaging </a:t>
                      </a:r>
                    </a:p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多光谱成像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Hyperspectral Imaging</a:t>
                      </a:r>
                    </a:p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高光谱成像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635869"/>
                  </a:ext>
                </a:extLst>
              </a:tr>
              <a:tr h="1077373"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Spectral bands </a:t>
                      </a:r>
                    </a:p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光谱波段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Discrete</a:t>
                      </a:r>
                    </a:p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widely‑spaced bands (typically 3‑25 bands)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Hundreds of contiguous narrow spectral bands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648328"/>
                  </a:ext>
                </a:extLst>
              </a:tr>
              <a:tr h="933724"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Spectral signature</a:t>
                      </a:r>
                    </a:p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光谱特征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Coarse spectral sampling Dense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 spectral fingerprint per pixel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209330"/>
                  </a:ext>
                </a:extLst>
              </a:tr>
              <a:tr h="933724"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volume</a:t>
                      </a:r>
                    </a:p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Small, easy to process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3‑D data cube</a:t>
                      </a:r>
                      <a:b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heavy computation load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92219"/>
                  </a:ext>
                </a:extLst>
              </a:tr>
              <a:tr h="1077373">
                <a:tc>
                  <a:txBody>
                    <a:bodyPr/>
                    <a:lstStyle/>
                    <a:p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strength </a:t>
                      </a:r>
                    </a:p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优势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Higher spatial / temporal resolution; </a:t>
                      </a:r>
                    </a:p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cost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Fine material discrimination by continuous spectrum </a:t>
                      </a:r>
                      <a:endParaRPr lang="zh-CN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898399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8CA24C3F-E22F-1B29-C624-D32BEB76E7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193"/>
          <a:stretch>
            <a:fillRect/>
          </a:stretch>
        </p:blipFill>
        <p:spPr>
          <a:xfrm>
            <a:off x="240224" y="5857102"/>
            <a:ext cx="5855775" cy="100089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4640C12-6305-59A0-A62E-9D89BE351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864" b="51057"/>
          <a:stretch>
            <a:fillRect/>
          </a:stretch>
        </p:blipFill>
        <p:spPr>
          <a:xfrm>
            <a:off x="6336225" y="5857103"/>
            <a:ext cx="5855775" cy="100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8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1040</Words>
  <Application>Microsoft Office PowerPoint</Application>
  <PresentationFormat>宽屏</PresentationFormat>
  <Paragraphs>62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Principles of Spectral Imaging</vt:lpstr>
      <vt:lpstr>PowerPoint 演示文稿</vt:lpstr>
      <vt:lpstr>From Single‑Point Spectroscopy to Spectral Imaging</vt:lpstr>
      <vt:lpstr>PowerPoint 演示文稿</vt:lpstr>
      <vt:lpstr>PowerPoint 演示文稿</vt:lpstr>
      <vt:lpstr>Trade‑off Between Spatial Resolution and Spectral Resolution</vt:lpstr>
      <vt:lpstr>MULTISPECTRAL IMAGING 多光谱成像</vt:lpstr>
      <vt:lpstr>HYPERSPECTRAL IMAGING 高光谱成像</vt:lpstr>
      <vt:lpstr>Multispectral Imaging VS Hyperspectral Imaging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煜照 黎</dc:creator>
  <cp:lastModifiedBy>煜照 黎</cp:lastModifiedBy>
  <cp:revision>2</cp:revision>
  <dcterms:created xsi:type="dcterms:W3CDTF">2026-09-14T09:26:59Z</dcterms:created>
  <dcterms:modified xsi:type="dcterms:W3CDTF">2026-09-18T09:14:57Z</dcterms:modified>
</cp:coreProperties>
</file>